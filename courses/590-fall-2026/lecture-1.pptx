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and the shape of the course" id="{42dddb24-e3b1-0f10-a813-433ef39de72d}">
          <p14:sldIdLst>
            <p14:sldId id="256"/>
            <p14:sldId id="257"/>
            <p14:sldId id="258"/>
            <p14:sldId id="259"/>
            <p14:sldId id="260"/>
          </p14:sldIdLst>
        </p14:section>
        <p14:section name="How the course is assessed" id="{1f49aa92-b48b-64cc-f078-8cdf6b67b9d5}">
          <p14:sldIdLst>
            <p14:sldId id="261"/>
            <p14:sldId id="262"/>
            <p14:sldId id="263"/>
          </p14:sldIdLst>
        </p14:section>
        <p14:section name="How we will work together" id="{73b8aac4-c914-3eb3-534d-4d452c2cf7f3}">
          <p14:sldIdLst>
            <p14:sldId id="264"/>
            <p14:sldId id="265"/>
            <p14:sldId id="266"/>
            <p14:sldId id="267"/>
            <p14:sldId id="268"/>
            <p14:sldId id="269"/>
            <p14:sldId id="270"/>
            <p14:sldId id="271"/>
            <p14:sldId id="272"/>
          </p14:sldIdLst>
        </p14:section>
        <p14:section name="What makes a good research question" id="{97e6054a-bd17-a315-f4c9-be095cb070f8}">
          <p14:sldIdLst>
            <p14:sldId id="273"/>
            <p14:sldId id="274"/>
            <p14:sldId id="275"/>
            <p14:sldId id="276"/>
          </p14:sldIdLst>
        </p14:section>
        <p14:section name="This week’s work and Task 1" id="{e35145d6-ceb7-0929-eb40-8f9cbcc61c69}">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EPOL 590, Section AIL, Term B. Seven Monday seminars, 5:00–7:50 PM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has both a practical and theoretical dimension. I'm hoping, first, that this is a useful course for people wanting to develop a literature review, and a sense of how to use AI ethically and effectively. Second, I also want us to consider what is happening at this point in time with the roll out of AI throughout education and the wider knowledge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course overview. All required material — readings, recordings, guides — will be posted on Canvas. No book purchase and no paid AI subscription is required. You are welcome to use your own subscriptions of course, but UIUC also has a number of licenses: https://genai.illinois.edu/ai-apps/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sequence as the syllabus and the Canvas modules. Tasks fall on the Monday after each seminar, except Task 5, due the Monday after fall break. The italic lines are each week’s broader theme, carried over from last year’s lectures. Session 7 is mostly a workshop for the final review, which is due the following Tuesday, 15 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is ungraded so students get feedback on their question before marks are at stake. The two peer reviews (Tasks 4 and 6, 5% each) are complete/incomplete, due Friday 20 November and Friday 11 December; Canvas assigns them after each task’s deadline. Submit each task with a short note on what changed and how AI contributed.  A real or mock review for a dissertation or article is welcome, as is a syllabus for a course of your own on how to develop a literature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after the last seminar on purpose, so the Session 7 workshop feeds into revision. Option A is the literature review; Option B is a course outline for teaching how to write a literature review, justified from the literature. Weekly tasks are usually 250–400 words, with sources set by each task. These should accumulate towards the final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criterion per click. These are the syllabus’s six common criteria. The underlying aim: use all of this to make a persuasive case for a plausible gap, or a different way to frame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AI to widen and deepen what is reviewed; find unusual connections; systematize and organize; assist the reader in reaching your conclusion about the gap in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hours a week is the syllabus planning figure for a four-credit, eight-week course: about 3 in seminar, 5 reading, 4 searching and mapping, 6 writing, 2 on AI experiments and the process record. Bring material to work on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18 people at about 90 seconds each, this takes close to half an hour. Listen for shared interests: they become the hubs on the class map later tonight, and useful breakout pairings.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animation on the right is an illustration, not live data. The real board is a separate page: students add their name, interests and a topic, and recent OpenAlex papers attach to each interest. Zoom chat link: https://machinespirits.org/590-fall-2026/map?k=epol590-pzpmmw . Papers arrive from OpenAlex on the server within seconds of a student joining.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per click. Round of introductions. The next slide sends everyone to the response board to answer the first question; we come back to “what is a literature review?” in Week 2 when we take a journal article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the board link in the Zoom chat before this slide (the Copy link button on the board copies it). The animation on the right is an illustration, not live data: switch to the board itself to read the answers live, then use Fly through or click a theme to discuss it. The same board takes new prompts for later lectures (More, then New prompt), each with its own link. Zoom chat link: https://machinespirits.org/590-fall-2026/respond?k=epol590-pzpmmw#what-is-academic-literature (the class key is in the link, so students skip the key prompt). You manage prompts by opening the board once with your admin key (?admin=…, in ~/.config/epol590/board-keys.txt).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asks for a research record that lets you explain why the review changed. The tool is up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term’s class doc, “EPOL 590 Fall 2026”, is the first item in the Course introduction module on Canvas and is linked from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is “What makes a good research question?” itself a good research question? Ask the room which source their own question came from. Most come from more than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Dialectical and iterative process: Draft a question, search on it, and ask whether it’s answered wholly, partly or not at all. What remains becomes the next version of the question. A map can change the question; writing can show the gap was the wrong one. Keep those changes visible in your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ask about consequences: what happens once you know the result? Who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example dates fast, which is the point. A gap defined by a product release closes as soon as everyone studies the release. Look for questions that will still be open when you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step per click. About 30–40 minutes in groups, then report back. Ask an AI tool to stress-test the question, then check one claim it makes against a real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Zoom breakout rooms (four rooms, assigned automatically) after this slide. Each room has its own section in the Week 1 Collaboration tab. If time is short, skip the rooms: take two or three volunteers’ questions and test them together as a class against sources, practicalities and novelty.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per click. Ungraded. It anchors the revision memo that goes with the final review: how did your question, sources and use of AI change over the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Weber links to the 1946 Oxford edition on the Internet Archive (digitized by the University of California Libraries; not in copyright), opening at “Science as a Vocation”, pp. 129–156. The research-question guide is the University Library’s “Develop a Topic and Dissect Your Research Question”: start from a topic, then narrow it to a question with keywords and limits (population, place, time). Task 1 is 250–400 words with 3–5 initial sources, ungraded.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machinespirits.org/590-fall-2026/map?k=epol590-pzpmmw" TargetMode="Externa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machinespirits.org/590-fall-2026/respond?k=epol590-pzpmmw#what-is-academic-literature" TargetMode="Externa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rchive.org/details/frommaxweberessa00webe/page/129/mode/2up" TargetMode="External"/><Relationship Id="rId2" Type="http://schemas.openxmlformats.org/officeDocument/2006/relationships/hyperlink" Target="https://www.library.illinois.edu/tlas/instruction/i-need-to-2/topic-research-question/"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61D"/>
        </a:solidFill>
      </p:bgPr>
    </p:bg>
    <p:spTree>
      <p:nvGrpSpPr>
        <p:cNvPr id="1" name=""/>
        <p:cNvGrpSpPr/>
        <p:nvPr/>
      </p:nvGrpSpPr>
      <p:grpSpPr>
        <a:xfrm>
          <a:off x="0" y="0"/>
          <a:ext cx="0" cy="0"/>
          <a:chOff x="0" y="0"/>
          <a:chExt cx="0" cy="0"/>
        </a:xfrm>
      </p:grpSpPr>
      <p:pic>
        <p:nvPicPr>
          <p:cNvPr id="2" name="Image 0" descr="Animated illustration (live in the web version)">    </p:cNvPr>
          <p:cNvPicPr>
            <a:picLocks noChangeAspect="1"/>
          </p:cNvPicPr>
          <p:nvPr/>
        </p:nvPicPr>
        <p:blipFill>
          <a:blip r:embed="rId1"/>
          <a:stretch>
            <a:fillRect/>
          </a:stretch>
        </p:blipFill>
        <p:spPr>
          <a:xfrm>
            <a:off x="0" y="0"/>
            <a:ext cx="12192000" cy="6858000"/>
          </a:xfrm>
          <a:prstGeom prst="rect">
            <a:avLst/>
          </a:prstGeom>
        </p:spPr>
      </p:pic>
      <p:sp>
        <p:nvSpPr>
          <p:cNvPr id="3" name="Text 0"/>
          <p:cNvSpPr txBox="1"/>
          <p:nvPr/>
        </p:nvSpPr>
        <p:spPr>
          <a:xfrm>
            <a:off x="812800" y="2772569"/>
            <a:ext cx="10883392" cy="260350"/>
          </a:xfrm>
          <a:prstGeom prst="rect">
            <a:avLst/>
          </a:prstGeom>
          <a:noFill/>
          <a:ln/>
        </p:spPr>
        <p:txBody>
          <a:bodyPr wrap="square" lIns="0" tIns="0" rIns="0" bIns="0" rtlCol="0" anchor="t"/>
          <a:lstStyle/>
          <a:p>
            <a:pPr algn="l" indent="0" marL="0">
              <a:lnSpc>
                <a:spcPts val="1920"/>
              </a:lnSpc>
              <a:buNone/>
            </a:pPr>
            <a:r>
              <a:rPr lang="en-US" sz="1600" b="1" spc="200" kern="0" dirty="0">
                <a:solidFill>
                  <a:srgbClr val="FF7A50"/>
                </a:solidFill>
                <a:latin typeface="Arial" pitchFamily="34" charset="0"/>
                <a:ea typeface="Arial" pitchFamily="34" charset="-122"/>
                <a:cs typeface="Arial" pitchFamily="34" charset="-120"/>
              </a:rPr>
              <a:t>EPOL 590 · LECTURE 1 · MONDAY 19 OCTOBER 2026</a:t>
            </a:r>
            <a:endParaRPr lang="en-US" sz="1600" dirty="0"/>
          </a:p>
        </p:txBody>
      </p:sp>
      <p:sp>
        <p:nvSpPr>
          <p:cNvPr id="4" name="Text 1"/>
          <p:cNvSpPr txBox="1"/>
          <p:nvPr/>
        </p:nvSpPr>
        <p:spPr>
          <a:xfrm>
            <a:off x="812800" y="3210719"/>
            <a:ext cx="7194550" cy="1549400"/>
          </a:xfrm>
          <a:prstGeom prst="rect">
            <a:avLst/>
          </a:prstGeom>
          <a:noFill/>
          <a:ln/>
        </p:spPr>
        <p:txBody>
          <a:bodyPr wrap="square" lIns="0" tIns="0" rIns="0" bIns="0" rtlCol="0" anchor="t"/>
          <a:lstStyle/>
          <a:p>
            <a:pPr algn="l" indent="0" marL="0">
              <a:lnSpc>
                <a:spcPts val="6000"/>
              </a:lnSpc>
              <a:buNone/>
            </a:pPr>
            <a:r>
              <a:rPr lang="en-US" sz="6000" b="1" spc="-150" kern="0" dirty="0">
                <a:solidFill>
                  <a:srgbClr val="F3EEE4"/>
                </a:solidFill>
                <a:latin typeface="Arial" pitchFamily="34" charset="0"/>
                <a:ea typeface="Arial" pitchFamily="34" charset="-122"/>
                <a:cs typeface="Arial" pitchFamily="34" charset="-120"/>
              </a:rPr>
              <a:t>AI and Academic Literature</a:t>
            </a:r>
            <a:endParaRPr lang="en-US" sz="6000" dirty="0"/>
          </a:p>
        </p:txBody>
      </p:sp>
      <p:sp>
        <p:nvSpPr>
          <p:cNvPr id="5" name="Text 2"/>
          <p:cNvSpPr txBox="1"/>
          <p:nvPr/>
        </p:nvSpPr>
        <p:spPr>
          <a:xfrm>
            <a:off x="812800" y="4937919"/>
            <a:ext cx="6540500" cy="751681"/>
          </a:xfrm>
          <a:prstGeom prst="rect">
            <a:avLst/>
          </a:prstGeom>
          <a:noFill/>
          <a:ln/>
        </p:spPr>
        <p:txBody>
          <a:bodyPr wrap="square" lIns="0" tIns="0" rIns="0" bIns="0" rtlCol="0" anchor="t"/>
          <a:lstStyle/>
          <a:p>
            <a:pPr algn="l" indent="0" marL="0">
              <a:lnSpc>
                <a:spcPts val="2860"/>
              </a:lnSpc>
              <a:buNone/>
            </a:pPr>
            <a:r>
              <a:rPr lang="en-US" sz="2200" i="1" dirty="0">
                <a:solidFill>
                  <a:srgbClr val="C9C4B8"/>
                </a:solidFill>
                <a:latin typeface="Cambria" pitchFamily="34" charset="0"/>
                <a:ea typeface="Cambria" pitchFamily="34" charset="-122"/>
                <a:cs typeface="Cambria" pitchFamily="34" charset="-120"/>
              </a:rPr>
              <a:t>Research questions, and where a literature review begins</a:t>
            </a:r>
            <a:endParaRPr lang="en-US" sz="2200" dirty="0"/>
          </a:p>
        </p:txBody>
      </p:sp>
      <p:sp>
        <p:nvSpPr>
          <p:cNvPr id="6" name="Text 3"/>
          <p:cNvSpPr txBox="1"/>
          <p:nvPr/>
        </p:nvSpPr>
        <p:spPr>
          <a:xfrm>
            <a:off x="812800" y="58674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C9C4B8"/>
                </a:solidFill>
                <a:latin typeface="Arial" pitchFamily="34" charset="0"/>
                <a:ea typeface="Arial" pitchFamily="34" charset="-122"/>
                <a:cs typeface="Arial" pitchFamily="34" charset="-120"/>
              </a:rPr>
              <a:t>Professor Liam Magee · Education Policy, Organization and Leadership · University of Illinois Urbana-Champaign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WELCOME</a:t>
            </a:r>
            <a:endParaRPr lang="en-US" sz="1200" dirty="0"/>
          </a:p>
        </p:txBody>
      </p:sp>
      <p:sp>
        <p:nvSpPr>
          <p:cNvPr id="3" name="Text 1"/>
          <p:cNvSpPr txBox="1"/>
          <p:nvPr/>
        </p:nvSpPr>
        <p:spPr>
          <a:xfrm>
            <a:off x="812800" y="1295400"/>
            <a:ext cx="9810750"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Do we need another course on academic literature?</a:t>
            </a:r>
            <a:endParaRPr lang="en-US" sz="3600" dirty="0"/>
          </a:p>
        </p:txBody>
      </p:sp>
      <p:sp>
        <p:nvSpPr>
          <p:cNvPr id="4" name="Shape 2"/>
          <p:cNvSpPr/>
          <p:nvPr/>
        </p:nvSpPr>
        <p:spPr>
          <a:xfrm>
            <a:off x="812800" y="2730500"/>
            <a:ext cx="5080000" cy="2306241"/>
          </a:xfrm>
          <a:prstGeom prst="roundRect">
            <a:avLst>
              <a:gd name="adj" fmla="val 6608"/>
            </a:avLst>
          </a:prstGeom>
          <a:solidFill>
            <a:srgbClr val="FBF8F2"/>
          </a:solidFill>
          <a:ln w="12700">
            <a:solidFill>
              <a:srgbClr val="15161D"/>
            </a:solidFill>
            <a:prstDash val="solid"/>
          </a:ln>
        </p:spPr>
      </p:sp>
      <p:sp>
        <p:nvSpPr>
          <p:cNvPr id="5" name="Text 3"/>
          <p:cNvSpPr txBox="1"/>
          <p:nvPr/>
        </p:nvSpPr>
        <p:spPr>
          <a:xfrm>
            <a:off x="1130300" y="3048000"/>
            <a:ext cx="4578350" cy="20320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2F4FA8"/>
                </a:solidFill>
                <a:latin typeface="Arial" pitchFamily="34" charset="0"/>
                <a:ea typeface="Arial" pitchFamily="34" charset="-122"/>
                <a:cs typeface="Arial" pitchFamily="34" charset="-120"/>
              </a:rPr>
              <a:t>FOUNDATIONAL</a:t>
            </a:r>
            <a:endParaRPr lang="en-US" sz="1200" dirty="0"/>
          </a:p>
        </p:txBody>
      </p:sp>
      <p:sp>
        <p:nvSpPr>
          <p:cNvPr id="6" name="Text 4"/>
          <p:cNvSpPr txBox="1"/>
          <p:nvPr/>
        </p:nvSpPr>
        <p:spPr>
          <a:xfrm>
            <a:off x="1130300" y="3352800"/>
            <a:ext cx="4578350" cy="695920"/>
          </a:xfrm>
          <a:prstGeom prst="rect">
            <a:avLst/>
          </a:prstGeom>
          <a:noFill/>
          <a:ln/>
        </p:spPr>
        <p:txBody>
          <a:bodyPr wrap="square" lIns="0" tIns="0" rIns="0" bIns="0" rtlCol="0" anchor="t"/>
          <a:lstStyle/>
          <a:p>
            <a:pPr algn="l" indent="0" marL="0">
              <a:lnSpc>
                <a:spcPts val="2640"/>
              </a:lnSpc>
              <a:buNone/>
            </a:pPr>
            <a:r>
              <a:rPr lang="en-US" sz="2200" b="1" dirty="0">
                <a:solidFill>
                  <a:srgbClr val="15161D"/>
                </a:solidFill>
                <a:latin typeface="Arial" pitchFamily="34" charset="0"/>
                <a:ea typeface="Arial" pitchFamily="34" charset="-122"/>
                <a:cs typeface="Arial" pitchFamily="34" charset="-120"/>
              </a:rPr>
              <a:t>How to develop a literature review</a:t>
            </a:r>
            <a:endParaRPr lang="en-US" sz="2200" dirty="0"/>
          </a:p>
        </p:txBody>
      </p:sp>
      <p:sp>
        <p:nvSpPr>
          <p:cNvPr id="7" name="Text 5"/>
          <p:cNvSpPr txBox="1"/>
          <p:nvPr/>
        </p:nvSpPr>
        <p:spPr>
          <a:xfrm>
            <a:off x="1130300" y="4150320"/>
            <a:ext cx="4578350" cy="594320"/>
          </a:xfrm>
          <a:prstGeom prst="rect">
            <a:avLst/>
          </a:prstGeom>
          <a:noFill/>
          <a:ln/>
        </p:spPr>
        <p:txBody>
          <a:bodyPr wrap="square" lIns="0" tIns="0" rIns="0" bIns="0" rtlCol="0" anchor="t"/>
          <a:lstStyle/>
          <a:p>
            <a:pPr algn="l" indent="0" marL="0">
              <a:lnSpc>
                <a:spcPts val="2240"/>
              </a:lnSpc>
              <a:buNone/>
            </a:pPr>
            <a:r>
              <a:rPr lang="en-US" sz="1600" dirty="0">
                <a:solidFill>
                  <a:srgbClr val="4A4A55"/>
                </a:solidFill>
                <a:latin typeface="Cambria" pitchFamily="34" charset="0"/>
                <a:ea typeface="Cambria" pitchFamily="34" charset="-122"/>
                <a:cs typeface="Cambria" pitchFamily="34" charset="-120"/>
              </a:rPr>
              <a:t>Build, annotate, analyze, map, and turn a body of literature into an argument.</a:t>
            </a:r>
            <a:endParaRPr lang="en-US" sz="1600" dirty="0"/>
          </a:p>
        </p:txBody>
      </p:sp>
      <p:sp>
        <p:nvSpPr>
          <p:cNvPr id="8" name="Shape 6"/>
          <p:cNvSpPr/>
          <p:nvPr/>
        </p:nvSpPr>
        <p:spPr>
          <a:xfrm>
            <a:off x="6299200" y="2730500"/>
            <a:ext cx="5080000" cy="2539901"/>
          </a:xfrm>
          <a:prstGeom prst="roundRect">
            <a:avLst>
              <a:gd name="adj" fmla="val 6000"/>
            </a:avLst>
          </a:prstGeom>
          <a:solidFill>
            <a:srgbClr val="15161D"/>
          </a:solidFill>
          <a:ln w="12700">
            <a:solidFill>
              <a:srgbClr val="15161D"/>
            </a:solidFill>
            <a:prstDash val="solid"/>
          </a:ln>
        </p:spPr>
      </p:sp>
      <p:sp>
        <p:nvSpPr>
          <p:cNvPr id="9" name="Text 7"/>
          <p:cNvSpPr txBox="1"/>
          <p:nvPr/>
        </p:nvSpPr>
        <p:spPr>
          <a:xfrm>
            <a:off x="6616700" y="3048000"/>
            <a:ext cx="4578350" cy="20320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FF7A50"/>
                </a:solidFill>
                <a:latin typeface="Arial" pitchFamily="34" charset="0"/>
                <a:ea typeface="Arial" pitchFamily="34" charset="-122"/>
                <a:cs typeface="Arial" pitchFamily="34" charset="-120"/>
              </a:rPr>
              <a:t>FUTURE-ORIENTED</a:t>
            </a:r>
            <a:endParaRPr lang="en-US" sz="1200" dirty="0"/>
          </a:p>
        </p:txBody>
      </p:sp>
      <p:sp>
        <p:nvSpPr>
          <p:cNvPr id="10" name="Text 8"/>
          <p:cNvSpPr txBox="1"/>
          <p:nvPr/>
        </p:nvSpPr>
        <p:spPr>
          <a:xfrm>
            <a:off x="6616700" y="3352800"/>
            <a:ext cx="4578350" cy="360660"/>
          </a:xfrm>
          <a:prstGeom prst="rect">
            <a:avLst/>
          </a:prstGeom>
          <a:noFill/>
          <a:ln/>
        </p:spPr>
        <p:txBody>
          <a:bodyPr wrap="square" lIns="0" tIns="0" rIns="0" bIns="0" rtlCol="0" anchor="t"/>
          <a:lstStyle/>
          <a:p>
            <a:pPr algn="l" indent="0" marL="0">
              <a:lnSpc>
                <a:spcPts val="2640"/>
              </a:lnSpc>
              <a:buNone/>
            </a:pPr>
            <a:r>
              <a:rPr lang="en-US" sz="2200" b="1" dirty="0">
                <a:solidFill>
                  <a:srgbClr val="F3EEE4"/>
                </a:solidFill>
                <a:latin typeface="Arial" pitchFamily="34" charset="0"/>
                <a:ea typeface="Arial" pitchFamily="34" charset="-122"/>
                <a:cs typeface="Arial" pitchFamily="34" charset="-120"/>
              </a:rPr>
              <a:t>How AI is changing scholarship</a:t>
            </a:r>
            <a:endParaRPr lang="en-US" sz="2200" dirty="0"/>
          </a:p>
        </p:txBody>
      </p:sp>
      <p:sp>
        <p:nvSpPr>
          <p:cNvPr id="11" name="Text 9"/>
          <p:cNvSpPr txBox="1"/>
          <p:nvPr/>
        </p:nvSpPr>
        <p:spPr>
          <a:xfrm>
            <a:off x="6616700" y="3815060"/>
            <a:ext cx="4578350" cy="1163241"/>
          </a:xfrm>
          <a:prstGeom prst="rect">
            <a:avLst/>
          </a:prstGeom>
          <a:noFill/>
          <a:ln/>
        </p:spPr>
        <p:txBody>
          <a:bodyPr wrap="square" lIns="0" tIns="0" rIns="0" bIns="0" rtlCol="0" anchor="t"/>
          <a:lstStyle/>
          <a:p>
            <a:pPr algn="l" indent="0" marL="0">
              <a:lnSpc>
                <a:spcPts val="2240"/>
              </a:lnSpc>
              <a:buNone/>
            </a:pPr>
            <a:r>
              <a:rPr lang="en-US" sz="1600" dirty="0">
                <a:solidFill>
                  <a:srgbClr val="C9C4B8"/>
                </a:solidFill>
                <a:latin typeface="Cambria" pitchFamily="34" charset="0"/>
                <a:ea typeface="Cambria" pitchFamily="34" charset="-122"/>
                <a:cs typeface="Cambria" pitchFamily="34" charset="-120"/>
              </a:rPr>
              <a:t>What are the impacts of AI on how we learn, study and research? What are the wider epistemic, or knowledge-related, aspects of AI that we ought to consider?</a:t>
            </a:r>
            <a:endParaRPr lang="en-US" sz="1600" dirty="0"/>
          </a:p>
        </p:txBody>
      </p:sp>
      <p:sp>
        <p:nvSpPr>
          <p:cNvPr id="12" name="Text 10"/>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EPOL 590 · Lecture 1 · A mix of theory and practice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61D"/>
        </a:solidFill>
      </p:bgPr>
    </p:bg>
    <p:spTree>
      <p:nvGrpSpPr>
        <p:cNvPr id="1" name=""/>
        <p:cNvGrpSpPr/>
        <p:nvPr/>
      </p:nvGrpSpPr>
      <p:grpSpPr>
        <a:xfrm>
          <a:off x="0" y="0"/>
          <a:ext cx="0" cy="0"/>
          <a:chOff x="0" y="0"/>
          <a:chExt cx="0" cy="0"/>
        </a:xfrm>
      </p:grpSpPr>
      <p:pic>
        <p:nvPicPr>
          <p:cNvPr id="2" name="Image 0" descr="A small researcher and a paper automaton with a lamp for a head stand on the edge of a landscape made of stacked and open books, stretching to the horizon.">    </p:cNvPr>
          <p:cNvPicPr>
            <a:picLocks noChangeAspect="1"/>
          </p:cNvPicPr>
          <p:nvPr/>
        </p:nvPicPr>
        <p:blipFill>
          <a:blip r:embed="rId1"/>
          <a:stretch>
            <a:fillRect/>
          </a:stretch>
        </p:blipFill>
        <p:spPr>
          <a:xfrm>
            <a:off x="6604000" y="0"/>
            <a:ext cx="5588000" cy="6858000"/>
          </a:xfrm>
          <a:prstGeom prst="rect">
            <a:avLst/>
          </a:prstGeom>
        </p:spPr>
      </p:pic>
      <p:sp>
        <p:nvSpPr>
          <p:cNvPr id="3" name="Text 0"/>
          <p:cNvSpPr txBox="1"/>
          <p:nvPr/>
        </p:nvSpPr>
        <p:spPr>
          <a:xfrm>
            <a:off x="812800" y="1971179"/>
            <a:ext cx="5363210"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FF7A50"/>
                </a:solidFill>
                <a:latin typeface="Arial" pitchFamily="34" charset="0"/>
                <a:ea typeface="Arial" pitchFamily="34" charset="-122"/>
                <a:cs typeface="Arial" pitchFamily="34" charset="-120"/>
              </a:rPr>
              <a:t>THE COURSE IN ONE SENTENCE</a:t>
            </a:r>
            <a:endParaRPr lang="en-US" sz="1200" dirty="0"/>
          </a:p>
        </p:txBody>
      </p:sp>
      <p:sp>
        <p:nvSpPr>
          <p:cNvPr id="4" name="Text 1"/>
          <p:cNvSpPr txBox="1"/>
          <p:nvPr/>
        </p:nvSpPr>
        <p:spPr>
          <a:xfrm>
            <a:off x="812800" y="2402979"/>
            <a:ext cx="5363210" cy="1076920"/>
          </a:xfrm>
          <a:prstGeom prst="rect">
            <a:avLst/>
          </a:prstGeom>
          <a:noFill/>
          <a:ln/>
        </p:spPr>
        <p:txBody>
          <a:bodyPr wrap="square" lIns="0" tIns="0" rIns="0" bIns="0" rtlCol="0" anchor="t"/>
          <a:lstStyle/>
          <a:p>
            <a:pPr algn="l" indent="0" marL="0">
              <a:lnSpc>
                <a:spcPts val="4140"/>
              </a:lnSpc>
              <a:buNone/>
            </a:pPr>
            <a:r>
              <a:rPr lang="en-US" sz="3600" dirty="0">
                <a:solidFill>
                  <a:srgbClr val="F3EEE4"/>
                </a:solidFill>
                <a:latin typeface="Cambria" pitchFamily="34" charset="0"/>
                <a:ea typeface="Cambria" pitchFamily="34" charset="-122"/>
                <a:cs typeface="Cambria" pitchFamily="34" charset="-120"/>
              </a:rPr>
              <a:t>How do you build a sense of your field, and its gaps?</a:t>
            </a:r>
            <a:endParaRPr lang="en-US" sz="3600" dirty="0"/>
          </a:p>
        </p:txBody>
      </p:sp>
      <p:sp>
        <p:nvSpPr>
          <p:cNvPr id="5" name="Text 2"/>
          <p:cNvSpPr txBox="1"/>
          <p:nvPr/>
        </p:nvSpPr>
        <p:spPr>
          <a:xfrm>
            <a:off x="812800" y="3708499"/>
            <a:ext cx="5363210" cy="1203722"/>
          </a:xfrm>
          <a:prstGeom prst="rect">
            <a:avLst/>
          </a:prstGeom>
          <a:noFill/>
          <a:ln/>
        </p:spPr>
        <p:txBody>
          <a:bodyPr wrap="square" lIns="0" tIns="0" rIns="0" bIns="0" rtlCol="0" anchor="t"/>
          <a:lstStyle/>
          <a:p>
            <a:pPr algn="l" indent="0" marL="0">
              <a:lnSpc>
                <a:spcPts val="2320"/>
              </a:lnSpc>
              <a:buNone/>
            </a:pPr>
            <a:r>
              <a:rPr lang="en-US" sz="1600" i="1" dirty="0">
                <a:solidFill>
                  <a:srgbClr val="C9C4B8"/>
                </a:solidFill>
                <a:latin typeface="Cambria" pitchFamily="34" charset="0"/>
                <a:ea typeface="Cambria" pitchFamily="34" charset="-122"/>
                <a:cs typeface="Cambria" pitchFamily="34" charset="-120"/>
              </a:rPr>
              <a:t>Academic literature</a:t>
            </a:r>
            <a:pPr algn="l" indent="0" marL="0">
              <a:lnSpc>
                <a:spcPts val="2320"/>
              </a:lnSpc>
              <a:buNone/>
            </a:pPr>
            <a:r>
              <a:rPr lang="en-US" sz="1600" dirty="0">
                <a:solidFill>
                  <a:srgbClr val="C9C4B8"/>
                </a:solidFill>
                <a:latin typeface="Cambria" pitchFamily="34" charset="0"/>
                <a:ea typeface="Cambria" pitchFamily="34" charset="-122"/>
                <a:cs typeface="Cambria" pitchFamily="34" charset="-120"/>
              </a:rPr>
              <a:t> is at once </a:t>
            </a:r>
            <a:pPr algn="l" indent="0" marL="0">
              <a:lnSpc>
                <a:spcPts val="2320"/>
              </a:lnSpc>
              <a:buNone/>
            </a:pPr>
            <a:r>
              <a:rPr lang="en-US" sz="1600" dirty="0">
                <a:solidFill>
                  <a:srgbClr val="FF7A50"/>
                </a:solidFill>
                <a:latin typeface="Cambria" pitchFamily="34" charset="0"/>
                <a:ea typeface="Cambria" pitchFamily="34" charset="-122"/>
                <a:cs typeface="Cambria" pitchFamily="34" charset="-120"/>
              </a:rPr>
              <a:t>mundane</a:t>
            </a:r>
            <a:pPr algn="l" indent="0" marL="0">
              <a:lnSpc>
                <a:spcPts val="2320"/>
              </a:lnSpc>
              <a:buNone/>
            </a:pPr>
            <a:r>
              <a:rPr lang="en-US" sz="1600" dirty="0">
                <a:solidFill>
                  <a:srgbClr val="C9C4B8"/>
                </a:solidFill>
                <a:latin typeface="Cambria" pitchFamily="34" charset="0"/>
                <a:ea typeface="Cambria" pitchFamily="34" charset="-122"/>
                <a:cs typeface="Cambria" pitchFamily="34" charset="-120"/>
              </a:rPr>
              <a:t> and </a:t>
            </a:r>
            <a:pPr algn="l" indent="0" marL="0">
              <a:lnSpc>
                <a:spcPts val="2320"/>
              </a:lnSpc>
              <a:buNone/>
            </a:pPr>
            <a:r>
              <a:rPr lang="en-US" sz="1600" dirty="0">
                <a:solidFill>
                  <a:srgbClr val="7F9BE8"/>
                </a:solidFill>
                <a:latin typeface="Cambria" pitchFamily="34" charset="0"/>
                <a:ea typeface="Cambria" pitchFamily="34" charset="-122"/>
                <a:cs typeface="Cambria" pitchFamily="34" charset="-120"/>
              </a:rPr>
              <a:t>mystical</a:t>
            </a:r>
            <a:pPr algn="l" indent="0" marL="0">
              <a:lnSpc>
                <a:spcPts val="2320"/>
              </a:lnSpc>
              <a:buNone/>
            </a:pPr>
            <a:r>
              <a:rPr lang="en-US" sz="1600" dirty="0">
                <a:solidFill>
                  <a:srgbClr val="C9C4B8"/>
                </a:solidFill>
                <a:latin typeface="Cambria" pitchFamily="34" charset="0"/>
                <a:ea typeface="Cambria" pitchFamily="34" charset="-122"/>
                <a:cs typeface="Cambria" pitchFamily="34" charset="-120"/>
              </a:rPr>
              <a:t>. We start with fundamentals — building, annotating, mapping, writing — then ask how AI can make interpretation more critical, analytic and reflexive.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7112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TONIGHT · 5:00–7:50 PM CENTRAL</a:t>
            </a:r>
            <a:endParaRPr lang="en-US" sz="1200" dirty="0"/>
          </a:p>
        </p:txBody>
      </p:sp>
      <p:sp>
        <p:nvSpPr>
          <p:cNvPr id="3" name="Text 1"/>
          <p:cNvSpPr txBox="1"/>
          <p:nvPr/>
        </p:nvSpPr>
        <p:spPr>
          <a:xfrm>
            <a:off x="812800" y="11176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The plan for this session</a:t>
            </a:r>
            <a:endParaRPr lang="en-US" sz="3600" dirty="0"/>
          </a:p>
        </p:txBody>
      </p:sp>
      <p:sp>
        <p:nvSpPr>
          <p:cNvPr id="4" name="Text 2"/>
          <p:cNvSpPr txBox="1"/>
          <p:nvPr/>
        </p:nvSpPr>
        <p:spPr>
          <a:xfrm>
            <a:off x="812800" y="186174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B83A16"/>
                </a:solidFill>
                <a:latin typeface="Arial" pitchFamily="34" charset="0"/>
                <a:ea typeface="Arial" pitchFamily="34" charset="-122"/>
                <a:cs typeface="Arial" pitchFamily="34" charset="-120"/>
              </a:rPr>
              <a:t>5:00</a:t>
            </a:r>
            <a:endParaRPr lang="en-US" sz="1500" dirty="0"/>
          </a:p>
        </p:txBody>
      </p:sp>
      <p:sp>
        <p:nvSpPr>
          <p:cNvPr id="5" name="Text 3"/>
          <p:cNvSpPr txBox="1"/>
          <p:nvPr/>
        </p:nvSpPr>
        <p:spPr>
          <a:xfrm>
            <a:off x="2019300" y="1849041"/>
            <a:ext cx="9640697" cy="273050"/>
          </a:xfrm>
          <a:prstGeom prst="rect">
            <a:avLst/>
          </a:prstGeom>
          <a:noFill/>
          <a:ln/>
        </p:spPr>
        <p:txBody>
          <a:bodyPr wrap="square" lIns="0" tIns="0" rIns="0" bIns="0" rtlCol="0" anchor="t"/>
          <a:lstStyle/>
          <a:p>
            <a:pPr algn="l" indent="0" marL="0">
              <a:lnSpc>
                <a:spcPts val="1950"/>
              </a:lnSpc>
              <a:buNone/>
            </a:pPr>
            <a:r>
              <a:rPr lang="en-US" sz="1500" dirty="0">
                <a:solidFill>
                  <a:srgbClr val="15161D"/>
                </a:solidFill>
                <a:latin typeface="Cambria" pitchFamily="34" charset="0"/>
                <a:ea typeface="Cambria" pitchFamily="34" charset="-122"/>
                <a:cs typeface="Cambria" pitchFamily="34" charset="-120"/>
              </a:rPr>
              <a:t>Welcome, the course and how it’s assessed</a:t>
            </a:r>
            <a:endParaRPr lang="en-US" sz="1500" dirty="0"/>
          </a:p>
        </p:txBody>
      </p:sp>
      <p:sp>
        <p:nvSpPr>
          <p:cNvPr id="6" name="Text 4"/>
          <p:cNvSpPr txBox="1"/>
          <p:nvPr/>
        </p:nvSpPr>
        <p:spPr>
          <a:xfrm>
            <a:off x="812800" y="236339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B83A16"/>
                </a:solidFill>
                <a:latin typeface="Arial" pitchFamily="34" charset="0"/>
                <a:ea typeface="Arial" pitchFamily="34" charset="-122"/>
                <a:cs typeface="Arial" pitchFamily="34" charset="-120"/>
              </a:rPr>
              <a:t>5:30</a:t>
            </a:r>
            <a:endParaRPr lang="en-US" sz="1500" dirty="0"/>
          </a:p>
        </p:txBody>
      </p:sp>
      <p:sp>
        <p:nvSpPr>
          <p:cNvPr id="7" name="Text 5"/>
          <p:cNvSpPr txBox="1"/>
          <p:nvPr/>
        </p:nvSpPr>
        <p:spPr>
          <a:xfrm>
            <a:off x="2019300" y="2350691"/>
            <a:ext cx="9640697" cy="273050"/>
          </a:xfrm>
          <a:prstGeom prst="rect">
            <a:avLst/>
          </a:prstGeom>
          <a:noFill/>
          <a:ln/>
        </p:spPr>
        <p:txBody>
          <a:bodyPr wrap="square" lIns="0" tIns="0" rIns="0" bIns="0" rtlCol="0" anchor="t"/>
          <a:lstStyle/>
          <a:p>
            <a:pPr algn="l" indent="0" marL="0">
              <a:lnSpc>
                <a:spcPts val="1950"/>
              </a:lnSpc>
              <a:buNone/>
            </a:pPr>
            <a:r>
              <a:rPr lang="en-US" sz="1500" dirty="0">
                <a:solidFill>
                  <a:srgbClr val="15161D"/>
                </a:solidFill>
                <a:latin typeface="Cambria" pitchFamily="34" charset="0"/>
                <a:ea typeface="Cambria" pitchFamily="34" charset="-122"/>
                <a:cs typeface="Cambria" pitchFamily="34" charset="-120"/>
              </a:rPr>
              <a:t>Introductions</a:t>
            </a:r>
            <a:endParaRPr lang="en-US" sz="1500" dirty="0"/>
          </a:p>
        </p:txBody>
      </p:sp>
      <p:sp>
        <p:nvSpPr>
          <p:cNvPr id="8" name="Text 6"/>
          <p:cNvSpPr txBox="1"/>
          <p:nvPr/>
        </p:nvSpPr>
        <p:spPr>
          <a:xfrm>
            <a:off x="812800" y="286504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9C978C"/>
                </a:solidFill>
                <a:latin typeface="Arial" pitchFamily="34" charset="0"/>
                <a:ea typeface="Arial" pitchFamily="34" charset="-122"/>
                <a:cs typeface="Arial" pitchFamily="34" charset="-120"/>
              </a:rPr>
              <a:t>6:00</a:t>
            </a:r>
            <a:endParaRPr lang="en-US" sz="1500" dirty="0"/>
          </a:p>
        </p:txBody>
      </p:sp>
      <p:sp>
        <p:nvSpPr>
          <p:cNvPr id="9" name="Text 7"/>
          <p:cNvSpPr txBox="1"/>
          <p:nvPr/>
        </p:nvSpPr>
        <p:spPr>
          <a:xfrm>
            <a:off x="2019300" y="2852341"/>
            <a:ext cx="9640697" cy="273050"/>
          </a:xfrm>
          <a:prstGeom prst="rect">
            <a:avLst/>
          </a:prstGeom>
          <a:noFill/>
          <a:ln/>
        </p:spPr>
        <p:txBody>
          <a:bodyPr wrap="square" lIns="0" tIns="0" rIns="0" bIns="0" rtlCol="0" anchor="t"/>
          <a:lstStyle/>
          <a:p>
            <a:pPr algn="l" indent="0" marL="0">
              <a:lnSpc>
                <a:spcPts val="1950"/>
              </a:lnSpc>
              <a:buNone/>
            </a:pPr>
            <a:r>
              <a:rPr lang="en-US" sz="1500" i="1" dirty="0">
                <a:solidFill>
                  <a:srgbClr val="9C978C"/>
                </a:solidFill>
                <a:latin typeface="Cambria" pitchFamily="34" charset="0"/>
                <a:ea typeface="Cambria" pitchFamily="34" charset="-122"/>
                <a:cs typeface="Cambria" pitchFamily="34" charset="-120"/>
              </a:rPr>
              <a:t>Break</a:t>
            </a:r>
            <a:endParaRPr lang="en-US" sz="1500" dirty="0"/>
          </a:p>
        </p:txBody>
      </p:sp>
      <p:sp>
        <p:nvSpPr>
          <p:cNvPr id="10" name="Text 8"/>
          <p:cNvSpPr txBox="1"/>
          <p:nvPr/>
        </p:nvSpPr>
        <p:spPr>
          <a:xfrm>
            <a:off x="812800" y="336669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B83A16"/>
                </a:solidFill>
                <a:latin typeface="Arial" pitchFamily="34" charset="0"/>
                <a:ea typeface="Arial" pitchFamily="34" charset="-122"/>
                <a:cs typeface="Arial" pitchFamily="34" charset="-120"/>
              </a:rPr>
              <a:t>6:10</a:t>
            </a:r>
            <a:endParaRPr lang="en-US" sz="1500" dirty="0"/>
          </a:p>
        </p:txBody>
      </p:sp>
      <p:sp>
        <p:nvSpPr>
          <p:cNvPr id="11" name="Text 9"/>
          <p:cNvSpPr txBox="1"/>
          <p:nvPr/>
        </p:nvSpPr>
        <p:spPr>
          <a:xfrm>
            <a:off x="2019300" y="3353991"/>
            <a:ext cx="9640697" cy="273050"/>
          </a:xfrm>
          <a:prstGeom prst="rect">
            <a:avLst/>
          </a:prstGeom>
          <a:noFill/>
          <a:ln/>
        </p:spPr>
        <p:txBody>
          <a:bodyPr wrap="square" lIns="0" tIns="0" rIns="0" bIns="0" rtlCol="0" anchor="t"/>
          <a:lstStyle/>
          <a:p>
            <a:pPr algn="l" indent="0" marL="0">
              <a:lnSpc>
                <a:spcPts val="1950"/>
              </a:lnSpc>
              <a:buNone/>
            </a:pPr>
            <a:r>
              <a:rPr lang="en-US" sz="1500" dirty="0">
                <a:solidFill>
                  <a:srgbClr val="15161D"/>
                </a:solidFill>
                <a:latin typeface="Cambria" pitchFamily="34" charset="0"/>
                <a:ea typeface="Cambria" pitchFamily="34" charset="-122"/>
                <a:cs typeface="Cambria" pitchFamily="34" charset="-120"/>
              </a:rPr>
              <a:t>What is academic literature? The response board</a:t>
            </a:r>
            <a:endParaRPr lang="en-US" sz="1500" dirty="0"/>
          </a:p>
        </p:txBody>
      </p:sp>
      <p:sp>
        <p:nvSpPr>
          <p:cNvPr id="12" name="Text 10"/>
          <p:cNvSpPr txBox="1"/>
          <p:nvPr/>
        </p:nvSpPr>
        <p:spPr>
          <a:xfrm>
            <a:off x="812800" y="386834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B83A16"/>
                </a:solidFill>
                <a:latin typeface="Arial" pitchFamily="34" charset="0"/>
                <a:ea typeface="Arial" pitchFamily="34" charset="-122"/>
                <a:cs typeface="Arial" pitchFamily="34" charset="-120"/>
              </a:rPr>
              <a:t>6:30</a:t>
            </a:r>
            <a:endParaRPr lang="en-US" sz="1500" dirty="0"/>
          </a:p>
        </p:txBody>
      </p:sp>
      <p:sp>
        <p:nvSpPr>
          <p:cNvPr id="13" name="Text 11"/>
          <p:cNvSpPr txBox="1"/>
          <p:nvPr/>
        </p:nvSpPr>
        <p:spPr>
          <a:xfrm>
            <a:off x="2019300" y="3855641"/>
            <a:ext cx="9640697" cy="273050"/>
          </a:xfrm>
          <a:prstGeom prst="rect">
            <a:avLst/>
          </a:prstGeom>
          <a:noFill/>
          <a:ln/>
        </p:spPr>
        <p:txBody>
          <a:bodyPr wrap="square" lIns="0" tIns="0" rIns="0" bIns="0" rtlCol="0" anchor="t"/>
          <a:lstStyle/>
          <a:p>
            <a:pPr algn="l" indent="0" marL="0">
              <a:lnSpc>
                <a:spcPts val="1950"/>
              </a:lnSpc>
              <a:buNone/>
            </a:pPr>
            <a:r>
              <a:rPr lang="en-US" sz="1500" dirty="0">
                <a:solidFill>
                  <a:srgbClr val="15161D"/>
                </a:solidFill>
                <a:latin typeface="Cambria" pitchFamily="34" charset="0"/>
                <a:ea typeface="Cambria" pitchFamily="34" charset="-122"/>
                <a:cs typeface="Cambria" pitchFamily="34" charset="-120"/>
              </a:rPr>
              <a:t>Your research record and the class document</a:t>
            </a:r>
            <a:endParaRPr lang="en-US" sz="1500" dirty="0"/>
          </a:p>
        </p:txBody>
      </p:sp>
      <p:sp>
        <p:nvSpPr>
          <p:cNvPr id="14" name="Text 12"/>
          <p:cNvSpPr txBox="1"/>
          <p:nvPr/>
        </p:nvSpPr>
        <p:spPr>
          <a:xfrm>
            <a:off x="812800" y="436999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B83A16"/>
                </a:solidFill>
                <a:latin typeface="Arial" pitchFamily="34" charset="0"/>
                <a:ea typeface="Arial" pitchFamily="34" charset="-122"/>
                <a:cs typeface="Arial" pitchFamily="34" charset="-120"/>
              </a:rPr>
              <a:t>6:40</a:t>
            </a:r>
            <a:endParaRPr lang="en-US" sz="1500" dirty="0"/>
          </a:p>
        </p:txBody>
      </p:sp>
      <p:sp>
        <p:nvSpPr>
          <p:cNvPr id="15" name="Text 13"/>
          <p:cNvSpPr txBox="1"/>
          <p:nvPr/>
        </p:nvSpPr>
        <p:spPr>
          <a:xfrm>
            <a:off x="2019300" y="4357291"/>
            <a:ext cx="9640697" cy="273050"/>
          </a:xfrm>
          <a:prstGeom prst="rect">
            <a:avLst/>
          </a:prstGeom>
          <a:noFill/>
          <a:ln/>
        </p:spPr>
        <p:txBody>
          <a:bodyPr wrap="square" lIns="0" tIns="0" rIns="0" bIns="0" rtlCol="0" anchor="t"/>
          <a:lstStyle/>
          <a:p>
            <a:pPr algn="l" indent="0" marL="0">
              <a:lnSpc>
                <a:spcPts val="1950"/>
              </a:lnSpc>
              <a:buNone/>
            </a:pPr>
            <a:r>
              <a:rPr lang="en-US" sz="1500" dirty="0">
                <a:solidFill>
                  <a:srgbClr val="15161D"/>
                </a:solidFill>
                <a:latin typeface="Cambria" pitchFamily="34" charset="0"/>
                <a:ea typeface="Cambria" pitchFamily="34" charset="-122"/>
                <a:cs typeface="Cambria" pitchFamily="34" charset="-120"/>
              </a:rPr>
              <a:t>What makes a good research question?</a:t>
            </a:r>
            <a:endParaRPr lang="en-US" sz="1500" dirty="0"/>
          </a:p>
        </p:txBody>
      </p:sp>
      <p:sp>
        <p:nvSpPr>
          <p:cNvPr id="16" name="Text 14"/>
          <p:cNvSpPr txBox="1"/>
          <p:nvPr/>
        </p:nvSpPr>
        <p:spPr>
          <a:xfrm>
            <a:off x="812800" y="487164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9C978C"/>
                </a:solidFill>
                <a:latin typeface="Arial" pitchFamily="34" charset="0"/>
                <a:ea typeface="Arial" pitchFamily="34" charset="-122"/>
                <a:cs typeface="Arial" pitchFamily="34" charset="-120"/>
              </a:rPr>
              <a:t>7:00</a:t>
            </a:r>
            <a:endParaRPr lang="en-US" sz="1500" dirty="0"/>
          </a:p>
        </p:txBody>
      </p:sp>
      <p:sp>
        <p:nvSpPr>
          <p:cNvPr id="17" name="Text 15"/>
          <p:cNvSpPr txBox="1"/>
          <p:nvPr/>
        </p:nvSpPr>
        <p:spPr>
          <a:xfrm>
            <a:off x="2019300" y="4858941"/>
            <a:ext cx="9640697" cy="273050"/>
          </a:xfrm>
          <a:prstGeom prst="rect">
            <a:avLst/>
          </a:prstGeom>
          <a:noFill/>
          <a:ln/>
        </p:spPr>
        <p:txBody>
          <a:bodyPr wrap="square" lIns="0" tIns="0" rIns="0" bIns="0" rtlCol="0" anchor="t"/>
          <a:lstStyle/>
          <a:p>
            <a:pPr algn="l" indent="0" marL="0">
              <a:lnSpc>
                <a:spcPts val="1950"/>
              </a:lnSpc>
              <a:buNone/>
            </a:pPr>
            <a:r>
              <a:rPr lang="en-US" sz="1500" i="1" dirty="0">
                <a:solidFill>
                  <a:srgbClr val="9C978C"/>
                </a:solidFill>
                <a:latin typeface="Cambria" pitchFamily="34" charset="0"/>
                <a:ea typeface="Cambria" pitchFamily="34" charset="-122"/>
                <a:cs typeface="Cambria" pitchFamily="34" charset="-120"/>
              </a:rPr>
              <a:t>Break</a:t>
            </a:r>
            <a:endParaRPr lang="en-US" sz="1500" dirty="0"/>
          </a:p>
        </p:txBody>
      </p:sp>
      <p:sp>
        <p:nvSpPr>
          <p:cNvPr id="18" name="Text 16"/>
          <p:cNvSpPr txBox="1"/>
          <p:nvPr/>
        </p:nvSpPr>
        <p:spPr>
          <a:xfrm>
            <a:off x="812800" y="537329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B83A16"/>
                </a:solidFill>
                <a:latin typeface="Arial" pitchFamily="34" charset="0"/>
                <a:ea typeface="Arial" pitchFamily="34" charset="-122"/>
                <a:cs typeface="Arial" pitchFamily="34" charset="-120"/>
              </a:rPr>
              <a:t>7:10</a:t>
            </a:r>
            <a:endParaRPr lang="en-US" sz="1500" dirty="0"/>
          </a:p>
        </p:txBody>
      </p:sp>
      <p:sp>
        <p:nvSpPr>
          <p:cNvPr id="19" name="Text 17"/>
          <p:cNvSpPr txBox="1"/>
          <p:nvPr/>
        </p:nvSpPr>
        <p:spPr>
          <a:xfrm>
            <a:off x="2019300" y="5360591"/>
            <a:ext cx="9640697" cy="273050"/>
          </a:xfrm>
          <a:prstGeom prst="rect">
            <a:avLst/>
          </a:prstGeom>
          <a:noFill/>
          <a:ln/>
        </p:spPr>
        <p:txBody>
          <a:bodyPr wrap="square" lIns="0" tIns="0" rIns="0" bIns="0" rtlCol="0" anchor="t"/>
          <a:lstStyle/>
          <a:p>
            <a:pPr algn="l" indent="0" marL="0">
              <a:lnSpc>
                <a:spcPts val="1950"/>
              </a:lnSpc>
              <a:buNone/>
            </a:pPr>
            <a:r>
              <a:rPr lang="en-US" sz="1500" dirty="0">
                <a:solidFill>
                  <a:srgbClr val="15161D"/>
                </a:solidFill>
                <a:latin typeface="Cambria" pitchFamily="34" charset="0"/>
                <a:ea typeface="Cambria" pitchFamily="34" charset="-122"/>
                <a:cs typeface="Cambria" pitchFamily="34" charset="-120"/>
              </a:rPr>
              <a:t>Breakouts: a candidate question, then report back</a:t>
            </a:r>
            <a:endParaRPr lang="en-US" sz="1500" dirty="0"/>
          </a:p>
        </p:txBody>
      </p:sp>
      <p:sp>
        <p:nvSpPr>
          <p:cNvPr id="20" name="Text 18"/>
          <p:cNvSpPr txBox="1"/>
          <p:nvPr/>
        </p:nvSpPr>
        <p:spPr>
          <a:xfrm>
            <a:off x="812800" y="5874941"/>
            <a:ext cx="981075" cy="241300"/>
          </a:xfrm>
          <a:prstGeom prst="rect">
            <a:avLst/>
          </a:prstGeom>
          <a:noFill/>
          <a:ln/>
        </p:spPr>
        <p:txBody>
          <a:bodyPr wrap="square" lIns="0" tIns="0" rIns="0" bIns="0" rtlCol="0" anchor="t"/>
          <a:lstStyle/>
          <a:p>
            <a:pPr algn="l" indent="0" marL="0">
              <a:lnSpc>
                <a:spcPts val="1800"/>
              </a:lnSpc>
              <a:buNone/>
            </a:pPr>
            <a:r>
              <a:rPr lang="en-US" sz="1500" b="1" dirty="0">
                <a:solidFill>
                  <a:srgbClr val="B83A16"/>
                </a:solidFill>
                <a:latin typeface="Arial" pitchFamily="34" charset="0"/>
                <a:ea typeface="Arial" pitchFamily="34" charset="-122"/>
                <a:cs typeface="Arial" pitchFamily="34" charset="-120"/>
              </a:rPr>
              <a:t>7:40</a:t>
            </a:r>
            <a:endParaRPr lang="en-US" sz="1500" dirty="0"/>
          </a:p>
        </p:txBody>
      </p:sp>
      <p:sp>
        <p:nvSpPr>
          <p:cNvPr id="21" name="Text 19"/>
          <p:cNvSpPr txBox="1"/>
          <p:nvPr/>
        </p:nvSpPr>
        <p:spPr>
          <a:xfrm>
            <a:off x="2019300" y="5862241"/>
            <a:ext cx="9640697" cy="273050"/>
          </a:xfrm>
          <a:prstGeom prst="rect">
            <a:avLst/>
          </a:prstGeom>
          <a:noFill/>
          <a:ln/>
        </p:spPr>
        <p:txBody>
          <a:bodyPr wrap="square" lIns="0" tIns="0" rIns="0" bIns="0" rtlCol="0" anchor="t"/>
          <a:lstStyle/>
          <a:p>
            <a:pPr algn="l" indent="0" marL="0">
              <a:lnSpc>
                <a:spcPts val="1950"/>
              </a:lnSpc>
              <a:buNone/>
            </a:pPr>
            <a:r>
              <a:rPr lang="en-US" sz="1500" dirty="0">
                <a:solidFill>
                  <a:srgbClr val="15161D"/>
                </a:solidFill>
                <a:latin typeface="Cambria" pitchFamily="34" charset="0"/>
                <a:ea typeface="Cambria" pitchFamily="34" charset="-122"/>
                <a:cs typeface="Cambria" pitchFamily="34" charset="-120"/>
              </a:rPr>
              <a:t>Wrap-up: class map, baseline reflection, Task 1</a:t>
            </a:r>
            <a:endParaRPr lang="en-US" sz="1500" dirty="0"/>
          </a:p>
        </p:txBody>
      </p:sp>
      <p:sp>
        <p:nvSpPr>
          <p:cNvPr id="22" name="Text 20"/>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Two ten-minute breaks, on the hour · Times are a guide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558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SEVEN MONDAYS · 5:00–7:50 PM CENTRAL · ONLINE</a:t>
            </a:r>
            <a:endParaRPr lang="en-US" sz="1200" dirty="0"/>
          </a:p>
        </p:txBody>
      </p:sp>
      <p:sp>
        <p:nvSpPr>
          <p:cNvPr id="3" name="Text 1"/>
          <p:cNvSpPr txBox="1"/>
          <p:nvPr/>
        </p:nvSpPr>
        <p:spPr>
          <a:xfrm>
            <a:off x="812800" y="889000"/>
            <a:ext cx="10883392" cy="444500"/>
          </a:xfrm>
          <a:prstGeom prst="rect">
            <a:avLst/>
          </a:prstGeom>
          <a:noFill/>
          <a:ln/>
        </p:spPr>
        <p:txBody>
          <a:bodyPr wrap="square" lIns="0" tIns="0" rIns="0" bIns="0" rtlCol="0" anchor="t"/>
          <a:lstStyle/>
          <a:p>
            <a:pPr algn="l" indent="0" marL="0">
              <a:lnSpc>
                <a:spcPts val="3300"/>
              </a:lnSpc>
              <a:buNone/>
            </a:pPr>
            <a:r>
              <a:rPr lang="en-US" sz="3000" b="1" spc="-50" kern="0" dirty="0">
                <a:solidFill>
                  <a:srgbClr val="15161D"/>
                </a:solidFill>
                <a:latin typeface="Arial" pitchFamily="34" charset="0"/>
                <a:ea typeface="Arial" pitchFamily="34" charset="-122"/>
                <a:cs typeface="Arial" pitchFamily="34" charset="-120"/>
              </a:rPr>
              <a:t>What we’ll cover</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460500"/>
          <a:ext cx="10566400" cy="914400"/>
        </p:xfrm>
        <a:graphic>
          <a:graphicData uri="http://schemas.openxmlformats.org/drawingml/2006/table">
            <a:tbl>
              <a:tblPr/>
              <a:tblGrid>
                <a:gridCol w="1050230"/>
                <a:gridCol w="1680369"/>
                <a:gridCol w="5461595"/>
                <a:gridCol w="2310705"/>
              </a:tblGrid>
              <a:tr h="325041">
                <a:tc>
                  <a:txBody>
                    <a:bodyPr/>
                    <a:lstStyle/>
                    <a:p>
                      <a:pPr indent="0" marL="0">
                        <a:buNone/>
                      </a:pPr>
                      <a:r>
                        <a:rPr lang="en-US" sz="1300" b="1" dirty="0">
                          <a:solidFill>
                            <a:srgbClr val="F3EEE4"/>
                          </a:solidFill>
                          <a:latin typeface="Arial" pitchFamily="34" charset="0"/>
                          <a:ea typeface="Arial" pitchFamily="34" charset="-122"/>
                          <a:cs typeface="Arial" pitchFamily="34" charset="-120"/>
                        </a:rPr>
                        <a:t>Session</a:t>
                      </a:r>
                      <a:endParaRPr lang="en-US" sz="1300" dirty="0">
                        <a:latin typeface="Arial" charset="0"/>
                        <a:ea typeface="Arial" charset="0"/>
                        <a:cs typeface="Arial" charset="0"/>
                      </a:endParaRPr>
                    </a:p>
                  </a:txBody>
                  <a:tcPr marL="101600" marR="101600" marT="63500" marB="63500" anchor="t">
                    <a:lnL w="0" cap="flat" cmpd="sng" algn="ctr">
                      <a:noFill/>
                    </a:lnL>
                    <a:lnR w="0" cap="flat" cmpd="sng" algn="ctr">
                      <a:noFill/>
                    </a:lnR>
                    <a:lnT w="0" cap="flat" cmpd="sng" algn="ctr">
                      <a:noFill/>
                    </a:lnT>
                    <a:lnB w="0" cap="flat" cmpd="sng" algn="ctr">
                      <a:noFill/>
                    </a:lnB>
                    <a:solidFill>
                      <a:srgbClr val="15161D"/>
                    </a:solidFill>
                  </a:tcPr>
                </a:tc>
                <a:tc>
                  <a:txBody>
                    <a:bodyPr/>
                    <a:lstStyle/>
                    <a:p>
                      <a:pPr indent="0" marL="0">
                        <a:buNone/>
                      </a:pPr>
                      <a:r>
                        <a:rPr lang="en-US" sz="1300" b="1" dirty="0">
                          <a:solidFill>
                            <a:srgbClr val="F3EEE4"/>
                          </a:solidFill>
                          <a:latin typeface="Arial" pitchFamily="34" charset="0"/>
                          <a:ea typeface="Arial" pitchFamily="34" charset="-122"/>
                          <a:cs typeface="Arial" pitchFamily="34" charset="-120"/>
                        </a:rPr>
                        <a:t>Seminar</a:t>
                      </a:r>
                      <a:endParaRPr lang="en-US" sz="1300" dirty="0">
                        <a:latin typeface="Arial" charset="0"/>
                        <a:ea typeface="Arial" charset="0"/>
                        <a:cs typeface="Arial" charset="0"/>
                      </a:endParaRPr>
                    </a:p>
                  </a:txBody>
                  <a:tcPr marL="101600" marR="101600" marT="63500" marB="63500" anchor="t">
                    <a:lnL w="0" cap="flat" cmpd="sng" algn="ctr">
                      <a:noFill/>
                    </a:lnL>
                    <a:lnR w="0" cap="flat" cmpd="sng" algn="ctr">
                      <a:noFill/>
                    </a:lnR>
                    <a:lnT w="0" cap="flat" cmpd="sng" algn="ctr">
                      <a:noFill/>
                    </a:lnT>
                    <a:lnB w="0" cap="flat" cmpd="sng" algn="ctr">
                      <a:noFill/>
                    </a:lnB>
                    <a:solidFill>
                      <a:srgbClr val="15161D"/>
                    </a:solidFill>
                  </a:tcPr>
                </a:tc>
                <a:tc>
                  <a:txBody>
                    <a:bodyPr/>
                    <a:lstStyle/>
                    <a:p>
                      <a:pPr indent="0" marL="0">
                        <a:buNone/>
                      </a:pPr>
                      <a:r>
                        <a:rPr lang="en-US" sz="1300" b="1" dirty="0">
                          <a:solidFill>
                            <a:srgbClr val="F3EEE4"/>
                          </a:solidFill>
                          <a:latin typeface="Arial" pitchFamily="34" charset="0"/>
                          <a:ea typeface="Arial" pitchFamily="34" charset="-122"/>
                          <a:cs typeface="Arial" pitchFamily="34" charset="-120"/>
                        </a:rPr>
                        <a:t>Focus · </a:t>
                      </a:r>
                      <a:pPr indent="0" marL="0">
                        <a:buNone/>
                      </a:pPr>
                      <a:r>
                        <a:rPr lang="en-US" sz="1300" b="1" i="1" dirty="0">
                          <a:solidFill>
                            <a:srgbClr val="F3EEE4"/>
                          </a:solidFill>
                          <a:latin typeface="Arial" pitchFamily="34" charset="0"/>
                          <a:ea typeface="Arial" pitchFamily="34" charset="-122"/>
                          <a:cs typeface="Arial" pitchFamily="34" charset="-120"/>
                        </a:rPr>
                        <a:t>theme</a:t>
                      </a:r>
                      <a:endParaRPr lang="en-US" sz="1300" dirty="0">
                        <a:latin typeface="Arial" charset="0"/>
                        <a:ea typeface="Arial" charset="0"/>
                        <a:cs typeface="Arial" charset="0"/>
                      </a:endParaRPr>
                    </a:p>
                  </a:txBody>
                  <a:tcPr marL="101600" marR="101600" marT="63500" marB="63500" anchor="t">
                    <a:lnL w="0" cap="flat" cmpd="sng" algn="ctr">
                      <a:noFill/>
                    </a:lnL>
                    <a:lnR w="0" cap="flat" cmpd="sng" algn="ctr">
                      <a:noFill/>
                    </a:lnR>
                    <a:lnT w="0" cap="flat" cmpd="sng" algn="ctr">
                      <a:noFill/>
                    </a:lnT>
                    <a:lnB w="0" cap="flat" cmpd="sng" algn="ctr">
                      <a:noFill/>
                    </a:lnB>
                    <a:solidFill>
                      <a:srgbClr val="15161D"/>
                    </a:solidFill>
                  </a:tcPr>
                </a:tc>
                <a:tc>
                  <a:txBody>
                    <a:bodyPr/>
                    <a:lstStyle/>
                    <a:p>
                      <a:pPr indent="0" marL="0">
                        <a:buNone/>
                      </a:pPr>
                      <a:r>
                        <a:rPr lang="en-US" sz="1300" b="1" dirty="0">
                          <a:solidFill>
                            <a:srgbClr val="F3EEE4"/>
                          </a:solidFill>
                          <a:latin typeface="Arial" pitchFamily="34" charset="0"/>
                          <a:ea typeface="Arial" pitchFamily="34" charset="-122"/>
                          <a:cs typeface="Arial" pitchFamily="34" charset="-120"/>
                        </a:rPr>
                        <a:t>Task due (Mon)</a:t>
                      </a:r>
                      <a:endParaRPr lang="en-US" sz="1300" dirty="0">
                        <a:latin typeface="Arial" charset="0"/>
                        <a:ea typeface="Arial" charset="0"/>
                        <a:cs typeface="Arial" charset="0"/>
                      </a:endParaRPr>
                    </a:p>
                  </a:txBody>
                  <a:tcPr marL="101600" marR="101600" marT="63500" marB="63500" anchor="t">
                    <a:lnL w="0" cap="flat" cmpd="sng" algn="ctr">
                      <a:noFill/>
                    </a:lnL>
                    <a:lnR w="0" cap="flat" cmpd="sng" algn="ctr">
                      <a:noFill/>
                    </a:lnR>
                    <a:lnT w="0" cap="flat" cmpd="sng" algn="ctr">
                      <a:noFill/>
                    </a:lnT>
                    <a:lnB w="0" cap="flat" cmpd="sng" algn="ctr">
                      <a:noFill/>
                    </a:lnB>
                    <a:solidFill>
                      <a:srgbClr val="15161D"/>
                    </a:solidFill>
                  </a:tcPr>
                </a:tc>
              </a:tr>
              <a:tr h="497681">
                <a:tc>
                  <a:txBody>
                    <a:bodyPr/>
                    <a:lstStyle/>
                    <a:p>
                      <a:pPr indent="0" marL="0">
                        <a:buNone/>
                      </a:pPr>
                      <a:r>
                        <a:rPr lang="en-US" sz="1300" dirty="0">
                          <a:solidFill>
                            <a:srgbClr val="15161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19 Oct</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Research questions and academic literature</a:t>
                      </a:r>
                      <a:endParaRPr lang="en-US" sz="1300" dirty="0">
                        <a:latin typeface="Arial" charset="0"/>
                        <a:ea typeface="Arial" charset="0"/>
                        <a:cs typeface="Arial" charset="0"/>
                      </a:endParaRPr>
                    </a:p>
                    <a:p>
                      <a:pPr indent="0" marL="0">
                        <a:buNone/>
                      </a:pPr>
                      <a:r>
                        <a:rPr lang="en-US" sz="1200" i="1" dirty="0">
                          <a:solidFill>
                            <a:srgbClr val="6A6670"/>
                          </a:solidFill>
                          <a:latin typeface="Cambria" pitchFamily="34" charset="0"/>
                          <a:ea typeface="Cambria" pitchFamily="34" charset="-122"/>
                          <a:cs typeface="Cambria" pitchFamily="34" charset="-120"/>
                        </a:rPr>
                        <a:t>What is literature, and what is AI changing?</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Task 1 · 26 Oct</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r>
              <a:tr h="497681">
                <a:tc>
                  <a:txBody>
                    <a:bodyPr/>
                    <a:lstStyle/>
                    <a:p>
                      <a:pPr indent="0" marL="0">
                        <a:buNone/>
                      </a:pPr>
                      <a:r>
                        <a:rPr lang="en-US" sz="1300" dirty="0">
                          <a:solidFill>
                            <a:srgbClr val="15161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26 Oct</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Article anatomy, review design, mapping a field</a:t>
                      </a:r>
                      <a:endParaRPr lang="en-US" sz="1300" dirty="0">
                        <a:latin typeface="Arial" charset="0"/>
                        <a:ea typeface="Arial" charset="0"/>
                        <a:cs typeface="Arial" charset="0"/>
                      </a:endParaRPr>
                    </a:p>
                    <a:p>
                      <a:pPr indent="0" marL="0">
                        <a:buNone/>
                      </a:pPr>
                      <a:r>
                        <a:rPr lang="en-US" sz="1200" i="1" dirty="0">
                          <a:solidFill>
                            <a:srgbClr val="6A6670"/>
                          </a:solidFill>
                          <a:latin typeface="Cambria" pitchFamily="34" charset="0"/>
                          <a:ea typeface="Cambria" pitchFamily="34" charset="-122"/>
                          <a:cs typeface="Cambria" pitchFamily="34" charset="-120"/>
                        </a:rPr>
                        <a:t>Where’s the gap? Mapping a field</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Task 2 · 2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r>
              <a:tr h="497681">
                <a:tc>
                  <a:txBody>
                    <a:bodyPr/>
                    <a:lstStyle/>
                    <a:p>
                      <a:pPr indent="0" marL="0">
                        <a:buNone/>
                      </a:pPr>
                      <a:r>
                        <a:rPr lang="en-US" sz="1300" dirty="0">
                          <a:solidFill>
                            <a:srgbClr val="15161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2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AI-assisted close and distant reading</a:t>
                      </a:r>
                      <a:endParaRPr lang="en-US" sz="1300" dirty="0">
                        <a:latin typeface="Arial" charset="0"/>
                        <a:ea typeface="Arial" charset="0"/>
                        <a:cs typeface="Arial" charset="0"/>
                      </a:endParaRPr>
                    </a:p>
                    <a:p>
                      <a:pPr indent="0" marL="0">
                        <a:buNone/>
                      </a:pPr>
                      <a:r>
                        <a:rPr lang="en-US" sz="1200" i="1" dirty="0">
                          <a:solidFill>
                            <a:srgbClr val="6A6670"/>
                          </a:solidFill>
                          <a:latin typeface="Cambria" pitchFamily="34" charset="0"/>
                          <a:ea typeface="Cambria" pitchFamily="34" charset="-122"/>
                          <a:cs typeface="Cambria" pitchFamily="34" charset="-120"/>
                        </a:rPr>
                        <a:t>Vibe scholarship: does AI mean artificial knowledge?</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Task 3 · 9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r>
              <a:tr h="497681">
                <a:tc>
                  <a:txBody>
                    <a:bodyPr/>
                    <a:lstStyle/>
                    <a:p>
                      <a:pPr indent="0" marL="0">
                        <a:buNone/>
                      </a:pPr>
                      <a:r>
                        <a:rPr lang="en-US" sz="1300" dirty="0">
                          <a:solidFill>
                            <a:srgbClr val="15161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9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Difficult texts, audiences, scholarly voice</a:t>
                      </a:r>
                      <a:endParaRPr lang="en-US" sz="1300" dirty="0">
                        <a:latin typeface="Arial" charset="0"/>
                        <a:ea typeface="Arial" charset="0"/>
                        <a:cs typeface="Arial" charset="0"/>
                      </a:endParaRPr>
                    </a:p>
                    <a:p>
                      <a:pPr indent="0" marL="0">
                        <a:buNone/>
                      </a:pPr>
                      <a:r>
                        <a:rPr lang="en-US" sz="1200" i="1" dirty="0">
                          <a:solidFill>
                            <a:srgbClr val="6A6670"/>
                          </a:solidFill>
                          <a:latin typeface="Cambria" pitchFamily="34" charset="0"/>
                          <a:ea typeface="Cambria" pitchFamily="34" charset="-122"/>
                          <a:cs typeface="Cambria" pitchFamily="34" charset="-120"/>
                        </a:rPr>
                        <a:t>Slow reading with AI; finding your scholarly voice</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Task 4 · 16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r>
              <a:tr h="497681">
                <a:tc>
                  <a:txBody>
                    <a:bodyPr/>
                    <a:lstStyle/>
                    <a:p>
                      <a:pPr indent="0" marL="0">
                        <a:buNone/>
                      </a:pPr>
                      <a:r>
                        <a:rPr lang="en-US" sz="1300" dirty="0">
                          <a:solidFill>
                            <a:srgbClr val="15161D"/>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16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Structure, signposting, scholarly communities</a:t>
                      </a:r>
                      <a:endParaRPr lang="en-US" sz="1300" dirty="0">
                        <a:latin typeface="Arial" charset="0"/>
                        <a:ea typeface="Arial" charset="0"/>
                        <a:cs typeface="Arial" charset="0"/>
                      </a:endParaRPr>
                    </a:p>
                    <a:p>
                      <a:pPr indent="0" marL="0">
                        <a:buNone/>
                      </a:pPr>
                      <a:r>
                        <a:rPr lang="en-US" sz="1200" i="1" dirty="0">
                          <a:solidFill>
                            <a:srgbClr val="6A6670"/>
                          </a:solidFill>
                          <a:latin typeface="Cambria" pitchFamily="34" charset="0"/>
                          <a:ea typeface="Cambria" pitchFamily="34" charset="-122"/>
                          <a:cs typeface="Cambria" pitchFamily="34" charset="-120"/>
                        </a:rPr>
                        <a:t>“What do I know?” Towards a sociology of knowledge</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Task 5 · 30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r>
              <a:tr h="299641">
                <a:tc>
                  <a:txBody>
                    <a:bodyPr/>
                    <a:lstStyle/>
                    <a:p>
                      <a:pPr indent="0" marL="0">
                        <a:buNone/>
                      </a:pPr>
                      <a:r>
                        <a:rPr lang="en-US" sz="1300" dirty="0">
                          <a:solidFill>
                            <a:srgbClr val="15161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solidFill>
                      <a:srgbClr val="E8E1D3"/>
                    </a:solidFill>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23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solidFill>
                      <a:srgbClr val="E8E1D3"/>
                    </a:solidFill>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Fall break: no seminar, nothing due</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solidFill>
                      <a:srgbClr val="E8E1D3"/>
                    </a:solidFill>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solidFill>
                      <a:srgbClr val="E8E1D3"/>
                    </a:solidFill>
                  </a:tcPr>
                </a:tc>
              </a:tr>
              <a:tr h="497681">
                <a:tc>
                  <a:txBody>
                    <a:bodyPr/>
                    <a:lstStyle/>
                    <a:p>
                      <a:pPr indent="0" marL="0">
                        <a:buNone/>
                      </a:pPr>
                      <a:r>
                        <a:rPr lang="en-US" sz="1300" dirty="0">
                          <a:solidFill>
                            <a:srgbClr val="15161D"/>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30 Nov</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Reflexivity, positionality and AI in scholarship</a:t>
                      </a:r>
                      <a:endParaRPr lang="en-US" sz="1300" dirty="0">
                        <a:latin typeface="Arial" charset="0"/>
                        <a:ea typeface="Arial" charset="0"/>
                        <a:cs typeface="Arial" charset="0"/>
                      </a:endParaRPr>
                    </a:p>
                    <a:p>
                      <a:pPr indent="0" marL="0">
                        <a:buNone/>
                      </a:pPr>
                      <a:r>
                        <a:rPr lang="en-US" sz="1200" i="1" dirty="0">
                          <a:solidFill>
                            <a:srgbClr val="6A6670"/>
                          </a:solidFill>
                          <a:latin typeface="Cambria" pitchFamily="34" charset="0"/>
                          <a:ea typeface="Cambria" pitchFamily="34" charset="-122"/>
                          <a:cs typeface="Cambria" pitchFamily="34" charset="-120"/>
                        </a:rPr>
                        <a:t>How do we interpret scholarship, and acknowledge AI?</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Task 6 · 7 Dec</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r>
              <a:tr h="497681">
                <a:tc>
                  <a:txBody>
                    <a:bodyPr/>
                    <a:lstStyle/>
                    <a:p>
                      <a:pPr indent="0" marL="0">
                        <a:buNone/>
                      </a:pPr>
                      <a:r>
                        <a:rPr lang="en-US" sz="1300" dirty="0">
                          <a:solidFill>
                            <a:srgbClr val="15161D"/>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7 Dec</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Future of scholarship; final review workshop</a:t>
                      </a:r>
                      <a:endParaRPr lang="en-US" sz="1300" dirty="0">
                        <a:latin typeface="Arial" charset="0"/>
                        <a:ea typeface="Arial" charset="0"/>
                        <a:cs typeface="Arial" charset="0"/>
                      </a:endParaRPr>
                    </a:p>
                    <a:p>
                      <a:pPr indent="0" marL="0">
                        <a:buNone/>
                      </a:pPr>
                      <a:r>
                        <a:rPr lang="en-US" sz="1200" i="1" dirty="0">
                          <a:solidFill>
                            <a:srgbClr val="6A6670"/>
                          </a:solidFill>
                          <a:latin typeface="Cambria" pitchFamily="34" charset="0"/>
                          <a:ea typeface="Cambria" pitchFamily="34" charset="-122"/>
                          <a:cs typeface="Cambria" pitchFamily="34" charset="-120"/>
                        </a:rPr>
                        <a:t>The automatic academy? The future of scholarship</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tcPr>
                </a:tc>
              </a:tr>
              <a:tr h="299641">
                <a:tc>
                  <a:txBody>
                    <a:bodyPr/>
                    <a:lstStyle/>
                    <a:p>
                      <a:pPr indent="0" marL="0">
                        <a:buNone/>
                      </a:pPr>
                      <a:r>
                        <a:rPr lang="en-US" sz="1300" dirty="0">
                          <a:solidFill>
                            <a:srgbClr val="15161D"/>
                          </a:solidFill>
                          <a:latin typeface="Arial" pitchFamily="34" charset="0"/>
                          <a:ea typeface="Arial" pitchFamily="34" charset="-122"/>
                          <a:cs typeface="Arial" pitchFamily="34" charset="-120"/>
                        </a:rPr>
                        <a:t>Final</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solidFill>
                      <a:srgbClr val="F9D9CC"/>
                    </a:solidFill>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solidFill>
                      <a:srgbClr val="F9D9CC"/>
                    </a:solidFill>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Final literature review, Tue 15 Dec, 11:59 PM</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solidFill>
                      <a:srgbClr val="F9D9CC"/>
                    </a:solidFill>
                  </a:tcPr>
                </a:tc>
                <a:tc>
                  <a:txBody>
                    <a:bodyPr/>
                    <a:lstStyle/>
                    <a:p>
                      <a:pPr indent="0" marL="0">
                        <a:buNone/>
                      </a:pPr>
                      <a:r>
                        <a:rPr lang="en-US" sz="1300" dirty="0">
                          <a:solidFill>
                            <a:srgbClr val="15161D"/>
                          </a:solidFill>
                          <a:latin typeface="Arial" pitchFamily="34" charset="0"/>
                          <a:ea typeface="Arial" pitchFamily="34" charset="-122"/>
                          <a:cs typeface="Arial" pitchFamily="34" charset="-120"/>
                        </a:rPr>
                        <a:t>Task 7 · 15 Dec</a:t>
                      </a:r>
                      <a:endParaRPr lang="en-US" sz="1300" dirty="0">
                        <a:latin typeface="Arial" charset="0"/>
                        <a:ea typeface="Arial" charset="0"/>
                        <a:cs typeface="Arial" charset="0"/>
                      </a:endParaRPr>
                    </a:p>
                  </a:txBody>
                  <a:tcPr marL="101600" marR="101600" marT="50800" marB="50800" anchor="t">
                    <a:lnL w="0" cap="flat" cmpd="sng" algn="ctr">
                      <a:noFill/>
                    </a:lnL>
                    <a:lnR w="0" cap="flat" cmpd="sng" algn="ctr">
                      <a:noFill/>
                    </a:lnR>
                    <a:lnT w="0" cap="flat" cmpd="sng" algn="ctr">
                      <a:noFill/>
                    </a:lnT>
                    <a:lnB w="0" cap="flat" cmpd="sng" algn="ctr">
                      <a:noFill/>
                    </a:lnB>
                    <a:solidFill>
                      <a:srgbClr val="F9D9CC"/>
                    </a:solidFill>
                  </a:tcPr>
                </a:tc>
              </a:tr>
            </a:tbl>
          </a:graphicData>
        </a:graphic>
      </p:graphicFrame>
      <p:sp>
        <p:nvSpPr>
          <p:cNvPr id="5" name="Text 2"/>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All deadlines 11:59 PM Central, submitted on Canvas · Matches the syllabus and Canvas modules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ASSESSMENT · 50% STAGED · 10% PEER REVIEW</a:t>
            </a:r>
            <a:endParaRPr lang="en-US" sz="1200" dirty="0"/>
          </a:p>
        </p:txBody>
      </p:sp>
      <p:sp>
        <p:nvSpPr>
          <p:cNvPr id="3" name="Text 1"/>
          <p:cNvSpPr txBox="1"/>
          <p:nvPr/>
        </p:nvSpPr>
        <p:spPr>
          <a:xfrm>
            <a:off x="812800" y="12446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A mock (or real) literature review</a:t>
            </a:r>
            <a:endParaRPr lang="en-US" sz="3600" dirty="0"/>
          </a:p>
        </p:txBody>
      </p:sp>
      <p:sp>
        <p:nvSpPr>
          <p:cNvPr id="4" name="Shape 2"/>
          <p:cNvSpPr/>
          <p:nvPr/>
        </p:nvSpPr>
        <p:spPr>
          <a:xfrm>
            <a:off x="812800" y="2159000"/>
            <a:ext cx="3352800" cy="904180"/>
          </a:xfrm>
          <a:prstGeom prst="roundRect">
            <a:avLst>
              <a:gd name="adj" fmla="val 14046"/>
            </a:avLst>
          </a:prstGeom>
          <a:solidFill>
            <a:srgbClr val="FBF8F2"/>
          </a:solidFill>
          <a:ln w="12700">
            <a:solidFill>
              <a:srgbClr val="15161D"/>
            </a:solidFill>
            <a:prstDash val="solid"/>
          </a:ln>
        </p:spPr>
      </p:sp>
      <p:sp>
        <p:nvSpPr>
          <p:cNvPr id="5" name="Text 3"/>
          <p:cNvSpPr txBox="1"/>
          <p:nvPr/>
        </p:nvSpPr>
        <p:spPr>
          <a:xfrm>
            <a:off x="1028700" y="2374900"/>
            <a:ext cx="3008630" cy="203200"/>
          </a:xfrm>
          <a:prstGeom prst="rect">
            <a:avLst/>
          </a:prstGeom>
          <a:noFill/>
          <a:ln/>
        </p:spPr>
        <p:txBody>
          <a:bodyPr wrap="square" lIns="0" tIns="0" rIns="0" bIns="0" rtlCol="0" anchor="t"/>
          <a:lstStyle/>
          <a:p>
            <a:pPr algn="l" indent="0" marL="0">
              <a:lnSpc>
                <a:spcPts val="1440"/>
              </a:lnSpc>
              <a:buNone/>
            </a:pPr>
            <a:r>
              <a:rPr lang="en-US" sz="1200" b="1" dirty="0">
                <a:solidFill>
                  <a:srgbClr val="B83A16"/>
                </a:solidFill>
                <a:latin typeface="Arial" pitchFamily="34" charset="0"/>
                <a:ea typeface="Arial" pitchFamily="34" charset="-122"/>
                <a:cs typeface="Arial" pitchFamily="34" charset="-120"/>
              </a:rPr>
              <a:t>1 · Ungraded · Mon 26 Oct</a:t>
            </a:r>
            <a:endParaRPr lang="en-US" sz="1200" dirty="0"/>
          </a:p>
        </p:txBody>
      </p:sp>
      <p:sp>
        <p:nvSpPr>
          <p:cNvPr id="6" name="Text 4"/>
          <p:cNvSpPr txBox="1"/>
          <p:nvPr/>
        </p:nvSpPr>
        <p:spPr>
          <a:xfrm>
            <a:off x="1028700" y="2603500"/>
            <a:ext cx="3008630" cy="26918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Research topic and question</a:t>
            </a:r>
            <a:endParaRPr lang="en-US" sz="1600" dirty="0"/>
          </a:p>
        </p:txBody>
      </p:sp>
      <p:sp>
        <p:nvSpPr>
          <p:cNvPr id="7" name="Shape 5"/>
          <p:cNvSpPr/>
          <p:nvPr/>
        </p:nvSpPr>
        <p:spPr>
          <a:xfrm>
            <a:off x="4419600" y="2159000"/>
            <a:ext cx="3352800" cy="1147961"/>
          </a:xfrm>
          <a:prstGeom prst="roundRect">
            <a:avLst>
              <a:gd name="adj" fmla="val 11063"/>
            </a:avLst>
          </a:prstGeom>
          <a:solidFill>
            <a:srgbClr val="FBF8F2"/>
          </a:solidFill>
          <a:ln w="12700">
            <a:solidFill>
              <a:srgbClr val="15161D"/>
            </a:solidFill>
            <a:prstDash val="solid"/>
          </a:ln>
        </p:spPr>
      </p:sp>
      <p:sp>
        <p:nvSpPr>
          <p:cNvPr id="8" name="Text 6"/>
          <p:cNvSpPr txBox="1"/>
          <p:nvPr/>
        </p:nvSpPr>
        <p:spPr>
          <a:xfrm>
            <a:off x="4635500" y="2374900"/>
            <a:ext cx="3008630" cy="203200"/>
          </a:xfrm>
          <a:prstGeom prst="rect">
            <a:avLst/>
          </a:prstGeom>
          <a:noFill/>
          <a:ln/>
        </p:spPr>
        <p:txBody>
          <a:bodyPr wrap="square" lIns="0" tIns="0" rIns="0" bIns="0" rtlCol="0" anchor="t"/>
          <a:lstStyle/>
          <a:p>
            <a:pPr algn="l" indent="0" marL="0">
              <a:lnSpc>
                <a:spcPts val="1440"/>
              </a:lnSpc>
              <a:buNone/>
            </a:pPr>
            <a:r>
              <a:rPr lang="en-US" sz="1200" b="1" dirty="0">
                <a:solidFill>
                  <a:srgbClr val="B83A16"/>
                </a:solidFill>
                <a:latin typeface="Arial" pitchFamily="34" charset="0"/>
                <a:ea typeface="Arial" pitchFamily="34" charset="-122"/>
                <a:cs typeface="Arial" pitchFamily="34" charset="-120"/>
              </a:rPr>
              <a:t>2 · 10% · Mon 2 Nov</a:t>
            </a:r>
            <a:endParaRPr lang="en-US" sz="1200" dirty="0"/>
          </a:p>
        </p:txBody>
      </p:sp>
      <p:sp>
        <p:nvSpPr>
          <p:cNvPr id="9" name="Text 7"/>
          <p:cNvSpPr txBox="1"/>
          <p:nvPr/>
        </p:nvSpPr>
        <p:spPr>
          <a:xfrm>
            <a:off x="4635500" y="2603500"/>
            <a:ext cx="3008630" cy="512961"/>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Review design, method and scope</a:t>
            </a:r>
            <a:endParaRPr lang="en-US" sz="1600" dirty="0"/>
          </a:p>
        </p:txBody>
      </p:sp>
      <p:sp>
        <p:nvSpPr>
          <p:cNvPr id="10" name="Shape 8"/>
          <p:cNvSpPr/>
          <p:nvPr/>
        </p:nvSpPr>
        <p:spPr>
          <a:xfrm>
            <a:off x="8026400" y="2159000"/>
            <a:ext cx="3352800" cy="1147961"/>
          </a:xfrm>
          <a:prstGeom prst="roundRect">
            <a:avLst>
              <a:gd name="adj" fmla="val 11063"/>
            </a:avLst>
          </a:prstGeom>
          <a:solidFill>
            <a:srgbClr val="FBF8F2"/>
          </a:solidFill>
          <a:ln w="12700">
            <a:solidFill>
              <a:srgbClr val="15161D"/>
            </a:solidFill>
            <a:prstDash val="solid"/>
          </a:ln>
        </p:spPr>
      </p:sp>
      <p:sp>
        <p:nvSpPr>
          <p:cNvPr id="11" name="Text 9"/>
          <p:cNvSpPr txBox="1"/>
          <p:nvPr/>
        </p:nvSpPr>
        <p:spPr>
          <a:xfrm>
            <a:off x="8242300" y="2374900"/>
            <a:ext cx="3008630" cy="203200"/>
          </a:xfrm>
          <a:prstGeom prst="rect">
            <a:avLst/>
          </a:prstGeom>
          <a:noFill/>
          <a:ln/>
        </p:spPr>
        <p:txBody>
          <a:bodyPr wrap="square" lIns="0" tIns="0" rIns="0" bIns="0" rtlCol="0" anchor="t"/>
          <a:lstStyle/>
          <a:p>
            <a:pPr algn="l" indent="0" marL="0">
              <a:lnSpc>
                <a:spcPts val="1440"/>
              </a:lnSpc>
              <a:buNone/>
            </a:pPr>
            <a:r>
              <a:rPr lang="en-US" sz="1200" b="1" dirty="0">
                <a:solidFill>
                  <a:srgbClr val="B83A16"/>
                </a:solidFill>
                <a:latin typeface="Arial" pitchFamily="34" charset="0"/>
                <a:ea typeface="Arial" pitchFamily="34" charset="-122"/>
                <a:cs typeface="Arial" pitchFamily="34" charset="-120"/>
              </a:rPr>
              <a:t>3 · 10% · Mon 9 Nov</a:t>
            </a:r>
            <a:endParaRPr lang="en-US" sz="1200" dirty="0"/>
          </a:p>
        </p:txBody>
      </p:sp>
      <p:sp>
        <p:nvSpPr>
          <p:cNvPr id="12" name="Text 10"/>
          <p:cNvSpPr txBox="1"/>
          <p:nvPr/>
        </p:nvSpPr>
        <p:spPr>
          <a:xfrm>
            <a:off x="8242300" y="2603500"/>
            <a:ext cx="3008630" cy="512961"/>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Conceptual map of the literature</a:t>
            </a:r>
            <a:endParaRPr lang="en-US" sz="1600" dirty="0"/>
          </a:p>
        </p:txBody>
      </p:sp>
      <p:sp>
        <p:nvSpPr>
          <p:cNvPr id="13" name="Shape 11"/>
          <p:cNvSpPr/>
          <p:nvPr/>
        </p:nvSpPr>
        <p:spPr>
          <a:xfrm>
            <a:off x="812800" y="3429000"/>
            <a:ext cx="3352800" cy="1147961"/>
          </a:xfrm>
          <a:prstGeom prst="roundRect">
            <a:avLst>
              <a:gd name="adj" fmla="val 11063"/>
            </a:avLst>
          </a:prstGeom>
          <a:solidFill>
            <a:srgbClr val="FBF8F2"/>
          </a:solidFill>
          <a:ln w="12700">
            <a:solidFill>
              <a:srgbClr val="15161D"/>
            </a:solidFill>
            <a:prstDash val="solid"/>
          </a:ln>
        </p:spPr>
      </p:sp>
      <p:sp>
        <p:nvSpPr>
          <p:cNvPr id="14" name="Text 12"/>
          <p:cNvSpPr txBox="1"/>
          <p:nvPr/>
        </p:nvSpPr>
        <p:spPr>
          <a:xfrm>
            <a:off x="1028700" y="3644900"/>
            <a:ext cx="3008630" cy="203200"/>
          </a:xfrm>
          <a:prstGeom prst="rect">
            <a:avLst/>
          </a:prstGeom>
          <a:noFill/>
          <a:ln/>
        </p:spPr>
        <p:txBody>
          <a:bodyPr wrap="square" lIns="0" tIns="0" rIns="0" bIns="0" rtlCol="0" anchor="t"/>
          <a:lstStyle/>
          <a:p>
            <a:pPr algn="l" indent="0" marL="0">
              <a:lnSpc>
                <a:spcPts val="1440"/>
              </a:lnSpc>
              <a:buNone/>
            </a:pPr>
            <a:r>
              <a:rPr lang="en-US" sz="1200" b="1" dirty="0">
                <a:solidFill>
                  <a:srgbClr val="B83A16"/>
                </a:solidFill>
                <a:latin typeface="Arial" pitchFamily="34" charset="0"/>
                <a:ea typeface="Arial" pitchFamily="34" charset="-122"/>
                <a:cs typeface="Arial" pitchFamily="34" charset="-120"/>
              </a:rPr>
              <a:t>4 · 10% · Mon 16 Nov</a:t>
            </a:r>
            <a:endParaRPr lang="en-US" sz="1200" dirty="0"/>
          </a:p>
        </p:txBody>
      </p:sp>
      <p:sp>
        <p:nvSpPr>
          <p:cNvPr id="15" name="Text 13"/>
          <p:cNvSpPr txBox="1"/>
          <p:nvPr/>
        </p:nvSpPr>
        <p:spPr>
          <a:xfrm>
            <a:off x="1028700" y="3873500"/>
            <a:ext cx="3008630" cy="512961"/>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Literature review writing sample</a:t>
            </a:r>
            <a:endParaRPr lang="en-US" sz="1600" dirty="0"/>
          </a:p>
        </p:txBody>
      </p:sp>
      <p:sp>
        <p:nvSpPr>
          <p:cNvPr id="16" name="Shape 14"/>
          <p:cNvSpPr/>
          <p:nvPr/>
        </p:nvSpPr>
        <p:spPr>
          <a:xfrm>
            <a:off x="4419600" y="3429000"/>
            <a:ext cx="3352800" cy="1147961"/>
          </a:xfrm>
          <a:prstGeom prst="roundRect">
            <a:avLst>
              <a:gd name="adj" fmla="val 11063"/>
            </a:avLst>
          </a:prstGeom>
          <a:solidFill>
            <a:srgbClr val="FBF8F2"/>
          </a:solidFill>
          <a:ln w="12700">
            <a:solidFill>
              <a:srgbClr val="15161D"/>
            </a:solidFill>
            <a:prstDash val="solid"/>
          </a:ln>
        </p:spPr>
      </p:sp>
      <p:sp>
        <p:nvSpPr>
          <p:cNvPr id="17" name="Text 15"/>
          <p:cNvSpPr txBox="1"/>
          <p:nvPr/>
        </p:nvSpPr>
        <p:spPr>
          <a:xfrm>
            <a:off x="4635500" y="3644900"/>
            <a:ext cx="3008630" cy="203200"/>
          </a:xfrm>
          <a:prstGeom prst="rect">
            <a:avLst/>
          </a:prstGeom>
          <a:noFill/>
          <a:ln/>
        </p:spPr>
        <p:txBody>
          <a:bodyPr wrap="square" lIns="0" tIns="0" rIns="0" bIns="0" rtlCol="0" anchor="t"/>
          <a:lstStyle/>
          <a:p>
            <a:pPr algn="l" indent="0" marL="0">
              <a:lnSpc>
                <a:spcPts val="1440"/>
              </a:lnSpc>
              <a:buNone/>
            </a:pPr>
            <a:r>
              <a:rPr lang="en-US" sz="1200" b="1" dirty="0">
                <a:solidFill>
                  <a:srgbClr val="B83A16"/>
                </a:solidFill>
                <a:latin typeface="Arial" pitchFamily="34" charset="0"/>
                <a:ea typeface="Arial" pitchFamily="34" charset="-122"/>
                <a:cs typeface="Arial" pitchFamily="34" charset="-120"/>
              </a:rPr>
              <a:t>5 · 10% · Mon 30 Nov</a:t>
            </a:r>
            <a:endParaRPr lang="en-US" sz="1200" dirty="0"/>
          </a:p>
        </p:txBody>
      </p:sp>
      <p:sp>
        <p:nvSpPr>
          <p:cNvPr id="18" name="Text 16"/>
          <p:cNvSpPr txBox="1"/>
          <p:nvPr/>
        </p:nvSpPr>
        <p:spPr>
          <a:xfrm>
            <a:off x="4635500" y="3873500"/>
            <a:ext cx="3008630" cy="512961"/>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Structured draft and signposting</a:t>
            </a:r>
            <a:endParaRPr lang="en-US" sz="1600" dirty="0"/>
          </a:p>
        </p:txBody>
      </p:sp>
      <p:sp>
        <p:nvSpPr>
          <p:cNvPr id="19" name="Shape 17"/>
          <p:cNvSpPr/>
          <p:nvPr/>
        </p:nvSpPr>
        <p:spPr>
          <a:xfrm>
            <a:off x="8026400" y="3429000"/>
            <a:ext cx="3352800" cy="1147961"/>
          </a:xfrm>
          <a:prstGeom prst="roundRect">
            <a:avLst>
              <a:gd name="adj" fmla="val 11063"/>
            </a:avLst>
          </a:prstGeom>
          <a:solidFill>
            <a:srgbClr val="FBF8F2"/>
          </a:solidFill>
          <a:ln w="12700">
            <a:solidFill>
              <a:srgbClr val="15161D"/>
            </a:solidFill>
            <a:prstDash val="solid"/>
          </a:ln>
        </p:spPr>
      </p:sp>
      <p:sp>
        <p:nvSpPr>
          <p:cNvPr id="20" name="Text 18"/>
          <p:cNvSpPr txBox="1"/>
          <p:nvPr/>
        </p:nvSpPr>
        <p:spPr>
          <a:xfrm>
            <a:off x="8242300" y="3644900"/>
            <a:ext cx="3008630" cy="203200"/>
          </a:xfrm>
          <a:prstGeom prst="rect">
            <a:avLst/>
          </a:prstGeom>
          <a:noFill/>
          <a:ln/>
        </p:spPr>
        <p:txBody>
          <a:bodyPr wrap="square" lIns="0" tIns="0" rIns="0" bIns="0" rtlCol="0" anchor="t"/>
          <a:lstStyle/>
          <a:p>
            <a:pPr algn="l" indent="0" marL="0">
              <a:lnSpc>
                <a:spcPts val="1440"/>
              </a:lnSpc>
              <a:buNone/>
            </a:pPr>
            <a:r>
              <a:rPr lang="en-US" sz="1200" b="1" dirty="0">
                <a:solidFill>
                  <a:srgbClr val="B83A16"/>
                </a:solidFill>
                <a:latin typeface="Arial" pitchFamily="34" charset="0"/>
                <a:ea typeface="Arial" pitchFamily="34" charset="-122"/>
                <a:cs typeface="Arial" pitchFamily="34" charset="-120"/>
              </a:rPr>
              <a:t>6 · 10% · Mon 7 Dec</a:t>
            </a:r>
            <a:endParaRPr lang="en-US" sz="1200" dirty="0"/>
          </a:p>
        </p:txBody>
      </p:sp>
      <p:sp>
        <p:nvSpPr>
          <p:cNvPr id="21" name="Text 19"/>
          <p:cNvSpPr txBox="1"/>
          <p:nvPr/>
        </p:nvSpPr>
        <p:spPr>
          <a:xfrm>
            <a:off x="8242300" y="3873500"/>
            <a:ext cx="3008630" cy="512961"/>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AI-use statement and reflexive commentary</a:t>
            </a:r>
            <a:endParaRPr lang="en-US" sz="1600" dirty="0"/>
          </a:p>
        </p:txBody>
      </p:sp>
      <p:sp>
        <p:nvSpPr>
          <p:cNvPr id="22" name="Text 20"/>
          <p:cNvSpPr txBox="1"/>
          <p:nvPr/>
        </p:nvSpPr>
        <p:spPr>
          <a:xfrm>
            <a:off x="812800" y="4889500"/>
            <a:ext cx="9810750" cy="594320"/>
          </a:xfrm>
          <a:prstGeom prst="rect">
            <a:avLst/>
          </a:prstGeom>
          <a:noFill/>
          <a:ln/>
        </p:spPr>
        <p:txBody>
          <a:bodyPr wrap="square" lIns="0" tIns="0" rIns="0" bIns="0" rtlCol="0" anchor="t"/>
          <a:lstStyle/>
          <a:p>
            <a:pPr algn="l" indent="0" marL="0">
              <a:lnSpc>
                <a:spcPts val="2240"/>
              </a:lnSpc>
              <a:buNone/>
            </a:pPr>
            <a:r>
              <a:rPr lang="en-US" sz="1600" dirty="0">
                <a:solidFill>
                  <a:srgbClr val="4A4A55"/>
                </a:solidFill>
                <a:latin typeface="Cambria" pitchFamily="34" charset="0"/>
                <a:ea typeface="Cambria" pitchFamily="34" charset="-122"/>
                <a:cs typeface="Cambria" pitchFamily="34" charset="-120"/>
              </a:rPr>
              <a:t>Each task builds the same review. Task 1 is ungraded: feedback before any marks. After Tasks 4 and 6 you review classmates’ work, 5% each, complete or incomplete.</a:t>
            </a:r>
            <a:endParaRPr lang="en-US" sz="1600" dirty="0"/>
          </a:p>
        </p:txBody>
      </p:sp>
      <p:sp>
        <p:nvSpPr>
          <p:cNvPr id="23" name="Text 21"/>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Task names match Canvas · 11:59 PM Central · plus an ungraded baseline reflection this week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552C"/>
        </a:solidFill>
      </p:bgPr>
    </p:bg>
    <p:spTree>
      <p:nvGrpSpPr>
        <p:cNvPr id="1" name=""/>
        <p:cNvGrpSpPr/>
        <p:nvPr/>
      </p:nvGrpSpPr>
      <p:grpSpPr>
        <a:xfrm>
          <a:off x="0" y="0"/>
          <a:ext cx="0" cy="0"/>
          <a:chOff x="0" y="0"/>
          <a:chExt cx="0" cy="0"/>
        </a:xfrm>
      </p:grpSpPr>
      <p:sp>
        <p:nvSpPr>
          <p:cNvPr id="2" name="Text 0"/>
          <p:cNvSpPr txBox="1"/>
          <p:nvPr/>
        </p:nvSpPr>
        <p:spPr>
          <a:xfrm>
            <a:off x="812800" y="2159000"/>
            <a:ext cx="4922339" cy="2565400"/>
          </a:xfrm>
          <a:prstGeom prst="rect">
            <a:avLst/>
          </a:prstGeom>
          <a:noFill/>
          <a:ln/>
        </p:spPr>
        <p:txBody>
          <a:bodyPr wrap="square" lIns="0" tIns="0" rIns="0" bIns="0" rtlCol="0" anchor="t"/>
          <a:lstStyle/>
          <a:p>
            <a:pPr algn="l" indent="0" marL="0">
              <a:lnSpc>
                <a:spcPts val="20000"/>
              </a:lnSpc>
              <a:buNone/>
            </a:pPr>
            <a:r>
              <a:rPr lang="en-US" sz="20000" b="1" spc="-800" kern="0" dirty="0">
                <a:solidFill>
                  <a:srgbClr val="15161D"/>
                </a:solidFill>
                <a:latin typeface="Arial" pitchFamily="34" charset="0"/>
                <a:ea typeface="Arial" pitchFamily="34" charset="-122"/>
                <a:cs typeface="Arial" pitchFamily="34" charset="-120"/>
              </a:rPr>
              <a:t>40%</a:t>
            </a:r>
            <a:endParaRPr lang="en-US" sz="20000" dirty="0"/>
          </a:p>
        </p:txBody>
      </p:sp>
      <p:sp>
        <p:nvSpPr>
          <p:cNvPr id="3" name="Text 1"/>
          <p:cNvSpPr txBox="1"/>
          <p:nvPr/>
        </p:nvSpPr>
        <p:spPr>
          <a:xfrm>
            <a:off x="6201370" y="1958578"/>
            <a:ext cx="5333165"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15161D"/>
                </a:solidFill>
                <a:latin typeface="Arial" pitchFamily="34" charset="0"/>
                <a:ea typeface="Arial" pitchFamily="34" charset="-122"/>
                <a:cs typeface="Arial" pitchFamily="34" charset="-120"/>
              </a:rPr>
              <a:t>TASK 7 · FINAL REVIEW OR COURSE OUTLINE</a:t>
            </a:r>
            <a:endParaRPr lang="en-US" sz="1200" dirty="0"/>
          </a:p>
        </p:txBody>
      </p:sp>
      <p:sp>
        <p:nvSpPr>
          <p:cNvPr id="4" name="Text 2"/>
          <p:cNvSpPr txBox="1"/>
          <p:nvPr/>
        </p:nvSpPr>
        <p:spPr>
          <a:xfrm>
            <a:off x="6201370" y="2288778"/>
            <a:ext cx="5333165"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Tuesday 15 December, 11:59 PM Central</a:t>
            </a:r>
            <a:endParaRPr lang="en-US" sz="3600" dirty="0"/>
          </a:p>
        </p:txBody>
      </p:sp>
      <p:sp>
        <p:nvSpPr>
          <p:cNvPr id="5" name="Text 3"/>
          <p:cNvSpPr txBox="1"/>
          <p:nvPr/>
        </p:nvSpPr>
        <p:spPr>
          <a:xfrm>
            <a:off x="6201370" y="3446859"/>
            <a:ext cx="5333165" cy="1477963"/>
          </a:xfrm>
          <a:prstGeom prst="rect">
            <a:avLst/>
          </a:prstGeom>
          <a:noFill/>
          <a:ln/>
        </p:spPr>
        <p:txBody>
          <a:bodyPr wrap="square" lIns="0" tIns="0" rIns="0" bIns="0" rtlCol="0" anchor="t"/>
          <a:lstStyle/>
          <a:p>
            <a:pPr algn="l" indent="0" marL="0">
              <a:lnSpc>
                <a:spcPts val="2860"/>
              </a:lnSpc>
              <a:buNone/>
            </a:pPr>
            <a:r>
              <a:rPr lang="en-US" sz="2200" dirty="0">
                <a:solidFill>
                  <a:srgbClr val="15161D"/>
                </a:solidFill>
                <a:latin typeface="Cambria" pitchFamily="34" charset="0"/>
                <a:ea typeface="Cambria" pitchFamily="34" charset="-122"/>
                <a:cs typeface="Cambria" pitchFamily="34" charset="-120"/>
              </a:rPr>
              <a:t>A literature review, or a course outline for teaching how to write one. 1,500–2,000 words, with an AI-use statement and a short revision memo.</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ASSESSMENT CRITERIA</a:t>
            </a:r>
            <a:endParaRPr lang="en-US" sz="1200" dirty="0"/>
          </a:p>
        </p:txBody>
      </p:sp>
      <p:sp>
        <p:nvSpPr>
          <p:cNvPr id="3" name="Text 1"/>
          <p:cNvSpPr txBox="1"/>
          <p:nvPr/>
        </p:nvSpPr>
        <p:spPr>
          <a:xfrm>
            <a:off x="812800" y="12954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What we’re looking for, every task</a:t>
            </a:r>
            <a:endParaRPr lang="en-US" sz="3600" dirty="0"/>
          </a:p>
        </p:txBody>
      </p:sp>
      <p:sp>
        <p:nvSpPr>
          <p:cNvPr id="4" name="Text 2"/>
          <p:cNvSpPr txBox="1"/>
          <p:nvPr/>
        </p:nvSpPr>
        <p:spPr>
          <a:xfrm>
            <a:off x="812800" y="2413000"/>
            <a:ext cx="320178" cy="342900"/>
          </a:xfrm>
          <a:prstGeom prst="rect">
            <a:avLst/>
          </a:prstGeom>
          <a:noFill/>
          <a:ln/>
        </p:spPr>
        <p:txBody>
          <a:bodyPr wrap="square" lIns="0" tIns="0" rIns="0" bIns="0" rtlCol="0" anchor="t"/>
          <a:lstStyle/>
          <a:p>
            <a:pPr algn="l" indent="0" marL="0">
              <a:lnSpc>
                <a:spcPts val="2640"/>
              </a:lnSpc>
              <a:buNone/>
            </a:pPr>
            <a:r>
              <a:rPr lang="en-US" sz="2200" b="1" dirty="0">
                <a:solidFill>
                  <a:srgbClr val="B83A16"/>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276052" y="2463800"/>
            <a:ext cx="3608108" cy="299641"/>
          </a:xfrm>
          <a:prstGeom prst="rect">
            <a:avLst/>
          </a:prstGeom>
          <a:noFill/>
          <a:ln/>
        </p:spPr>
        <p:txBody>
          <a:bodyPr wrap="square" lIns="0" tIns="0" rIns="0" bIns="0" rtlCol="0" anchor="t"/>
          <a:lstStyle/>
          <a:p>
            <a:pPr algn="l" indent="0" marL="0">
              <a:lnSpc>
                <a:spcPts val="2160"/>
              </a:lnSpc>
              <a:buNone/>
            </a:pPr>
            <a:r>
              <a:rPr lang="en-US" sz="1600" dirty="0">
                <a:solidFill>
                  <a:srgbClr val="15161D"/>
                </a:solidFill>
                <a:latin typeface="Cambria" pitchFamily="34" charset="0"/>
                <a:ea typeface="Cambria" pitchFamily="34" charset="-122"/>
                <a:cs typeface="Cambria" pitchFamily="34" charset="-120"/>
              </a:rPr>
              <a:t>Significance and feasibility of the question</a:t>
            </a:r>
            <a:endParaRPr lang="en-US" sz="1600" dirty="0"/>
          </a:p>
        </p:txBody>
      </p:sp>
      <p:sp>
        <p:nvSpPr>
          <p:cNvPr id="6" name="Text 4"/>
          <p:cNvSpPr txBox="1"/>
          <p:nvPr/>
        </p:nvSpPr>
        <p:spPr>
          <a:xfrm>
            <a:off x="6299200" y="2413000"/>
            <a:ext cx="320178" cy="342900"/>
          </a:xfrm>
          <a:prstGeom prst="rect">
            <a:avLst/>
          </a:prstGeom>
          <a:noFill/>
          <a:ln/>
        </p:spPr>
        <p:txBody>
          <a:bodyPr wrap="square" lIns="0" tIns="0" rIns="0" bIns="0" rtlCol="0" anchor="t"/>
          <a:lstStyle/>
          <a:p>
            <a:pPr algn="l" indent="0" marL="0">
              <a:lnSpc>
                <a:spcPts val="2640"/>
              </a:lnSpc>
              <a:buNone/>
            </a:pPr>
            <a:r>
              <a:rPr lang="en-US" sz="2200" b="1" dirty="0">
                <a:solidFill>
                  <a:srgbClr val="B83A16"/>
                </a:solidFill>
                <a:latin typeface="Arial" pitchFamily="34" charset="0"/>
                <a:ea typeface="Arial" pitchFamily="34" charset="-122"/>
                <a:cs typeface="Arial" pitchFamily="34" charset="-120"/>
              </a:rPr>
              <a:t>02</a:t>
            </a:r>
            <a:endParaRPr lang="en-US" sz="2200" dirty="0"/>
          </a:p>
        </p:txBody>
      </p:sp>
      <p:sp>
        <p:nvSpPr>
          <p:cNvPr id="7" name="Text 5"/>
          <p:cNvSpPr txBox="1"/>
          <p:nvPr/>
        </p:nvSpPr>
        <p:spPr>
          <a:xfrm>
            <a:off x="6762452" y="2463800"/>
            <a:ext cx="3141382" cy="299641"/>
          </a:xfrm>
          <a:prstGeom prst="rect">
            <a:avLst/>
          </a:prstGeom>
          <a:noFill/>
          <a:ln/>
        </p:spPr>
        <p:txBody>
          <a:bodyPr wrap="square" lIns="0" tIns="0" rIns="0" bIns="0" rtlCol="0" anchor="t"/>
          <a:lstStyle/>
          <a:p>
            <a:pPr algn="l" indent="0" marL="0">
              <a:lnSpc>
                <a:spcPts val="2160"/>
              </a:lnSpc>
              <a:buNone/>
            </a:pPr>
            <a:r>
              <a:rPr lang="en-US" sz="1600" dirty="0">
                <a:solidFill>
                  <a:srgbClr val="15161D"/>
                </a:solidFill>
                <a:latin typeface="Cambria" pitchFamily="34" charset="0"/>
                <a:ea typeface="Cambria" pitchFamily="34" charset="-122"/>
                <a:cs typeface="Cambria" pitchFamily="34" charset="-120"/>
              </a:rPr>
              <a:t>Relevance and traceability of sources</a:t>
            </a:r>
            <a:endParaRPr lang="en-US" sz="1600" dirty="0"/>
          </a:p>
        </p:txBody>
      </p:sp>
      <p:sp>
        <p:nvSpPr>
          <p:cNvPr id="8" name="Text 6"/>
          <p:cNvSpPr txBox="1"/>
          <p:nvPr/>
        </p:nvSpPr>
        <p:spPr>
          <a:xfrm>
            <a:off x="812800" y="3365500"/>
            <a:ext cx="320178" cy="342900"/>
          </a:xfrm>
          <a:prstGeom prst="rect">
            <a:avLst/>
          </a:prstGeom>
          <a:noFill/>
          <a:ln/>
        </p:spPr>
        <p:txBody>
          <a:bodyPr wrap="square" lIns="0" tIns="0" rIns="0" bIns="0" rtlCol="0" anchor="t"/>
          <a:lstStyle/>
          <a:p>
            <a:pPr algn="l" indent="0" marL="0">
              <a:lnSpc>
                <a:spcPts val="2640"/>
              </a:lnSpc>
              <a:buNone/>
            </a:pPr>
            <a:r>
              <a:rPr lang="en-US" sz="2200" b="1" dirty="0">
                <a:solidFill>
                  <a:srgbClr val="B83A16"/>
                </a:solidFill>
                <a:latin typeface="Arial" pitchFamily="34" charset="0"/>
                <a:ea typeface="Arial" pitchFamily="34" charset="-122"/>
                <a:cs typeface="Arial" pitchFamily="34" charset="-120"/>
              </a:rPr>
              <a:t>03</a:t>
            </a:r>
            <a:endParaRPr lang="en-US" sz="2200" dirty="0"/>
          </a:p>
        </p:txBody>
      </p:sp>
      <p:sp>
        <p:nvSpPr>
          <p:cNvPr id="9" name="Text 7"/>
          <p:cNvSpPr txBox="1"/>
          <p:nvPr/>
        </p:nvSpPr>
        <p:spPr>
          <a:xfrm>
            <a:off x="1276052" y="3416300"/>
            <a:ext cx="3298967" cy="299641"/>
          </a:xfrm>
          <a:prstGeom prst="rect">
            <a:avLst/>
          </a:prstGeom>
          <a:noFill/>
          <a:ln/>
        </p:spPr>
        <p:txBody>
          <a:bodyPr wrap="square" lIns="0" tIns="0" rIns="0" bIns="0" rtlCol="0" anchor="t"/>
          <a:lstStyle/>
          <a:p>
            <a:pPr algn="l" indent="0" marL="0">
              <a:lnSpc>
                <a:spcPts val="2160"/>
              </a:lnSpc>
              <a:buNone/>
            </a:pPr>
            <a:r>
              <a:rPr lang="en-US" sz="1600" dirty="0">
                <a:solidFill>
                  <a:srgbClr val="15161D"/>
                </a:solidFill>
                <a:latin typeface="Cambria" pitchFamily="34" charset="0"/>
                <a:ea typeface="Cambria" pitchFamily="34" charset="-122"/>
                <a:cs typeface="Cambria" pitchFamily="34" charset="-120"/>
              </a:rPr>
              <a:t>Quality of interpretation and synthesis</a:t>
            </a:r>
            <a:endParaRPr lang="en-US" sz="1600" dirty="0"/>
          </a:p>
        </p:txBody>
      </p:sp>
      <p:sp>
        <p:nvSpPr>
          <p:cNvPr id="10" name="Text 8"/>
          <p:cNvSpPr txBox="1"/>
          <p:nvPr/>
        </p:nvSpPr>
        <p:spPr>
          <a:xfrm>
            <a:off x="6299200" y="3365500"/>
            <a:ext cx="320178" cy="342900"/>
          </a:xfrm>
          <a:prstGeom prst="rect">
            <a:avLst/>
          </a:prstGeom>
          <a:noFill/>
          <a:ln/>
        </p:spPr>
        <p:txBody>
          <a:bodyPr wrap="square" lIns="0" tIns="0" rIns="0" bIns="0" rtlCol="0" anchor="t"/>
          <a:lstStyle/>
          <a:p>
            <a:pPr algn="l" indent="0" marL="0">
              <a:lnSpc>
                <a:spcPts val="2640"/>
              </a:lnSpc>
              <a:buNone/>
            </a:pPr>
            <a:r>
              <a:rPr lang="en-US" sz="2200" b="1" dirty="0">
                <a:solidFill>
                  <a:srgbClr val="B83A16"/>
                </a:solidFill>
                <a:latin typeface="Arial" pitchFamily="34" charset="0"/>
                <a:ea typeface="Arial" pitchFamily="34" charset="-122"/>
                <a:cs typeface="Arial" pitchFamily="34" charset="-120"/>
              </a:rPr>
              <a:t>04</a:t>
            </a:r>
            <a:endParaRPr lang="en-US" sz="2200" dirty="0"/>
          </a:p>
        </p:txBody>
      </p:sp>
      <p:sp>
        <p:nvSpPr>
          <p:cNvPr id="11" name="Text 9"/>
          <p:cNvSpPr txBox="1"/>
          <p:nvPr/>
        </p:nvSpPr>
        <p:spPr>
          <a:xfrm>
            <a:off x="6762452" y="3416300"/>
            <a:ext cx="4004523" cy="299641"/>
          </a:xfrm>
          <a:prstGeom prst="rect">
            <a:avLst/>
          </a:prstGeom>
          <a:noFill/>
          <a:ln/>
        </p:spPr>
        <p:txBody>
          <a:bodyPr wrap="square" lIns="0" tIns="0" rIns="0" bIns="0" rtlCol="0" anchor="t"/>
          <a:lstStyle/>
          <a:p>
            <a:pPr algn="l" indent="0" marL="0">
              <a:lnSpc>
                <a:spcPts val="2160"/>
              </a:lnSpc>
              <a:buNone/>
            </a:pPr>
            <a:r>
              <a:rPr lang="en-US" sz="1600" dirty="0">
                <a:solidFill>
                  <a:srgbClr val="15161D"/>
                </a:solidFill>
                <a:latin typeface="Cambria" pitchFamily="34" charset="0"/>
                <a:ea typeface="Cambria" pitchFamily="34" charset="-122"/>
                <a:cs typeface="Cambria" pitchFamily="34" charset="-120"/>
              </a:rPr>
              <a:t>Clear organization, framing and scholarly voice</a:t>
            </a:r>
            <a:endParaRPr lang="en-US" sz="1600" dirty="0"/>
          </a:p>
        </p:txBody>
      </p:sp>
      <p:sp>
        <p:nvSpPr>
          <p:cNvPr id="12" name="Text 10"/>
          <p:cNvSpPr txBox="1"/>
          <p:nvPr/>
        </p:nvSpPr>
        <p:spPr>
          <a:xfrm>
            <a:off x="812800" y="4318000"/>
            <a:ext cx="320178" cy="342900"/>
          </a:xfrm>
          <a:prstGeom prst="rect">
            <a:avLst/>
          </a:prstGeom>
          <a:noFill/>
          <a:ln/>
        </p:spPr>
        <p:txBody>
          <a:bodyPr wrap="square" lIns="0" tIns="0" rIns="0" bIns="0" rtlCol="0" anchor="t"/>
          <a:lstStyle/>
          <a:p>
            <a:pPr algn="l" indent="0" marL="0">
              <a:lnSpc>
                <a:spcPts val="2640"/>
              </a:lnSpc>
              <a:buNone/>
            </a:pPr>
            <a:r>
              <a:rPr lang="en-US" sz="2200" b="1" dirty="0">
                <a:solidFill>
                  <a:srgbClr val="B83A16"/>
                </a:solidFill>
                <a:latin typeface="Arial" pitchFamily="34" charset="0"/>
                <a:ea typeface="Arial" pitchFamily="34" charset="-122"/>
                <a:cs typeface="Arial" pitchFamily="34" charset="-120"/>
              </a:rPr>
              <a:t>05</a:t>
            </a:r>
            <a:endParaRPr lang="en-US" sz="2200" dirty="0"/>
          </a:p>
        </p:txBody>
      </p:sp>
      <p:sp>
        <p:nvSpPr>
          <p:cNvPr id="13" name="Text 11"/>
          <p:cNvSpPr txBox="1"/>
          <p:nvPr/>
        </p:nvSpPr>
        <p:spPr>
          <a:xfrm>
            <a:off x="1276052" y="4368800"/>
            <a:ext cx="3972332" cy="299641"/>
          </a:xfrm>
          <a:prstGeom prst="rect">
            <a:avLst/>
          </a:prstGeom>
          <a:noFill/>
          <a:ln/>
        </p:spPr>
        <p:txBody>
          <a:bodyPr wrap="square" lIns="0" tIns="0" rIns="0" bIns="0" rtlCol="0" anchor="t"/>
          <a:lstStyle/>
          <a:p>
            <a:pPr algn="l" indent="0" marL="0">
              <a:lnSpc>
                <a:spcPts val="2160"/>
              </a:lnSpc>
              <a:buNone/>
            </a:pPr>
            <a:r>
              <a:rPr lang="en-US" sz="1600" dirty="0">
                <a:solidFill>
                  <a:srgbClr val="15161D"/>
                </a:solidFill>
                <a:latin typeface="Cambria" pitchFamily="34" charset="0"/>
                <a:ea typeface="Cambria" pitchFamily="34" charset="-122"/>
                <a:cs typeface="Cambria" pitchFamily="34" charset="-120"/>
              </a:rPr>
              <a:t>Reflexivity and responsible, transparent AI use</a:t>
            </a:r>
            <a:endParaRPr lang="en-US" sz="1600" dirty="0"/>
          </a:p>
        </p:txBody>
      </p:sp>
      <p:sp>
        <p:nvSpPr>
          <p:cNvPr id="14" name="Text 12"/>
          <p:cNvSpPr txBox="1"/>
          <p:nvPr/>
        </p:nvSpPr>
        <p:spPr>
          <a:xfrm>
            <a:off x="6299200" y="4318000"/>
            <a:ext cx="320178" cy="342900"/>
          </a:xfrm>
          <a:prstGeom prst="rect">
            <a:avLst/>
          </a:prstGeom>
          <a:noFill/>
          <a:ln/>
        </p:spPr>
        <p:txBody>
          <a:bodyPr wrap="square" lIns="0" tIns="0" rIns="0" bIns="0" rtlCol="0" anchor="t"/>
          <a:lstStyle/>
          <a:p>
            <a:pPr algn="l" indent="0" marL="0">
              <a:lnSpc>
                <a:spcPts val="2640"/>
              </a:lnSpc>
              <a:buNone/>
            </a:pPr>
            <a:r>
              <a:rPr lang="en-US" sz="2200" b="1" dirty="0">
                <a:solidFill>
                  <a:srgbClr val="B83A16"/>
                </a:solidFill>
                <a:latin typeface="Arial" pitchFamily="34" charset="0"/>
                <a:ea typeface="Arial" pitchFamily="34" charset="-122"/>
                <a:cs typeface="Arial" pitchFamily="34" charset="-120"/>
              </a:rPr>
              <a:t>06</a:t>
            </a:r>
            <a:endParaRPr lang="en-US" sz="2200" dirty="0"/>
          </a:p>
        </p:txBody>
      </p:sp>
      <p:sp>
        <p:nvSpPr>
          <p:cNvPr id="15" name="Text 13"/>
          <p:cNvSpPr txBox="1"/>
          <p:nvPr/>
        </p:nvSpPr>
        <p:spPr>
          <a:xfrm>
            <a:off x="6762452" y="4368800"/>
            <a:ext cx="3501825" cy="299641"/>
          </a:xfrm>
          <a:prstGeom prst="rect">
            <a:avLst/>
          </a:prstGeom>
          <a:noFill/>
          <a:ln/>
        </p:spPr>
        <p:txBody>
          <a:bodyPr wrap="square" lIns="0" tIns="0" rIns="0" bIns="0" rtlCol="0" anchor="t"/>
          <a:lstStyle/>
          <a:p>
            <a:pPr algn="l" indent="0" marL="0">
              <a:lnSpc>
                <a:spcPts val="2160"/>
              </a:lnSpc>
              <a:buNone/>
            </a:pPr>
            <a:r>
              <a:rPr lang="en-US" sz="1600" dirty="0">
                <a:solidFill>
                  <a:srgbClr val="15161D"/>
                </a:solidFill>
                <a:latin typeface="Cambria" pitchFamily="34" charset="0"/>
                <a:ea typeface="Cambria" pitchFamily="34" charset="-122"/>
                <a:cs typeface="Cambria" pitchFamily="34" charset="-120"/>
              </a:rPr>
              <a:t>Responsiveness to evidence and feedback</a:t>
            </a:r>
            <a:endParaRPr lang="en-US" sz="1600" dirty="0"/>
          </a:p>
        </p:txBody>
      </p:sp>
      <p:sp>
        <p:nvSpPr>
          <p:cNvPr id="16" name="Text 14"/>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From the syllabus · Task-specific rubrics on Canvas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1D3"/>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APPROACH</a:t>
            </a:r>
            <a:endParaRPr lang="en-US" sz="1200" dirty="0"/>
          </a:p>
        </p:txBody>
      </p:sp>
      <p:sp>
        <p:nvSpPr>
          <p:cNvPr id="3" name="Text 1"/>
          <p:cNvSpPr txBox="1"/>
          <p:nvPr/>
        </p:nvSpPr>
        <p:spPr>
          <a:xfrm>
            <a:off x="812800" y="1295400"/>
            <a:ext cx="10883392"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Course Perspective: AI ought to stretch your review</a:t>
            </a:r>
            <a:endParaRPr lang="en-US" sz="3600" dirty="0"/>
          </a:p>
        </p:txBody>
      </p:sp>
      <p:sp>
        <p:nvSpPr>
          <p:cNvPr id="4" name="Shape 2"/>
          <p:cNvSpPr/>
          <p:nvPr/>
        </p:nvSpPr>
        <p:spPr>
          <a:xfrm>
            <a:off x="812800" y="3067050"/>
            <a:ext cx="5080000" cy="0"/>
          </a:xfrm>
          <a:prstGeom prst="line">
            <a:avLst/>
          </a:prstGeom>
          <a:noFill/>
          <a:ln w="38100">
            <a:solidFill>
              <a:srgbClr val="F2552C"/>
            </a:solidFill>
            <a:prstDash val="solid"/>
          </a:ln>
        </p:spPr>
      </p:sp>
      <p:sp>
        <p:nvSpPr>
          <p:cNvPr id="5" name="Text 3"/>
          <p:cNvSpPr txBox="1"/>
          <p:nvPr/>
        </p:nvSpPr>
        <p:spPr>
          <a:xfrm>
            <a:off x="812800" y="3289300"/>
            <a:ext cx="5232400" cy="360660"/>
          </a:xfrm>
          <a:prstGeom prst="rect">
            <a:avLst/>
          </a:prstGeom>
          <a:noFill/>
          <a:ln/>
        </p:spPr>
        <p:txBody>
          <a:bodyPr wrap="square" lIns="0" tIns="0" rIns="0" bIns="0" rtlCol="0" anchor="t"/>
          <a:lstStyle/>
          <a:p>
            <a:pPr algn="l" indent="0" marL="0">
              <a:lnSpc>
                <a:spcPts val="2640"/>
              </a:lnSpc>
              <a:buNone/>
            </a:pPr>
            <a:r>
              <a:rPr lang="en-US" sz="2200" b="1" dirty="0">
                <a:solidFill>
                  <a:srgbClr val="15161D"/>
                </a:solidFill>
                <a:latin typeface="Arial" pitchFamily="34" charset="0"/>
                <a:ea typeface="Arial" pitchFamily="34" charset="-122"/>
                <a:cs typeface="Arial" pitchFamily="34" charset="-120"/>
              </a:rPr>
              <a:t>Sketch, then revise</a:t>
            </a:r>
            <a:endParaRPr lang="en-US" sz="2200" dirty="0"/>
          </a:p>
        </p:txBody>
      </p:sp>
      <p:sp>
        <p:nvSpPr>
          <p:cNvPr id="6" name="Text 4"/>
          <p:cNvSpPr txBox="1"/>
          <p:nvPr/>
        </p:nvSpPr>
        <p:spPr>
          <a:xfrm>
            <a:off x="812800" y="3776960"/>
            <a:ext cx="5232400" cy="1203722"/>
          </a:xfrm>
          <a:prstGeom prst="rect">
            <a:avLst/>
          </a:prstGeom>
          <a:noFill/>
          <a:ln/>
        </p:spPr>
        <p:txBody>
          <a:bodyPr wrap="square" lIns="0" tIns="0" rIns="0" bIns="0" rtlCol="0" anchor="t"/>
          <a:lstStyle/>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Quick sketches of a literature review, with AI and its caveats</a:t>
            </a:r>
            <a:endParaRPr lang="en-US" sz="1600" dirty="0"/>
          </a:p>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Build intuitions for reviewing and writing up fast</a:t>
            </a:r>
            <a:endParaRPr lang="en-US" sz="1600" dirty="0"/>
          </a:p>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Peer review turns a lonely pursuit into a social one</a:t>
            </a:r>
            <a:endParaRPr lang="en-US" sz="1600" dirty="0"/>
          </a:p>
        </p:txBody>
      </p:sp>
      <p:sp>
        <p:nvSpPr>
          <p:cNvPr id="7" name="Shape 5"/>
          <p:cNvSpPr/>
          <p:nvPr/>
        </p:nvSpPr>
        <p:spPr>
          <a:xfrm>
            <a:off x="6299200" y="3067050"/>
            <a:ext cx="5080000" cy="0"/>
          </a:xfrm>
          <a:prstGeom prst="line">
            <a:avLst/>
          </a:prstGeom>
          <a:noFill/>
          <a:ln w="38100">
            <a:solidFill>
              <a:srgbClr val="2F4FA8"/>
            </a:solidFill>
            <a:prstDash val="solid"/>
          </a:ln>
        </p:spPr>
      </p:sp>
      <p:sp>
        <p:nvSpPr>
          <p:cNvPr id="8" name="Text 6"/>
          <p:cNvSpPr txBox="1"/>
          <p:nvPr/>
        </p:nvSpPr>
        <p:spPr>
          <a:xfrm>
            <a:off x="6299200" y="3289300"/>
            <a:ext cx="5232400" cy="360660"/>
          </a:xfrm>
          <a:prstGeom prst="rect">
            <a:avLst/>
          </a:prstGeom>
          <a:noFill/>
          <a:ln/>
        </p:spPr>
        <p:txBody>
          <a:bodyPr wrap="square" lIns="0" tIns="0" rIns="0" bIns="0" rtlCol="0" anchor="t"/>
          <a:lstStyle/>
          <a:p>
            <a:pPr algn="l" indent="0" marL="0">
              <a:lnSpc>
                <a:spcPts val="2640"/>
              </a:lnSpc>
              <a:buNone/>
            </a:pPr>
            <a:r>
              <a:rPr lang="en-US" sz="2200" b="1" dirty="0">
                <a:solidFill>
                  <a:srgbClr val="15161D"/>
                </a:solidFill>
                <a:latin typeface="Arial" pitchFamily="34" charset="0"/>
                <a:ea typeface="Arial" pitchFamily="34" charset="-122"/>
                <a:cs typeface="Arial" pitchFamily="34" charset="-120"/>
              </a:rPr>
              <a:t>A critical lens on AI</a:t>
            </a:r>
            <a:endParaRPr lang="en-US" sz="2200" dirty="0"/>
          </a:p>
        </p:txBody>
      </p:sp>
      <p:sp>
        <p:nvSpPr>
          <p:cNvPr id="9" name="Text 7"/>
          <p:cNvSpPr txBox="1"/>
          <p:nvPr/>
        </p:nvSpPr>
        <p:spPr>
          <a:xfrm>
            <a:off x="6299200" y="3776960"/>
            <a:ext cx="5232400" cy="1498302"/>
          </a:xfrm>
          <a:prstGeom prst="rect">
            <a:avLst/>
          </a:prstGeom>
          <a:noFill/>
          <a:ln/>
        </p:spPr>
        <p:txBody>
          <a:bodyPr wrap="square" lIns="0" tIns="0" rIns="0" bIns="0" rtlCol="0" anchor="t"/>
          <a:lstStyle/>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Knowledge has always been technical: paper, press, media, the internet</a:t>
            </a:r>
            <a:endParaRPr lang="en-US" sz="1600" dirty="0"/>
          </a:p>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Ask how outputs were made and whose knowledge they privilege</a:t>
            </a:r>
            <a:endParaRPr lang="en-US" sz="1600" dirty="0"/>
          </a:p>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Technology should make us work harder, not easier</a:t>
            </a:r>
            <a:endParaRPr lang="en-US" sz="1600" dirty="0"/>
          </a:p>
        </p:txBody>
      </p:sp>
      <p:sp>
        <p:nvSpPr>
          <p:cNvPr id="10" name="Text 8"/>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EPOL 590 · Lecture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61D"/>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FF7A50"/>
                </a:solidFill>
                <a:latin typeface="Arial" pitchFamily="34" charset="0"/>
                <a:ea typeface="Arial" pitchFamily="34" charset="-122"/>
                <a:cs typeface="Arial" pitchFamily="34" charset="-120"/>
              </a:rPr>
              <a:t>FORMAT</a:t>
            </a:r>
            <a:endParaRPr lang="en-US" sz="1200" dirty="0"/>
          </a:p>
        </p:txBody>
      </p:sp>
      <p:sp>
        <p:nvSpPr>
          <p:cNvPr id="3" name="Text 1"/>
          <p:cNvSpPr txBox="1"/>
          <p:nvPr/>
        </p:nvSpPr>
        <p:spPr>
          <a:xfrm>
            <a:off x="812800" y="13462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F3EEE4"/>
                </a:solidFill>
                <a:latin typeface="Arial" pitchFamily="34" charset="0"/>
                <a:ea typeface="Arial" pitchFamily="34" charset="-122"/>
                <a:cs typeface="Arial" pitchFamily="34" charset="-120"/>
              </a:rPr>
              <a:t>How a Monday runs</a:t>
            </a:r>
            <a:endParaRPr lang="en-US" sz="3600" dirty="0"/>
          </a:p>
        </p:txBody>
      </p:sp>
      <p:sp>
        <p:nvSpPr>
          <p:cNvPr id="4" name="Text 2"/>
          <p:cNvSpPr txBox="1"/>
          <p:nvPr/>
        </p:nvSpPr>
        <p:spPr>
          <a:xfrm>
            <a:off x="812800" y="2413000"/>
            <a:ext cx="3401060" cy="787400"/>
          </a:xfrm>
          <a:prstGeom prst="rect">
            <a:avLst/>
          </a:prstGeom>
          <a:noFill/>
          <a:ln/>
        </p:spPr>
        <p:txBody>
          <a:bodyPr wrap="square" lIns="0" tIns="0" rIns="0" bIns="0" rtlCol="0" anchor="t"/>
          <a:lstStyle/>
          <a:p>
            <a:pPr algn="l" indent="0" marL="0">
              <a:lnSpc>
                <a:spcPts val="6000"/>
              </a:lnSpc>
              <a:buNone/>
            </a:pPr>
            <a:r>
              <a:rPr lang="en-US" sz="6000" b="1" dirty="0">
                <a:solidFill>
                  <a:srgbClr val="FF7A50"/>
                </a:solidFill>
                <a:latin typeface="Arial" pitchFamily="34" charset="0"/>
                <a:ea typeface="Arial" pitchFamily="34" charset="-122"/>
                <a:cs typeface="Arial" pitchFamily="34" charset="-120"/>
              </a:rPr>
              <a:t>3 h</a:t>
            </a:r>
            <a:endParaRPr lang="en-US" sz="6000" dirty="0"/>
          </a:p>
        </p:txBody>
      </p:sp>
      <p:sp>
        <p:nvSpPr>
          <p:cNvPr id="5" name="Text 3"/>
          <p:cNvSpPr txBox="1"/>
          <p:nvPr/>
        </p:nvSpPr>
        <p:spPr>
          <a:xfrm>
            <a:off x="812800" y="3251200"/>
            <a:ext cx="3401060" cy="594320"/>
          </a:xfrm>
          <a:prstGeom prst="rect">
            <a:avLst/>
          </a:prstGeom>
          <a:noFill/>
          <a:ln/>
        </p:spPr>
        <p:txBody>
          <a:bodyPr wrap="square" lIns="0" tIns="0" rIns="0" bIns="0" rtlCol="0" anchor="t"/>
          <a:lstStyle/>
          <a:p>
            <a:pPr algn="l" indent="0" marL="0">
              <a:lnSpc>
                <a:spcPts val="2240"/>
              </a:lnSpc>
              <a:buNone/>
            </a:pPr>
            <a:r>
              <a:rPr lang="en-US" sz="1600" dirty="0">
                <a:solidFill>
                  <a:srgbClr val="C9C4B8"/>
                </a:solidFill>
                <a:latin typeface="Cambria" pitchFamily="34" charset="0"/>
                <a:ea typeface="Cambria" pitchFamily="34" charset="-122"/>
                <a:cs typeface="Cambria" pitchFamily="34" charset="-120"/>
              </a:rPr>
              <a:t>Used flexibly: mini-lectures, discussion, group work and AI exercises</a:t>
            </a:r>
            <a:endParaRPr lang="en-US" sz="1600" dirty="0"/>
          </a:p>
        </p:txBody>
      </p:sp>
      <p:sp>
        <p:nvSpPr>
          <p:cNvPr id="6" name="Text 4"/>
          <p:cNvSpPr txBox="1"/>
          <p:nvPr/>
        </p:nvSpPr>
        <p:spPr>
          <a:xfrm>
            <a:off x="4445000" y="2413000"/>
            <a:ext cx="3401060" cy="787400"/>
          </a:xfrm>
          <a:prstGeom prst="rect">
            <a:avLst/>
          </a:prstGeom>
          <a:noFill/>
          <a:ln/>
        </p:spPr>
        <p:txBody>
          <a:bodyPr wrap="square" lIns="0" tIns="0" rIns="0" bIns="0" rtlCol="0" anchor="t"/>
          <a:lstStyle/>
          <a:p>
            <a:pPr algn="l" indent="0" marL="0">
              <a:lnSpc>
                <a:spcPts val="6000"/>
              </a:lnSpc>
              <a:buNone/>
            </a:pPr>
            <a:r>
              <a:rPr lang="en-US" sz="6000" b="1" dirty="0">
                <a:solidFill>
                  <a:srgbClr val="7F9BE8"/>
                </a:solidFill>
                <a:latin typeface="Arial" pitchFamily="34" charset="0"/>
                <a:ea typeface="Arial" pitchFamily="34" charset="-122"/>
                <a:cs typeface="Arial" pitchFamily="34" charset="-120"/>
              </a:rPr>
              <a:t>2 × 10</a:t>
            </a:r>
            <a:endParaRPr lang="en-US" sz="6000" dirty="0"/>
          </a:p>
        </p:txBody>
      </p:sp>
      <p:sp>
        <p:nvSpPr>
          <p:cNvPr id="7" name="Text 5"/>
          <p:cNvSpPr txBox="1"/>
          <p:nvPr/>
        </p:nvSpPr>
        <p:spPr>
          <a:xfrm>
            <a:off x="4445000" y="3251200"/>
            <a:ext cx="3401060" cy="309860"/>
          </a:xfrm>
          <a:prstGeom prst="rect">
            <a:avLst/>
          </a:prstGeom>
          <a:noFill/>
          <a:ln/>
        </p:spPr>
        <p:txBody>
          <a:bodyPr wrap="square" lIns="0" tIns="0" rIns="0" bIns="0" rtlCol="0" anchor="t"/>
          <a:lstStyle/>
          <a:p>
            <a:pPr algn="l" indent="0" marL="0">
              <a:lnSpc>
                <a:spcPts val="2240"/>
              </a:lnSpc>
              <a:buNone/>
            </a:pPr>
            <a:r>
              <a:rPr lang="en-US" sz="1600" dirty="0">
                <a:solidFill>
                  <a:srgbClr val="C9C4B8"/>
                </a:solidFill>
                <a:latin typeface="Cambria" pitchFamily="34" charset="0"/>
                <a:ea typeface="Cambria" pitchFamily="34" charset="-122"/>
                <a:cs typeface="Cambria" pitchFamily="34" charset="-120"/>
              </a:rPr>
              <a:t>Minute breaks, on the hour</a:t>
            </a:r>
            <a:endParaRPr lang="en-US" sz="1600" dirty="0"/>
          </a:p>
        </p:txBody>
      </p:sp>
      <p:sp>
        <p:nvSpPr>
          <p:cNvPr id="8" name="Text 6"/>
          <p:cNvSpPr txBox="1"/>
          <p:nvPr/>
        </p:nvSpPr>
        <p:spPr>
          <a:xfrm>
            <a:off x="8077200" y="2413000"/>
            <a:ext cx="3401060" cy="787400"/>
          </a:xfrm>
          <a:prstGeom prst="rect">
            <a:avLst/>
          </a:prstGeom>
          <a:noFill/>
          <a:ln/>
        </p:spPr>
        <p:txBody>
          <a:bodyPr wrap="square" lIns="0" tIns="0" rIns="0" bIns="0" rtlCol="0" anchor="t"/>
          <a:lstStyle/>
          <a:p>
            <a:pPr algn="l" indent="0" marL="0">
              <a:lnSpc>
                <a:spcPts val="6000"/>
              </a:lnSpc>
              <a:buNone/>
            </a:pPr>
            <a:r>
              <a:rPr lang="en-US" sz="6000" b="1" dirty="0">
                <a:solidFill>
                  <a:srgbClr val="F3EEE4"/>
                </a:solidFill>
                <a:latin typeface="Arial" pitchFamily="34" charset="0"/>
                <a:ea typeface="Arial" pitchFamily="34" charset="-122"/>
                <a:cs typeface="Arial" pitchFamily="34" charset="-120"/>
              </a:rPr>
              <a:t>~20 h</a:t>
            </a:r>
            <a:endParaRPr lang="en-US" sz="6000" dirty="0"/>
          </a:p>
        </p:txBody>
      </p:sp>
      <p:sp>
        <p:nvSpPr>
          <p:cNvPr id="9" name="Text 7"/>
          <p:cNvSpPr txBox="1"/>
          <p:nvPr/>
        </p:nvSpPr>
        <p:spPr>
          <a:xfrm>
            <a:off x="8077200" y="3251200"/>
            <a:ext cx="3401060" cy="594320"/>
          </a:xfrm>
          <a:prstGeom prst="rect">
            <a:avLst/>
          </a:prstGeom>
          <a:noFill/>
          <a:ln/>
        </p:spPr>
        <p:txBody>
          <a:bodyPr wrap="square" lIns="0" tIns="0" rIns="0" bIns="0" rtlCol="0" anchor="t"/>
          <a:lstStyle/>
          <a:p>
            <a:pPr algn="l" indent="0" marL="0">
              <a:lnSpc>
                <a:spcPts val="2240"/>
              </a:lnSpc>
              <a:buNone/>
            </a:pPr>
            <a:r>
              <a:rPr lang="en-US" sz="1600" dirty="0">
                <a:solidFill>
                  <a:srgbClr val="C9C4B8"/>
                </a:solidFill>
                <a:latin typeface="Cambria" pitchFamily="34" charset="0"/>
                <a:ea typeface="Cambria" pitchFamily="34" charset="-122"/>
                <a:cs typeface="Cambria" pitchFamily="34" charset="-120"/>
              </a:rPr>
              <a:t>Per active week in total, including reading, searching and writing</a:t>
            </a:r>
            <a:endParaRPr lang="en-US" sz="1600" dirty="0"/>
          </a:p>
        </p:txBody>
      </p:sp>
      <p:sp>
        <p:nvSpPr>
          <p:cNvPr id="10" name="Text 8"/>
          <p:cNvSpPr txBox="1"/>
          <p:nvPr/>
        </p:nvSpPr>
        <p:spPr>
          <a:xfrm>
            <a:off x="812800" y="4572000"/>
            <a:ext cx="9810750" cy="594320"/>
          </a:xfrm>
          <a:prstGeom prst="rect">
            <a:avLst/>
          </a:prstGeom>
          <a:noFill/>
          <a:ln/>
        </p:spPr>
        <p:txBody>
          <a:bodyPr wrap="square" lIns="0" tIns="0" rIns="0" bIns="0" rtlCol="0" anchor="t"/>
          <a:lstStyle/>
          <a:p>
            <a:pPr algn="l" indent="0" marL="0">
              <a:lnSpc>
                <a:spcPts val="2240"/>
              </a:lnSpc>
              <a:buNone/>
            </a:pPr>
            <a:r>
              <a:rPr lang="en-US" sz="1600" dirty="0">
                <a:solidFill>
                  <a:srgbClr val="C9C4B8"/>
                </a:solidFill>
                <a:latin typeface="Cambria" pitchFamily="34" charset="0"/>
                <a:ea typeface="Cambria" pitchFamily="34" charset="-122"/>
                <a:cs typeface="Cambria" pitchFamily="34" charset="-120"/>
              </a:rPr>
              <a:t>Most of each week’s task starts in the room. Together we’ll build a lightweight notebook of good search, reading and review practices.</a:t>
            </a:r>
            <a:endParaRPr lang="en-US" sz="1600" dirty="0"/>
          </a:p>
        </p:txBody>
      </p:sp>
      <p:sp>
        <p:nvSpPr>
          <p:cNvPr id="11" name="Text 9"/>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9C978C"/>
                </a:solidFill>
                <a:latin typeface="Arial" pitchFamily="34" charset="0"/>
                <a:ea typeface="Arial" pitchFamily="34" charset="-122"/>
                <a:cs typeface="Arial" pitchFamily="34" charset="-120"/>
              </a:rPr>
              <a:t>EPOL 590 · Lecture 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61D"/>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FF7A50"/>
                </a:solidFill>
                <a:latin typeface="Arial" pitchFamily="34" charset="0"/>
                <a:ea typeface="Arial" pitchFamily="34" charset="-122"/>
                <a:cs typeface="Arial" pitchFamily="34" charset="-120"/>
              </a:rPr>
              <a:t>INTRODUCTIONS · ABOUT 90 SECONDS EACH</a:t>
            </a:r>
            <a:endParaRPr lang="en-US" sz="1200" dirty="0"/>
          </a:p>
        </p:txBody>
      </p:sp>
      <p:sp>
        <p:nvSpPr>
          <p:cNvPr id="3" name="Text 1"/>
          <p:cNvSpPr txBox="1"/>
          <p:nvPr/>
        </p:nvSpPr>
        <p:spPr>
          <a:xfrm>
            <a:off x="812800" y="12446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F3EEE4"/>
                </a:solidFill>
                <a:latin typeface="Arial" pitchFamily="34" charset="0"/>
                <a:ea typeface="Arial" pitchFamily="34" charset="-122"/>
                <a:cs typeface="Arial" pitchFamily="34" charset="-120"/>
              </a:rPr>
              <a:t>Who’s here?</a:t>
            </a:r>
            <a:endParaRPr lang="en-US" sz="3600" dirty="0"/>
          </a:p>
        </p:txBody>
      </p:sp>
      <p:sp>
        <p:nvSpPr>
          <p:cNvPr id="4" name="Text 2"/>
          <p:cNvSpPr txBox="1"/>
          <p:nvPr/>
        </p:nvSpPr>
        <p:spPr>
          <a:xfrm>
            <a:off x="812800" y="2095500"/>
            <a:ext cx="9810750" cy="355600"/>
          </a:xfrm>
          <a:prstGeom prst="rect">
            <a:avLst/>
          </a:prstGeom>
          <a:noFill/>
          <a:ln/>
        </p:spPr>
        <p:txBody>
          <a:bodyPr wrap="square" lIns="0" tIns="0" rIns="0" bIns="0" rtlCol="0" anchor="t"/>
          <a:lstStyle/>
          <a:p>
            <a:pPr algn="l" indent="0" marL="0">
              <a:lnSpc>
                <a:spcPts val="2600"/>
              </a:lnSpc>
              <a:buNone/>
            </a:pPr>
            <a:r>
              <a:rPr lang="en-US" sz="2000" b="1" dirty="0">
                <a:solidFill>
                  <a:srgbClr val="FF7A50"/>
                </a:solidFill>
                <a:latin typeface="Cambria" pitchFamily="34" charset="0"/>
                <a:ea typeface="Cambria" pitchFamily="34" charset="-122"/>
                <a:cs typeface="Cambria" pitchFamily="34" charset="-120"/>
              </a:rPr>
              <a:t>1</a:t>
            </a:r>
            <a:pPr algn="l" indent="0" marL="0">
              <a:lnSpc>
                <a:spcPts val="2600"/>
              </a:lnSpc>
              <a:buNone/>
            </a:pPr>
            <a:r>
              <a:rPr lang="en-US" sz="2000" dirty="0">
                <a:solidFill>
                  <a:srgbClr val="F3EEE4"/>
                </a:solidFill>
                <a:latin typeface="Cambria" pitchFamily="34" charset="0"/>
                <a:ea typeface="Cambria" pitchFamily="34" charset="-122"/>
                <a:cs typeface="Cambria" pitchFamily="34" charset="-120"/>
              </a:rPr>
              <a:t> Your name, and your program or department</a:t>
            </a:r>
            <a:endParaRPr lang="en-US" sz="2000" dirty="0"/>
          </a:p>
        </p:txBody>
      </p:sp>
      <p:sp>
        <p:nvSpPr>
          <p:cNvPr id="5" name="Text 3"/>
          <p:cNvSpPr txBox="1"/>
          <p:nvPr/>
        </p:nvSpPr>
        <p:spPr>
          <a:xfrm>
            <a:off x="812800" y="2794000"/>
            <a:ext cx="9810750" cy="355600"/>
          </a:xfrm>
          <a:prstGeom prst="rect">
            <a:avLst/>
          </a:prstGeom>
          <a:noFill/>
          <a:ln/>
        </p:spPr>
        <p:txBody>
          <a:bodyPr wrap="square" lIns="0" tIns="0" rIns="0" bIns="0" rtlCol="0" anchor="t"/>
          <a:lstStyle/>
          <a:p>
            <a:pPr algn="l" indent="0" marL="0">
              <a:lnSpc>
                <a:spcPts val="2600"/>
              </a:lnSpc>
              <a:buNone/>
            </a:pPr>
            <a:r>
              <a:rPr lang="en-US" sz="2000" b="1" dirty="0">
                <a:solidFill>
                  <a:srgbClr val="7F9BE8"/>
                </a:solidFill>
                <a:latin typeface="Cambria" pitchFamily="34" charset="0"/>
                <a:ea typeface="Cambria" pitchFamily="34" charset="-122"/>
                <a:cs typeface="Cambria" pitchFamily="34" charset="-120"/>
              </a:rPr>
              <a:t>2</a:t>
            </a:r>
            <a:pPr algn="l" indent="0" marL="0">
              <a:lnSpc>
                <a:spcPts val="2600"/>
              </a:lnSpc>
              <a:buNone/>
            </a:pPr>
            <a:r>
              <a:rPr lang="en-US" sz="2000" dirty="0">
                <a:solidFill>
                  <a:srgbClr val="F3EEE4"/>
                </a:solidFill>
                <a:latin typeface="Cambria" pitchFamily="34" charset="0"/>
                <a:ea typeface="Cambria" pitchFamily="34" charset="-122"/>
                <a:cs typeface="Cambria" pitchFamily="34" charset="-120"/>
              </a:rPr>
              <a:t> Your field, or a research interest</a:t>
            </a:r>
            <a:endParaRPr lang="en-US" sz="2000" dirty="0"/>
          </a:p>
        </p:txBody>
      </p:sp>
      <p:sp>
        <p:nvSpPr>
          <p:cNvPr id="6" name="Text 4"/>
          <p:cNvSpPr txBox="1"/>
          <p:nvPr/>
        </p:nvSpPr>
        <p:spPr>
          <a:xfrm>
            <a:off x="812800" y="3492500"/>
            <a:ext cx="9810750" cy="355600"/>
          </a:xfrm>
          <a:prstGeom prst="rect">
            <a:avLst/>
          </a:prstGeom>
          <a:noFill/>
          <a:ln/>
        </p:spPr>
        <p:txBody>
          <a:bodyPr wrap="square" lIns="0" tIns="0" rIns="0" bIns="0" rtlCol="0" anchor="t"/>
          <a:lstStyle/>
          <a:p>
            <a:pPr algn="l" indent="0" marL="0">
              <a:lnSpc>
                <a:spcPts val="2600"/>
              </a:lnSpc>
              <a:buNone/>
            </a:pPr>
            <a:r>
              <a:rPr lang="en-US" sz="2000" b="1" dirty="0">
                <a:solidFill>
                  <a:srgbClr val="4FC3B0"/>
                </a:solidFill>
                <a:latin typeface="Cambria" pitchFamily="34" charset="0"/>
                <a:ea typeface="Cambria" pitchFamily="34" charset="-122"/>
                <a:cs typeface="Cambria" pitchFamily="34" charset="-120"/>
              </a:rPr>
              <a:t>3</a:t>
            </a:r>
            <a:pPr algn="l" indent="0" marL="0">
              <a:lnSpc>
                <a:spcPts val="2600"/>
              </a:lnSpc>
              <a:buNone/>
            </a:pPr>
            <a:r>
              <a:rPr lang="en-US" sz="2000" dirty="0">
                <a:solidFill>
                  <a:srgbClr val="F3EEE4"/>
                </a:solidFill>
                <a:latin typeface="Cambria" pitchFamily="34" charset="0"/>
                <a:ea typeface="Cambria" pitchFamily="34" charset="-122"/>
                <a:cs typeface="Cambria" pitchFamily="34" charset="-120"/>
              </a:rPr>
              <a:t> A question you might pursue this term</a:t>
            </a:r>
            <a:endParaRPr lang="en-US" sz="2000" dirty="0"/>
          </a:p>
        </p:txBody>
      </p:sp>
      <p:sp>
        <p:nvSpPr>
          <p:cNvPr id="7" name="Text 5"/>
          <p:cNvSpPr txBox="1"/>
          <p:nvPr/>
        </p:nvSpPr>
        <p:spPr>
          <a:xfrm>
            <a:off x="812800" y="4191000"/>
            <a:ext cx="9810750" cy="355600"/>
          </a:xfrm>
          <a:prstGeom prst="rect">
            <a:avLst/>
          </a:prstGeom>
          <a:noFill/>
          <a:ln/>
        </p:spPr>
        <p:txBody>
          <a:bodyPr wrap="square" lIns="0" tIns="0" rIns="0" bIns="0" rtlCol="0" anchor="t"/>
          <a:lstStyle/>
          <a:p>
            <a:pPr algn="l" indent="0" marL="0">
              <a:lnSpc>
                <a:spcPts val="2600"/>
              </a:lnSpc>
              <a:buNone/>
            </a:pPr>
            <a:r>
              <a:rPr lang="en-US" sz="2000" b="1" dirty="0">
                <a:solidFill>
                  <a:srgbClr val="F5C542"/>
                </a:solidFill>
                <a:latin typeface="Cambria" pitchFamily="34" charset="0"/>
                <a:ea typeface="Cambria" pitchFamily="34" charset="-122"/>
                <a:cs typeface="Cambria" pitchFamily="34" charset="-120"/>
              </a:rPr>
              <a:t>4</a:t>
            </a:r>
            <a:pPr algn="l" indent="0" marL="0">
              <a:lnSpc>
                <a:spcPts val="2600"/>
              </a:lnSpc>
              <a:buNone/>
            </a:pPr>
            <a:r>
              <a:rPr lang="en-US" sz="2000" dirty="0">
                <a:solidFill>
                  <a:srgbClr val="F3EEE4"/>
                </a:solidFill>
                <a:latin typeface="Cambria" pitchFamily="34" charset="0"/>
                <a:ea typeface="Cambria" pitchFamily="34" charset="-122"/>
                <a:cs typeface="Cambria" pitchFamily="34" charset="-120"/>
              </a:rPr>
              <a:t> One way you’ve used AI in your research</a:t>
            </a:r>
            <a:endParaRPr lang="en-US" sz="2000" dirty="0"/>
          </a:p>
        </p:txBody>
      </p:sp>
      <p:sp>
        <p:nvSpPr>
          <p:cNvPr id="8" name="Text 6"/>
          <p:cNvSpPr txBox="1"/>
          <p:nvPr/>
        </p:nvSpPr>
        <p:spPr>
          <a:xfrm>
            <a:off x="812800" y="5080000"/>
            <a:ext cx="9810750" cy="292100"/>
          </a:xfrm>
          <a:prstGeom prst="rect">
            <a:avLst/>
          </a:prstGeom>
          <a:noFill/>
          <a:ln/>
        </p:spPr>
        <p:txBody>
          <a:bodyPr wrap="square" lIns="0" tIns="0" rIns="0" bIns="0" rtlCol="0" anchor="t"/>
          <a:lstStyle/>
          <a:p>
            <a:pPr algn="l" indent="0" marL="0">
              <a:lnSpc>
                <a:spcPts val="2100"/>
              </a:lnSpc>
              <a:buNone/>
            </a:pPr>
            <a:r>
              <a:rPr lang="en-US" sz="1500" dirty="0">
                <a:solidFill>
                  <a:srgbClr val="C9C4B8"/>
                </a:solidFill>
                <a:latin typeface="Cambria" pitchFamily="34" charset="0"/>
                <a:ea typeface="Cambria" pitchFamily="34" charset="-122"/>
                <a:cs typeface="Cambria" pitchFamily="34" charset="-120"/>
              </a:rPr>
              <a:t>A rough question is fine. We will develop the question progressively each week.</a:t>
            </a:r>
            <a:endParaRPr lang="en-US" sz="1500" dirty="0"/>
          </a:p>
        </p:txBody>
      </p:sp>
      <p:sp>
        <p:nvSpPr>
          <p:cNvPr id="9" name="Text 7"/>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9C978C"/>
                </a:solidFill>
                <a:latin typeface="Arial" pitchFamily="34" charset="0"/>
                <a:ea typeface="Arial" pitchFamily="34" charset="-122"/>
                <a:cs typeface="Arial" pitchFamily="34" charset="-120"/>
              </a:rPr>
              <a:t>EPOL 590 · Lecture 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61D"/>
        </a:solidFill>
      </p:bgPr>
    </p:bg>
    <p:spTree>
      <p:nvGrpSpPr>
        <p:cNvPr id="1" name=""/>
        <p:cNvGrpSpPr/>
        <p:nvPr/>
      </p:nvGrpSpPr>
      <p:grpSpPr>
        <a:xfrm>
          <a:off x="0" y="0"/>
          <a:ext cx="0" cy="0"/>
          <a:chOff x="0" y="0"/>
          <a:chExt cx="0" cy="0"/>
        </a:xfrm>
      </p:grpSpPr>
      <p:pic>
        <p:nvPicPr>
          <p:cNvPr id="2" name="Image 0" descr="Animated illustration (live in the web version)">    </p:cNvPr>
          <p:cNvPicPr>
            <a:picLocks noChangeAspect="1"/>
          </p:cNvPicPr>
          <p:nvPr/>
        </p:nvPicPr>
        <p:blipFill>
          <a:blip r:embed="rId1"/>
          <a:stretch>
            <a:fillRect/>
          </a:stretch>
        </p:blipFill>
        <p:spPr>
          <a:xfrm>
            <a:off x="5715000" y="381000"/>
            <a:ext cx="6096000" cy="6096000"/>
          </a:xfrm>
          <a:prstGeom prst="rect">
            <a:avLst/>
          </a:prstGeom>
        </p:spPr>
      </p:pic>
      <p:sp>
        <p:nvSpPr>
          <p:cNvPr id="3" name="Text 0"/>
          <p:cNvSpPr txBox="1"/>
          <p:nvPr/>
        </p:nvSpPr>
        <p:spPr>
          <a:xfrm>
            <a:off x="812800" y="1259979"/>
            <a:ext cx="4839970"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FF7A50"/>
                </a:solidFill>
                <a:latin typeface="Arial" pitchFamily="34" charset="0"/>
                <a:ea typeface="Arial" pitchFamily="34" charset="-122"/>
                <a:cs typeface="Arial" pitchFamily="34" charset="-120"/>
              </a:rPr>
              <a:t>CLASS CONSTELLATION · BEFORE SESSION 2</a:t>
            </a:r>
            <a:endParaRPr lang="en-US" sz="1200" dirty="0"/>
          </a:p>
        </p:txBody>
      </p:sp>
      <p:sp>
        <p:nvSpPr>
          <p:cNvPr id="4" name="Text 1"/>
          <p:cNvSpPr txBox="1"/>
          <p:nvPr/>
        </p:nvSpPr>
        <p:spPr>
          <a:xfrm>
            <a:off x="812800" y="1691779"/>
            <a:ext cx="4839970"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F3EEE4"/>
                </a:solidFill>
                <a:latin typeface="Arial" pitchFamily="34" charset="0"/>
                <a:ea typeface="Arial" pitchFamily="34" charset="-122"/>
                <a:cs typeface="Arial" pitchFamily="34" charset="-120"/>
              </a:rPr>
              <a:t>Put your question on the map</a:t>
            </a:r>
            <a:endParaRPr lang="en-US" sz="3600" dirty="0"/>
          </a:p>
        </p:txBody>
      </p:sp>
      <p:sp>
        <p:nvSpPr>
          <p:cNvPr id="5" name="Text 2"/>
          <p:cNvSpPr txBox="1"/>
          <p:nvPr/>
        </p:nvSpPr>
        <p:spPr>
          <a:xfrm>
            <a:off x="812800" y="2951460"/>
            <a:ext cx="4839970" cy="594320"/>
          </a:xfrm>
          <a:prstGeom prst="rect">
            <a:avLst/>
          </a:prstGeom>
          <a:noFill/>
          <a:ln/>
        </p:spPr>
        <p:txBody>
          <a:bodyPr wrap="square" lIns="0" tIns="0" rIns="0" bIns="0" rtlCol="0" anchor="t"/>
          <a:lstStyle/>
          <a:p>
            <a:pPr algn="l" indent="0" marL="0">
              <a:lnSpc>
                <a:spcPts val="2240"/>
              </a:lnSpc>
              <a:buNone/>
            </a:pPr>
            <a:r>
              <a:rPr lang="en-US" sz="1600" dirty="0">
                <a:solidFill>
                  <a:srgbClr val="FF7A50"/>
                </a:solidFill>
                <a:latin typeface="Cambria" pitchFamily="34" charset="0"/>
                <a:ea typeface="Cambria" pitchFamily="34" charset="-122"/>
                <a:cs typeface="Cambria" pitchFamily="34" charset="-120"/>
              </a:rPr>
              <a:t>1</a:t>
            </a:r>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 Add your name, up to five interests and a one-sentence research topic.</a:t>
            </a:r>
            <a:endParaRPr lang="en-US" sz="1600" dirty="0"/>
          </a:p>
        </p:txBody>
      </p:sp>
      <p:sp>
        <p:nvSpPr>
          <p:cNvPr id="6" name="Text 3"/>
          <p:cNvSpPr txBox="1"/>
          <p:nvPr/>
        </p:nvSpPr>
        <p:spPr>
          <a:xfrm>
            <a:off x="812800" y="3660080"/>
            <a:ext cx="4839970" cy="594320"/>
          </a:xfrm>
          <a:prstGeom prst="rect">
            <a:avLst/>
          </a:prstGeom>
          <a:noFill/>
          <a:ln/>
        </p:spPr>
        <p:txBody>
          <a:bodyPr wrap="square" lIns="0" tIns="0" rIns="0" bIns="0" rtlCol="0" anchor="t"/>
          <a:lstStyle/>
          <a:p>
            <a:pPr algn="l" indent="0" marL="0">
              <a:lnSpc>
                <a:spcPts val="2240"/>
              </a:lnSpc>
              <a:buNone/>
            </a:pPr>
            <a:r>
              <a:rPr lang="en-US" sz="1600" dirty="0">
                <a:solidFill>
                  <a:srgbClr val="7F9BE8"/>
                </a:solidFill>
                <a:latin typeface="Cambria" pitchFamily="34" charset="0"/>
                <a:ea typeface="Cambria" pitchFamily="34" charset="-122"/>
                <a:cs typeface="Cambria" pitchFamily="34" charset="-120"/>
              </a:rPr>
              <a:t>2</a:t>
            </a:r>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 Recent papers gather around each interest, coloured to match.</a:t>
            </a:r>
            <a:endParaRPr lang="en-US" sz="1600" dirty="0"/>
          </a:p>
        </p:txBody>
      </p:sp>
      <p:sp>
        <p:nvSpPr>
          <p:cNvPr id="7" name="Text 4"/>
          <p:cNvSpPr txBox="1"/>
          <p:nvPr/>
        </p:nvSpPr>
        <p:spPr>
          <a:xfrm>
            <a:off x="812800" y="4368701"/>
            <a:ext cx="4839970" cy="594320"/>
          </a:xfrm>
          <a:prstGeom prst="rect">
            <a:avLst/>
          </a:prstGeom>
          <a:noFill/>
          <a:ln/>
        </p:spPr>
        <p:txBody>
          <a:bodyPr wrap="square" lIns="0" tIns="0" rIns="0" bIns="0" rtlCol="0" anchor="t"/>
          <a:lstStyle/>
          <a:p>
            <a:pPr algn="l" indent="0" marL="0">
              <a:lnSpc>
                <a:spcPts val="2240"/>
              </a:lnSpc>
              <a:buNone/>
            </a:pPr>
            <a:r>
              <a:rPr lang="en-US" sz="1600" dirty="0">
                <a:solidFill>
                  <a:srgbClr val="4FC3B0"/>
                </a:solidFill>
                <a:latin typeface="Cambria" pitchFamily="34" charset="0"/>
                <a:ea typeface="Cambria" pitchFamily="34" charset="-122"/>
                <a:cs typeface="Cambria" pitchFamily="34" charset="-120"/>
              </a:rPr>
              <a:t>3</a:t>
            </a:r>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 Open one, check it against the source, and see who shares your interests.</a:t>
            </a:r>
            <a:endParaRPr lang="en-US" sz="1600" dirty="0"/>
          </a:p>
        </p:txBody>
      </p:sp>
      <p:sp>
        <p:nvSpPr>
          <p:cNvPr id="8" name="Text 5"/>
          <p:cNvSpPr txBox="1"/>
          <p:nvPr/>
        </p:nvSpPr>
        <p:spPr>
          <a:xfrm>
            <a:off x="812800" y="5191621"/>
            <a:ext cx="4839970" cy="228600"/>
          </a:xfrm>
          <a:prstGeom prst="rect">
            <a:avLst/>
          </a:prstGeom>
          <a:noFill/>
          <a:ln/>
        </p:spPr>
        <p:txBody>
          <a:bodyPr wrap="square" lIns="0" tIns="0" rIns="0" bIns="0" rtlCol="0" anchor="t"/>
          <a:lstStyle/>
          <a:p>
            <a:pPr algn="l" indent="0" marL="0">
              <a:lnSpc>
                <a:spcPts val="1680"/>
              </a:lnSpc>
              <a:buNone/>
            </a:pPr>
            <a:r>
              <a:rPr lang="en-US" sz="1400" b="1" u="sng" dirty="0">
                <a:solidFill>
                  <a:srgbClr val="F3EEE4"/>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the class constellation →</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61D"/>
        </a:solidFill>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61D"/>
        </a:solidFill>
      </p:bgPr>
    </p:bg>
    <p:spTree>
      <p:nvGrpSpPr>
        <p:cNvPr id="1" name=""/>
        <p:cNvGrpSpPr/>
        <p:nvPr/>
      </p:nvGrpSpPr>
      <p:grpSpPr>
        <a:xfrm>
          <a:off x="0" y="0"/>
          <a:ext cx="0" cy="0"/>
          <a:chOff x="0" y="0"/>
          <a:chExt cx="0" cy="0"/>
        </a:xfrm>
      </p:grpSpPr>
      <p:pic>
        <p:nvPicPr>
          <p:cNvPr id="2" name="Image 0" descr="Seen from directly above, a round seminar table is surrounded by researchers with books, laptops and notebooks; a paper automaton sits among them as one more participant.">    </p:cNvPr>
          <p:cNvPicPr>
            <a:picLocks noChangeAspect="1"/>
          </p:cNvPicPr>
          <p:nvPr/>
        </p:nvPicPr>
        <p:blipFill>
          <a:blip r:embed="rId1"/>
          <a:stretch>
            <a:fillRect/>
          </a:stretch>
        </p:blipFill>
        <p:spPr>
          <a:xfrm>
            <a:off x="6604000" y="0"/>
            <a:ext cx="5588000" cy="6858000"/>
          </a:xfrm>
          <a:prstGeom prst="rect">
            <a:avLst/>
          </a:prstGeom>
        </p:spPr>
      </p:pic>
      <p:sp>
        <p:nvSpPr>
          <p:cNvPr id="3" name="Text 0"/>
          <p:cNvSpPr txBox="1"/>
          <p:nvPr/>
        </p:nvSpPr>
        <p:spPr>
          <a:xfrm>
            <a:off x="287338" y="1622723"/>
            <a:ext cx="5363210"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F3EEE4"/>
                </a:solidFill>
                <a:latin typeface="Arial" pitchFamily="34" charset="0"/>
                <a:ea typeface="Arial" pitchFamily="34" charset="-122"/>
                <a:cs typeface="Arial" pitchFamily="34" charset="-120"/>
              </a:rPr>
              <a:t>What is literature?</a:t>
            </a:r>
            <a:endParaRPr lang="en-US" sz="3600" dirty="0"/>
          </a:p>
        </p:txBody>
      </p:sp>
      <p:sp>
        <p:nvSpPr>
          <p:cNvPr id="4" name="Text 1"/>
          <p:cNvSpPr txBox="1"/>
          <p:nvPr/>
        </p:nvSpPr>
        <p:spPr>
          <a:xfrm>
            <a:off x="287338" y="2511723"/>
            <a:ext cx="6217256"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FF7A50"/>
                </a:solidFill>
                <a:latin typeface="Arial" pitchFamily="34" charset="0"/>
                <a:ea typeface="Arial" pitchFamily="34" charset="-122"/>
                <a:cs typeface="Arial" pitchFamily="34" charset="-120"/>
              </a:rPr>
              <a:t>What is a literature review?</a:t>
            </a:r>
            <a:endParaRPr lang="en-US" sz="3600" dirty="0"/>
          </a:p>
        </p:txBody>
      </p:sp>
      <p:sp>
        <p:nvSpPr>
          <p:cNvPr id="5" name="Text 2"/>
          <p:cNvSpPr txBox="1"/>
          <p:nvPr/>
        </p:nvSpPr>
        <p:spPr>
          <a:xfrm>
            <a:off x="287338" y="3490218"/>
            <a:ext cx="5363210"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7F9BE8"/>
                </a:solidFill>
                <a:latin typeface="Arial" pitchFamily="34" charset="0"/>
                <a:ea typeface="Arial" pitchFamily="34" charset="-122"/>
                <a:cs typeface="Arial" pitchFamily="34" charset="-120"/>
              </a:rPr>
              <a:t>What is AI changing?</a:t>
            </a:r>
            <a:endParaRPr lang="en-US" sz="3600" dirty="0"/>
          </a:p>
        </p:txBody>
      </p:sp>
      <p:sp>
        <p:nvSpPr>
          <p:cNvPr id="6" name="Text 3"/>
          <p:cNvSpPr txBox="1"/>
          <p:nvPr/>
        </p:nvSpPr>
        <p:spPr>
          <a:xfrm>
            <a:off x="287338" y="4543723"/>
            <a:ext cx="5363210" cy="594320"/>
          </a:xfrm>
          <a:prstGeom prst="rect">
            <a:avLst/>
          </a:prstGeom>
          <a:noFill/>
          <a:ln/>
        </p:spPr>
        <p:txBody>
          <a:bodyPr wrap="square" lIns="0" tIns="0" rIns="0" bIns="0" rtlCol="0" anchor="t"/>
          <a:lstStyle/>
          <a:p>
            <a:pPr algn="l" indent="0" marL="0">
              <a:lnSpc>
                <a:spcPts val="2240"/>
              </a:lnSpc>
              <a:buNone/>
            </a:pPr>
            <a:r>
              <a:rPr lang="en-US" sz="1600" dirty="0">
                <a:solidFill>
                  <a:srgbClr val="C9C4B8"/>
                </a:solidFill>
                <a:latin typeface="Cambria" pitchFamily="34" charset="0"/>
                <a:ea typeface="Cambria" pitchFamily="34" charset="-122"/>
                <a:cs typeface="Cambria" pitchFamily="34" charset="-120"/>
              </a:rPr>
              <a:t>Introduce yourself, your field, and one thing you’ve used AI for in research.</a:t>
            </a:r>
            <a:endParaRPr lang="en-US" sz="1600" dirty="0"/>
          </a:p>
        </p:txBody>
      </p:sp>
      <p:sp>
        <p:nvSpPr>
          <p:cNvPr id="7" name="Text 4"/>
          <p:cNvSpPr txBox="1"/>
          <p:nvPr/>
        </p:nvSpPr>
        <p:spPr>
          <a:xfrm>
            <a:off x="287338" y="657523"/>
            <a:ext cx="5363210"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FF7A50"/>
                </a:solidFill>
                <a:latin typeface="Arial" pitchFamily="34" charset="0"/>
                <a:ea typeface="Arial" pitchFamily="34" charset="-122"/>
                <a:cs typeface="Arial" pitchFamily="34" charset="-120"/>
              </a:rPr>
              <a:t>DISCUSSION AND INTRODUCTIONS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61D"/>
        </a:solidFill>
      </p:bgPr>
    </p:bg>
    <p:spTree>
      <p:nvGrpSpPr>
        <p:cNvPr id="1" name=""/>
        <p:cNvGrpSpPr/>
        <p:nvPr/>
      </p:nvGrpSpPr>
      <p:grpSpPr>
        <a:xfrm>
          <a:off x="0" y="0"/>
          <a:ext cx="0" cy="0"/>
          <a:chOff x="0" y="0"/>
          <a:chExt cx="0" cy="0"/>
        </a:xfrm>
      </p:grpSpPr>
      <p:pic>
        <p:nvPicPr>
          <p:cNvPr id="2" name="Image 0" descr="Animated illustration (live in the web version)">    </p:cNvPr>
          <p:cNvPicPr>
            <a:picLocks noChangeAspect="1"/>
          </p:cNvPicPr>
          <p:nvPr/>
        </p:nvPicPr>
        <p:blipFill>
          <a:blip r:embed="rId1"/>
          <a:stretch>
            <a:fillRect/>
          </a:stretch>
        </p:blipFill>
        <p:spPr>
          <a:xfrm>
            <a:off x="5588000" y="508000"/>
            <a:ext cx="5842000" cy="5715000"/>
          </a:xfrm>
          <a:prstGeom prst="rect">
            <a:avLst/>
          </a:prstGeom>
        </p:spPr>
      </p:pic>
      <p:sp>
        <p:nvSpPr>
          <p:cNvPr id="3" name="Text 0"/>
          <p:cNvSpPr txBox="1"/>
          <p:nvPr/>
        </p:nvSpPr>
        <p:spPr>
          <a:xfrm>
            <a:off x="812800" y="812800"/>
            <a:ext cx="4578350"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F3EEE4"/>
                </a:solidFill>
                <a:latin typeface="Arial" pitchFamily="34" charset="0"/>
                <a:ea typeface="Arial" pitchFamily="34" charset="-122"/>
                <a:cs typeface="Arial" pitchFamily="34" charset="-120"/>
              </a:rPr>
              <a:t>What is academic literature?</a:t>
            </a:r>
            <a:endParaRPr lang="en-US" sz="3600" dirty="0"/>
          </a:p>
        </p:txBody>
      </p:sp>
      <p:sp>
        <p:nvSpPr>
          <p:cNvPr id="4" name="Text 1"/>
          <p:cNvSpPr txBox="1"/>
          <p:nvPr/>
        </p:nvSpPr>
        <p:spPr>
          <a:xfrm>
            <a:off x="812800" y="2921000"/>
            <a:ext cx="4578350" cy="594320"/>
          </a:xfrm>
          <a:prstGeom prst="rect">
            <a:avLst/>
          </a:prstGeom>
          <a:noFill/>
          <a:ln/>
        </p:spPr>
        <p:txBody>
          <a:bodyPr wrap="square" lIns="0" tIns="0" rIns="0" bIns="0" rtlCol="0" anchor="t"/>
          <a:lstStyle/>
          <a:p>
            <a:pPr algn="l" indent="0" marL="0">
              <a:lnSpc>
                <a:spcPts val="2240"/>
              </a:lnSpc>
              <a:buNone/>
            </a:pPr>
            <a:r>
              <a:rPr lang="en-US" sz="1600" dirty="0">
                <a:solidFill>
                  <a:srgbClr val="FF7A50"/>
                </a:solidFill>
                <a:latin typeface="Cambria" pitchFamily="34" charset="0"/>
                <a:ea typeface="Cambria" pitchFamily="34" charset="-122"/>
                <a:cs typeface="Cambria" pitchFamily="34" charset="-120"/>
              </a:rPr>
              <a:t>1</a:t>
            </a:r>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 Open the response board from the link in the Zoom chat.</a:t>
            </a:r>
            <a:endParaRPr lang="en-US" sz="1600" dirty="0"/>
          </a:p>
        </p:txBody>
      </p:sp>
      <p:sp>
        <p:nvSpPr>
          <p:cNvPr id="5" name="Text 2"/>
          <p:cNvSpPr txBox="1"/>
          <p:nvPr/>
        </p:nvSpPr>
        <p:spPr>
          <a:xfrm>
            <a:off x="812800" y="3556000"/>
            <a:ext cx="4578350" cy="309860"/>
          </a:xfrm>
          <a:prstGeom prst="rect">
            <a:avLst/>
          </a:prstGeom>
          <a:noFill/>
          <a:ln/>
        </p:spPr>
        <p:txBody>
          <a:bodyPr wrap="square" lIns="0" tIns="0" rIns="0" bIns="0" rtlCol="0" anchor="t"/>
          <a:lstStyle/>
          <a:p>
            <a:pPr algn="l" indent="0" marL="0">
              <a:lnSpc>
                <a:spcPts val="2240"/>
              </a:lnSpc>
              <a:buNone/>
            </a:pPr>
            <a:r>
              <a:rPr lang="en-US" sz="1600" dirty="0">
                <a:solidFill>
                  <a:srgbClr val="7F9BE8"/>
                </a:solidFill>
                <a:latin typeface="Cambria" pitchFamily="34" charset="0"/>
                <a:ea typeface="Cambria" pitchFamily="34" charset="-122"/>
                <a:cs typeface="Cambria" pitchFamily="34" charset="-120"/>
              </a:rPr>
              <a:t>2</a:t>
            </a:r>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 Answer in a sentence or two. A name is optional.</a:t>
            </a:r>
            <a:endParaRPr lang="en-US" sz="1600" dirty="0"/>
          </a:p>
        </p:txBody>
      </p:sp>
      <p:sp>
        <p:nvSpPr>
          <p:cNvPr id="6" name="Text 3"/>
          <p:cNvSpPr txBox="1"/>
          <p:nvPr/>
        </p:nvSpPr>
        <p:spPr>
          <a:xfrm>
            <a:off x="812800" y="4191000"/>
            <a:ext cx="4578350" cy="594320"/>
          </a:xfrm>
          <a:prstGeom prst="rect">
            <a:avLst/>
          </a:prstGeom>
          <a:noFill/>
          <a:ln/>
        </p:spPr>
        <p:txBody>
          <a:bodyPr wrap="square" lIns="0" tIns="0" rIns="0" bIns="0" rtlCol="0" anchor="t"/>
          <a:lstStyle/>
          <a:p>
            <a:pPr algn="l" indent="0" marL="0">
              <a:lnSpc>
                <a:spcPts val="2240"/>
              </a:lnSpc>
              <a:buNone/>
            </a:pPr>
            <a:r>
              <a:rPr lang="en-US" sz="1600" dirty="0">
                <a:solidFill>
                  <a:srgbClr val="4FC3B0"/>
                </a:solidFill>
                <a:latin typeface="Cambria" pitchFamily="34" charset="0"/>
                <a:ea typeface="Cambria" pitchFamily="34" charset="-122"/>
                <a:cs typeface="Cambria" pitchFamily="34" charset="-120"/>
              </a:rPr>
              <a:t>3</a:t>
            </a:r>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 Watch themes form as answers share words, then we read them together.</a:t>
            </a:r>
            <a:endParaRPr lang="en-US" sz="1600" dirty="0"/>
          </a:p>
        </p:txBody>
      </p:sp>
      <p:sp>
        <p:nvSpPr>
          <p:cNvPr id="7" name="Text 4"/>
          <p:cNvSpPr txBox="1"/>
          <p:nvPr/>
        </p:nvSpPr>
        <p:spPr>
          <a:xfrm>
            <a:off x="812800" y="5080000"/>
            <a:ext cx="4578350" cy="228600"/>
          </a:xfrm>
          <a:prstGeom prst="rect">
            <a:avLst/>
          </a:prstGeom>
          <a:noFill/>
          <a:ln/>
        </p:spPr>
        <p:txBody>
          <a:bodyPr wrap="square" lIns="0" tIns="0" rIns="0" bIns="0" rtlCol="0" anchor="t"/>
          <a:lstStyle/>
          <a:p>
            <a:pPr algn="l" indent="0" marL="0">
              <a:lnSpc>
                <a:spcPts val="1680"/>
              </a:lnSpc>
              <a:buNone/>
            </a:pPr>
            <a:r>
              <a:rPr lang="en-US" sz="1400" b="1" u="sng" dirty="0">
                <a:solidFill>
                  <a:srgbClr val="F3EEE4"/>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the response board →</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YOUR RESEARCH RECORD</a:t>
            </a:r>
            <a:endParaRPr lang="en-US" sz="1200" dirty="0"/>
          </a:p>
        </p:txBody>
      </p:sp>
      <p:sp>
        <p:nvSpPr>
          <p:cNvPr id="3" name="Text 1"/>
          <p:cNvSpPr txBox="1"/>
          <p:nvPr/>
        </p:nvSpPr>
        <p:spPr>
          <a:xfrm>
            <a:off x="812800" y="1295400"/>
            <a:ext cx="9810750"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Keep notes you can explain your review from</a:t>
            </a:r>
            <a:endParaRPr lang="en-US" sz="3600" dirty="0"/>
          </a:p>
        </p:txBody>
      </p:sp>
      <p:sp>
        <p:nvSpPr>
          <p:cNvPr id="4" name="Shape 2"/>
          <p:cNvSpPr/>
          <p:nvPr/>
        </p:nvSpPr>
        <p:spPr>
          <a:xfrm>
            <a:off x="812800" y="2605881"/>
            <a:ext cx="3386634" cy="1824831"/>
          </a:xfrm>
          <a:prstGeom prst="roundRect">
            <a:avLst>
              <a:gd name="adj" fmla="val 6960"/>
            </a:avLst>
          </a:prstGeom>
          <a:solidFill>
            <a:srgbClr val="FBF8F2"/>
          </a:solidFill>
          <a:ln w="12700">
            <a:solidFill>
              <a:srgbClr val="15161D"/>
            </a:solidFill>
            <a:prstDash val="solid"/>
          </a:ln>
        </p:spPr>
      </p:sp>
      <p:sp>
        <p:nvSpPr>
          <p:cNvPr id="5" name="Text 3"/>
          <p:cNvSpPr txBox="1"/>
          <p:nvPr/>
        </p:nvSpPr>
        <p:spPr>
          <a:xfrm>
            <a:off x="1079500" y="3329781"/>
            <a:ext cx="2938831"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Note-taking software</a:t>
            </a:r>
            <a:endParaRPr lang="en-US" sz="1600" dirty="0"/>
          </a:p>
        </p:txBody>
      </p:sp>
      <p:sp>
        <p:nvSpPr>
          <p:cNvPr id="6" name="Text 4"/>
          <p:cNvSpPr txBox="1"/>
          <p:nvPr/>
        </p:nvSpPr>
        <p:spPr>
          <a:xfrm>
            <a:off x="1079500" y="3666331"/>
            <a:ext cx="2938831" cy="523081"/>
          </a:xfrm>
          <a:prstGeom prst="rect">
            <a:avLst/>
          </a:prstGeom>
          <a:noFill/>
          <a:ln/>
        </p:spPr>
        <p:txBody>
          <a:bodyPr wrap="square" lIns="0" tIns="0" rIns="0" bIns="0" rtlCol="0" anchor="t"/>
          <a:lstStyle/>
          <a:p>
            <a:pPr algn="l" indent="0" marL="0">
              <a:lnSpc>
                <a:spcPts val="1960"/>
              </a:lnSpc>
              <a:buNone/>
            </a:pPr>
            <a:r>
              <a:rPr lang="en-US" sz="1400" dirty="0">
                <a:solidFill>
                  <a:srgbClr val="4A4A55"/>
                </a:solidFill>
                <a:latin typeface="Cambria" pitchFamily="34" charset="0"/>
                <a:ea typeface="Cambria" pitchFamily="34" charset="-122"/>
                <a:cs typeface="Cambria" pitchFamily="34" charset="-120"/>
              </a:rPr>
              <a:t>Obsidian or similar; learn Markdown and try a Zettelkasten.</a:t>
            </a:r>
            <a:endParaRPr lang="en-US" sz="1400" dirty="0"/>
          </a:p>
        </p:txBody>
      </p:sp>
      <p:sp>
        <p:nvSpPr>
          <p:cNvPr id="7" name="Shape 5"/>
          <p:cNvSpPr/>
          <p:nvPr/>
        </p:nvSpPr>
        <p:spPr>
          <a:xfrm>
            <a:off x="4402634" y="2605881"/>
            <a:ext cx="3386634" cy="1824831"/>
          </a:xfrm>
          <a:prstGeom prst="roundRect">
            <a:avLst>
              <a:gd name="adj" fmla="val 6960"/>
            </a:avLst>
          </a:prstGeom>
          <a:solidFill>
            <a:srgbClr val="FBF8F2"/>
          </a:solidFill>
          <a:ln w="12700">
            <a:solidFill>
              <a:srgbClr val="15161D"/>
            </a:solidFill>
            <a:prstDash val="solid"/>
          </a:ln>
        </p:spPr>
      </p:sp>
      <p:sp>
        <p:nvSpPr>
          <p:cNvPr id="8" name="Text 6"/>
          <p:cNvSpPr txBox="1"/>
          <p:nvPr/>
        </p:nvSpPr>
        <p:spPr>
          <a:xfrm>
            <a:off x="4669334" y="3329781"/>
            <a:ext cx="2938831"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A reference manager</a:t>
            </a:r>
            <a:endParaRPr lang="en-US" sz="1600" dirty="0"/>
          </a:p>
        </p:txBody>
      </p:sp>
      <p:sp>
        <p:nvSpPr>
          <p:cNvPr id="9" name="Text 7"/>
          <p:cNvSpPr txBox="1"/>
          <p:nvPr/>
        </p:nvSpPr>
        <p:spPr>
          <a:xfrm>
            <a:off x="4669334" y="3666331"/>
            <a:ext cx="2938831" cy="523081"/>
          </a:xfrm>
          <a:prstGeom prst="rect">
            <a:avLst/>
          </a:prstGeom>
          <a:noFill/>
          <a:ln/>
        </p:spPr>
        <p:txBody>
          <a:bodyPr wrap="square" lIns="0" tIns="0" rIns="0" bIns="0" rtlCol="0" anchor="t"/>
          <a:lstStyle/>
          <a:p>
            <a:pPr algn="l" indent="0" marL="0">
              <a:lnSpc>
                <a:spcPts val="1960"/>
              </a:lnSpc>
              <a:buNone/>
            </a:pPr>
            <a:r>
              <a:rPr lang="en-US" sz="1400" dirty="0">
                <a:solidFill>
                  <a:srgbClr val="4A4A55"/>
                </a:solidFill>
                <a:latin typeface="Cambria" pitchFamily="34" charset="0"/>
                <a:ea typeface="Cambria" pitchFamily="34" charset="-122"/>
                <a:cs typeface="Cambria" pitchFamily="34" charset="-120"/>
              </a:rPr>
              <a:t>Zotero or any reliable way to keep full citations with your notes.</a:t>
            </a:r>
            <a:endParaRPr lang="en-US" sz="1400" dirty="0"/>
          </a:p>
        </p:txBody>
      </p:sp>
      <p:sp>
        <p:nvSpPr>
          <p:cNvPr id="10" name="Shape 8"/>
          <p:cNvSpPr/>
          <p:nvPr/>
        </p:nvSpPr>
        <p:spPr>
          <a:xfrm>
            <a:off x="7992467" y="2605881"/>
            <a:ext cx="3386634" cy="1824831"/>
          </a:xfrm>
          <a:prstGeom prst="roundRect">
            <a:avLst>
              <a:gd name="adj" fmla="val 6960"/>
            </a:avLst>
          </a:prstGeom>
          <a:solidFill>
            <a:srgbClr val="FBF8F2"/>
          </a:solidFill>
          <a:ln w="12700">
            <a:solidFill>
              <a:srgbClr val="15161D"/>
            </a:solidFill>
            <a:prstDash val="solid"/>
          </a:ln>
        </p:spPr>
      </p:sp>
      <p:sp>
        <p:nvSpPr>
          <p:cNvPr id="11" name="Text 9"/>
          <p:cNvSpPr txBox="1"/>
          <p:nvPr/>
        </p:nvSpPr>
        <p:spPr>
          <a:xfrm>
            <a:off x="8259167" y="3329781"/>
            <a:ext cx="2938831"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A running log</a:t>
            </a:r>
            <a:endParaRPr lang="en-US" sz="1600" dirty="0"/>
          </a:p>
        </p:txBody>
      </p:sp>
      <p:sp>
        <p:nvSpPr>
          <p:cNvPr id="12" name="Text 10"/>
          <p:cNvSpPr txBox="1"/>
          <p:nvPr/>
        </p:nvSpPr>
        <p:spPr>
          <a:xfrm>
            <a:off x="8259167" y="3666331"/>
            <a:ext cx="2938831" cy="523081"/>
          </a:xfrm>
          <a:prstGeom prst="rect">
            <a:avLst/>
          </a:prstGeom>
          <a:noFill/>
          <a:ln/>
        </p:spPr>
        <p:txBody>
          <a:bodyPr wrap="square" lIns="0" tIns="0" rIns="0" bIns="0" rtlCol="0" anchor="t"/>
          <a:lstStyle/>
          <a:p>
            <a:pPr algn="l" indent="0" marL="0">
              <a:lnSpc>
                <a:spcPts val="1960"/>
              </a:lnSpc>
              <a:buNone/>
            </a:pPr>
            <a:r>
              <a:rPr lang="en-US" sz="1400" dirty="0">
                <a:solidFill>
                  <a:srgbClr val="4A4A55"/>
                </a:solidFill>
                <a:latin typeface="Cambria" pitchFamily="34" charset="0"/>
                <a:ea typeface="Cambria" pitchFamily="34" charset="-122"/>
                <a:cs typeface="Cambria" pitchFamily="34" charset="-120"/>
              </a:rPr>
              <a:t>Question, search decisions, maps, drafts, feedback and AI-use notes.</a:t>
            </a:r>
            <a:endParaRPr lang="en-US" sz="1400" dirty="0"/>
          </a:p>
        </p:txBody>
      </p:sp>
      <p:sp>
        <p:nvSpPr>
          <p:cNvPr id="13" name="Text 11"/>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No particular commercial tool is required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WORKING TOGETHER</a:t>
            </a:r>
            <a:endParaRPr lang="en-US" sz="1200" dirty="0"/>
          </a:p>
        </p:txBody>
      </p:sp>
      <p:sp>
        <p:nvSpPr>
          <p:cNvPr id="3" name="Text 1"/>
          <p:cNvSpPr txBox="1"/>
          <p:nvPr/>
        </p:nvSpPr>
        <p:spPr>
          <a:xfrm>
            <a:off x="812800" y="12954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One continuous class document</a:t>
            </a:r>
            <a:endParaRPr lang="en-US" sz="3600" dirty="0"/>
          </a:p>
        </p:txBody>
      </p:sp>
      <p:sp>
        <p:nvSpPr>
          <p:cNvPr id="4" name="Text 2"/>
          <p:cNvSpPr txBox="1"/>
          <p:nvPr/>
        </p:nvSpPr>
        <p:spPr>
          <a:xfrm>
            <a:off x="812800" y="2103041"/>
            <a:ext cx="5232400"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What we need</a:t>
            </a:r>
            <a:endParaRPr lang="en-US" sz="1600" dirty="0"/>
          </a:p>
        </p:txBody>
      </p:sp>
      <p:sp>
        <p:nvSpPr>
          <p:cNvPr id="5" name="Text 3"/>
          <p:cNvSpPr txBox="1"/>
          <p:nvPr/>
        </p:nvSpPr>
        <p:spPr>
          <a:xfrm>
            <a:off x="812800" y="2464991"/>
            <a:ext cx="5232400" cy="909141"/>
          </a:xfrm>
          <a:prstGeom prst="rect">
            <a:avLst/>
          </a:prstGeom>
          <a:noFill/>
          <a:ln/>
        </p:spPr>
        <p:txBody>
          <a:bodyPr wrap="square" lIns="0" tIns="0" rIns="0" bIns="0" rtlCol="0" anchor="t"/>
          <a:lstStyle/>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A single running document for the term</a:t>
            </a:r>
            <a:endParaRPr lang="en-US" sz="1600" dirty="0"/>
          </a:p>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Sharing and annotation with peers</a:t>
            </a:r>
            <a:endParaRPr lang="en-US" sz="1600" dirty="0"/>
          </a:p>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Institution-supported, shared only with named people</a:t>
            </a:r>
            <a:endParaRPr lang="en-US" sz="1600" dirty="0"/>
          </a:p>
        </p:txBody>
      </p:sp>
      <p:sp>
        <p:nvSpPr>
          <p:cNvPr id="6" name="Text 4"/>
          <p:cNvSpPr txBox="1"/>
          <p:nvPr/>
        </p:nvSpPr>
        <p:spPr>
          <a:xfrm>
            <a:off x="6299200" y="2103041"/>
            <a:ext cx="5232400"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What stays in Canvas</a:t>
            </a:r>
            <a:endParaRPr lang="en-US" sz="1600" dirty="0"/>
          </a:p>
        </p:txBody>
      </p:sp>
      <p:sp>
        <p:nvSpPr>
          <p:cNvPr id="7" name="Text 5"/>
          <p:cNvSpPr txBox="1"/>
          <p:nvPr/>
        </p:nvSpPr>
        <p:spPr>
          <a:xfrm>
            <a:off x="6299200" y="2464991"/>
            <a:ext cx="5232400" cy="909141"/>
          </a:xfrm>
          <a:prstGeom prst="rect">
            <a:avLst/>
          </a:prstGeom>
          <a:noFill/>
          <a:ln/>
        </p:spPr>
        <p:txBody>
          <a:bodyPr wrap="square" lIns="0" tIns="0" rIns="0" bIns="0" rtlCol="0" anchor="t"/>
          <a:lstStyle/>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Submissions and grades</a:t>
            </a:r>
            <a:endParaRPr lang="en-US" sz="1600" dirty="0"/>
          </a:p>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Private instructor feedback</a:t>
            </a:r>
            <a:endParaRPr lang="en-US" sz="1600" dirty="0"/>
          </a:p>
          <a:p>
            <a:pPr marL="243840" indent="-243840">
              <a:lnSpc>
                <a:spcPts val="2320"/>
              </a:lnSpc>
              <a:buSzPct val="100000"/>
              <a:buChar char="•"/>
            </a:pPr>
            <a:r>
              <a:rPr lang="en-US" sz="1600" dirty="0">
                <a:solidFill>
                  <a:srgbClr val="3A3A44"/>
                </a:solidFill>
                <a:latin typeface="Cambria" pitchFamily="34" charset="0"/>
                <a:ea typeface="Cambria" pitchFamily="34" charset="-122"/>
                <a:cs typeface="Cambria" pitchFamily="34" charset="-120"/>
              </a:rPr>
              <a:t>Announcements and readings</a:t>
            </a:r>
            <a:endParaRPr lang="en-US" sz="1600" dirty="0"/>
          </a:p>
        </p:txBody>
      </p:sp>
      <p:sp>
        <p:nvSpPr>
          <p:cNvPr id="8" name="Shape 6"/>
          <p:cNvSpPr/>
          <p:nvPr/>
        </p:nvSpPr>
        <p:spPr>
          <a:xfrm>
            <a:off x="812800" y="3653532"/>
            <a:ext cx="10566400" cy="539750"/>
          </a:xfrm>
          <a:prstGeom prst="roundRect">
            <a:avLst>
              <a:gd name="adj" fmla="val 50000"/>
            </a:avLst>
          </a:prstGeom>
          <a:solidFill>
            <a:srgbClr val="15161D"/>
          </a:solidFill>
          <a:ln/>
        </p:spPr>
      </p:sp>
      <p:sp>
        <p:nvSpPr>
          <p:cNvPr id="9" name="Text 7"/>
          <p:cNvSpPr txBox="1"/>
          <p:nvPr/>
        </p:nvSpPr>
        <p:spPr>
          <a:xfrm>
            <a:off x="1066800" y="3805932"/>
            <a:ext cx="10360152" cy="260350"/>
          </a:xfrm>
          <a:prstGeom prst="rect">
            <a:avLst/>
          </a:prstGeom>
          <a:noFill/>
          <a:ln/>
        </p:spPr>
        <p:txBody>
          <a:bodyPr wrap="square" lIns="0" tIns="0" rIns="0" bIns="0" rtlCol="0" anchor="t"/>
          <a:lstStyle/>
          <a:p>
            <a:pPr algn="l" indent="0" marL="0">
              <a:lnSpc>
                <a:spcPts val="1920"/>
              </a:lnSpc>
              <a:buNone/>
            </a:pPr>
            <a:r>
              <a:rPr lang="en-US" sz="1600" b="1" dirty="0">
                <a:solidFill>
                  <a:srgbClr val="F3EEE4"/>
                </a:solidFill>
                <a:latin typeface="Arial" pitchFamily="34" charset="0"/>
                <a:ea typeface="Arial" pitchFamily="34" charset="-122"/>
                <a:cs typeface="Arial" pitchFamily="34" charset="-120"/>
              </a:rPr>
              <a:t>2026 class workspace: “EPOL 590 Fall 2026” Google Doc · linked on Canvas</a:t>
            </a:r>
            <a:endParaRPr lang="en-US" sz="1600" dirty="0"/>
          </a:p>
        </p:txBody>
      </p:sp>
      <p:sp>
        <p:nvSpPr>
          <p:cNvPr id="10" name="Text 8"/>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Don’t put confidential, identifiable or restricted material into any AI service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EE4"/>
        </a:solidFill>
      </p:bgPr>
    </p:bg>
    <p:spTree>
      <p:nvGrpSpPr>
        <p:cNvPr id="1" name=""/>
        <p:cNvGrpSpPr/>
        <p:nvPr/>
      </p:nvGrpSpPr>
      <p:grpSpPr>
        <a:xfrm>
          <a:off x="0" y="0"/>
          <a:ext cx="0" cy="0"/>
          <a:chOff x="0" y="0"/>
          <a:chExt cx="0" cy="0"/>
        </a:xfrm>
      </p:grpSpPr>
      <p:pic>
        <p:nvPicPr>
          <p:cNvPr id="2" name="Image 0" descr="Five different streams flow from a stack of newspapers, a shelf of journals, a cluttered desk, an armchair lamp and a small crowd into one pool where a researcher kneels.">    </p:cNvPr>
          <p:cNvPicPr>
            <a:picLocks noChangeAspect="1"/>
          </p:cNvPicPr>
          <p:nvPr/>
        </p:nvPicPr>
        <p:blipFill>
          <a:blip r:embed="rId1"/>
          <a:stretch>
            <a:fillRect/>
          </a:stretch>
        </p:blipFill>
        <p:spPr>
          <a:xfrm>
            <a:off x="6604000" y="0"/>
            <a:ext cx="5588000" cy="6858000"/>
          </a:xfrm>
          <a:prstGeom prst="rect">
            <a:avLst/>
          </a:prstGeom>
        </p:spPr>
      </p:pic>
      <p:sp>
        <p:nvSpPr>
          <p:cNvPr id="3" name="Text 0"/>
          <p:cNvSpPr txBox="1"/>
          <p:nvPr/>
        </p:nvSpPr>
        <p:spPr>
          <a:xfrm>
            <a:off x="812800" y="812800"/>
            <a:ext cx="5363210"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WHAT MAKES A GOOD RESEARCH QUESTION?</a:t>
            </a:r>
            <a:endParaRPr lang="en-US" sz="1200" dirty="0"/>
          </a:p>
        </p:txBody>
      </p:sp>
      <p:sp>
        <p:nvSpPr>
          <p:cNvPr id="4" name="Text 1"/>
          <p:cNvSpPr txBox="1"/>
          <p:nvPr/>
        </p:nvSpPr>
        <p:spPr>
          <a:xfrm>
            <a:off x="812800" y="1219200"/>
            <a:ext cx="5363210"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Where questions come from</a:t>
            </a:r>
            <a:endParaRPr lang="en-US" sz="3600" dirty="0"/>
          </a:p>
        </p:txBody>
      </p:sp>
      <p:sp>
        <p:nvSpPr>
          <p:cNvPr id="5" name="Text 2"/>
          <p:cNvSpPr txBox="1"/>
          <p:nvPr/>
        </p:nvSpPr>
        <p:spPr>
          <a:xfrm>
            <a:off x="812800" y="2540000"/>
            <a:ext cx="5363210" cy="282575"/>
          </a:xfrm>
          <a:prstGeom prst="rect">
            <a:avLst/>
          </a:prstGeom>
          <a:noFill/>
          <a:ln/>
        </p:spPr>
        <p:txBody>
          <a:bodyPr wrap="square" lIns="0" tIns="0" rIns="0" bIns="0" rtlCol="0" anchor="t"/>
          <a:lstStyle/>
          <a:p>
            <a:pPr algn="l" indent="0" marL="0">
              <a:lnSpc>
                <a:spcPts val="2030"/>
              </a:lnSpc>
              <a:buNone/>
            </a:pPr>
            <a:r>
              <a:rPr lang="en-US" sz="1500" b="1" dirty="0">
                <a:solidFill>
                  <a:srgbClr val="15161D"/>
                </a:solidFill>
                <a:latin typeface="Cambria" pitchFamily="34" charset="0"/>
                <a:ea typeface="Cambria" pitchFamily="34" charset="-122"/>
                <a:cs typeface="Cambria" pitchFamily="34" charset="-120"/>
              </a:rPr>
              <a:t>Literature</a:t>
            </a:r>
            <a:pPr algn="l" indent="0" marL="0">
              <a:lnSpc>
                <a:spcPts val="2030"/>
              </a:lnSpc>
              <a:buNone/>
            </a:pPr>
            <a:r>
              <a:rPr lang="en-US" sz="1500" dirty="0">
                <a:solidFill>
                  <a:srgbClr val="15161D"/>
                </a:solidFill>
                <a:latin typeface="Cambria" pitchFamily="34" charset="0"/>
                <a:ea typeface="Cambria" pitchFamily="34" charset="-122"/>
                <a:cs typeface="Cambria" pitchFamily="34" charset="-120"/>
              </a:rPr>
              <a:t> · which key problems are unsolved?</a:t>
            </a:r>
            <a:endParaRPr lang="en-US" sz="1500" dirty="0"/>
          </a:p>
        </p:txBody>
      </p:sp>
      <p:sp>
        <p:nvSpPr>
          <p:cNvPr id="6" name="Text 3"/>
          <p:cNvSpPr txBox="1"/>
          <p:nvPr/>
        </p:nvSpPr>
        <p:spPr>
          <a:xfrm>
            <a:off x="812800" y="3022600"/>
            <a:ext cx="5363210" cy="282575"/>
          </a:xfrm>
          <a:prstGeom prst="rect">
            <a:avLst/>
          </a:prstGeom>
          <a:noFill/>
          <a:ln/>
        </p:spPr>
        <p:txBody>
          <a:bodyPr wrap="square" lIns="0" tIns="0" rIns="0" bIns="0" rtlCol="0" anchor="t"/>
          <a:lstStyle/>
          <a:p>
            <a:pPr algn="l" indent="0" marL="0">
              <a:lnSpc>
                <a:spcPts val="2030"/>
              </a:lnSpc>
              <a:buNone/>
            </a:pPr>
            <a:r>
              <a:rPr lang="en-US" sz="1500" b="1" dirty="0">
                <a:solidFill>
                  <a:srgbClr val="15161D"/>
                </a:solidFill>
                <a:latin typeface="Cambria" pitchFamily="34" charset="0"/>
                <a:ea typeface="Cambria" pitchFamily="34" charset="-122"/>
                <a:cs typeface="Cambria" pitchFamily="34" charset="-120"/>
              </a:rPr>
              <a:t>Events</a:t>
            </a:r>
            <a:pPr algn="l" indent="0" marL="0">
              <a:lnSpc>
                <a:spcPts val="2030"/>
              </a:lnSpc>
              <a:buNone/>
            </a:pPr>
            <a:r>
              <a:rPr lang="en-US" sz="1500" dirty="0">
                <a:solidFill>
                  <a:srgbClr val="15161D"/>
                </a:solidFill>
                <a:latin typeface="Cambria" pitchFamily="34" charset="0"/>
                <a:ea typeface="Cambria" pitchFamily="34" charset="-122"/>
                <a:cs typeface="Cambria" pitchFamily="34" charset="-120"/>
              </a:rPr>
              <a:t> · what is happening, and how do we explain it?</a:t>
            </a:r>
            <a:endParaRPr lang="en-US" sz="1500" dirty="0"/>
          </a:p>
        </p:txBody>
      </p:sp>
      <p:sp>
        <p:nvSpPr>
          <p:cNvPr id="7" name="Text 4"/>
          <p:cNvSpPr txBox="1"/>
          <p:nvPr/>
        </p:nvSpPr>
        <p:spPr>
          <a:xfrm>
            <a:off x="812800" y="3505200"/>
            <a:ext cx="5363210" cy="282575"/>
          </a:xfrm>
          <a:prstGeom prst="rect">
            <a:avLst/>
          </a:prstGeom>
          <a:noFill/>
          <a:ln/>
        </p:spPr>
        <p:txBody>
          <a:bodyPr wrap="square" lIns="0" tIns="0" rIns="0" bIns="0" rtlCol="0" anchor="t"/>
          <a:lstStyle/>
          <a:p>
            <a:pPr algn="l" indent="0" marL="0">
              <a:lnSpc>
                <a:spcPts val="2030"/>
              </a:lnSpc>
              <a:buNone/>
            </a:pPr>
            <a:r>
              <a:rPr lang="en-US" sz="1500" b="1" dirty="0">
                <a:solidFill>
                  <a:srgbClr val="15161D"/>
                </a:solidFill>
                <a:latin typeface="Cambria" pitchFamily="34" charset="0"/>
                <a:ea typeface="Cambria" pitchFamily="34" charset="-122"/>
                <a:cs typeface="Cambria" pitchFamily="34" charset="-120"/>
              </a:rPr>
              <a:t>Circumstance</a:t>
            </a:r>
            <a:pPr algn="l" indent="0" marL="0">
              <a:lnSpc>
                <a:spcPts val="2030"/>
              </a:lnSpc>
              <a:buNone/>
            </a:pPr>
            <a:r>
              <a:rPr lang="en-US" sz="1500" dirty="0">
                <a:solidFill>
                  <a:srgbClr val="15161D"/>
                </a:solidFill>
                <a:latin typeface="Cambria" pitchFamily="34" charset="0"/>
                <a:ea typeface="Cambria" pitchFamily="34" charset="-122"/>
                <a:cs typeface="Cambria" pitchFamily="34" charset="-120"/>
              </a:rPr>
              <a:t> · it annoys me that no one can answer this</a:t>
            </a:r>
            <a:endParaRPr lang="en-US" sz="1500" dirty="0"/>
          </a:p>
        </p:txBody>
      </p:sp>
      <p:sp>
        <p:nvSpPr>
          <p:cNvPr id="8" name="Text 5"/>
          <p:cNvSpPr txBox="1"/>
          <p:nvPr/>
        </p:nvSpPr>
        <p:spPr>
          <a:xfrm>
            <a:off x="812800" y="3987800"/>
            <a:ext cx="5363210" cy="282575"/>
          </a:xfrm>
          <a:prstGeom prst="rect">
            <a:avLst/>
          </a:prstGeom>
          <a:noFill/>
          <a:ln/>
        </p:spPr>
        <p:txBody>
          <a:bodyPr wrap="square" lIns="0" tIns="0" rIns="0" bIns="0" rtlCol="0" anchor="t"/>
          <a:lstStyle/>
          <a:p>
            <a:pPr algn="l" indent="0" marL="0">
              <a:lnSpc>
                <a:spcPts val="2030"/>
              </a:lnSpc>
              <a:buNone/>
            </a:pPr>
            <a:r>
              <a:rPr lang="en-US" sz="1500" b="1" dirty="0">
                <a:solidFill>
                  <a:srgbClr val="15161D"/>
                </a:solidFill>
                <a:latin typeface="Cambria" pitchFamily="34" charset="0"/>
                <a:ea typeface="Cambria" pitchFamily="34" charset="-122"/>
                <a:cs typeface="Cambria" pitchFamily="34" charset="-120"/>
              </a:rPr>
              <a:t>Disposition</a:t>
            </a:r>
            <a:pPr algn="l" indent="0" marL="0">
              <a:lnSpc>
                <a:spcPts val="2030"/>
              </a:lnSpc>
              <a:buNone/>
            </a:pPr>
            <a:r>
              <a:rPr lang="en-US" sz="1500" dirty="0">
                <a:solidFill>
                  <a:srgbClr val="15161D"/>
                </a:solidFill>
                <a:latin typeface="Cambria" pitchFamily="34" charset="0"/>
                <a:ea typeface="Cambria" pitchFamily="34" charset="-122"/>
                <a:cs typeface="Cambria" pitchFamily="34" charset="-120"/>
              </a:rPr>
              <a:t> · I just love working on X</a:t>
            </a:r>
            <a:endParaRPr lang="en-US" sz="1500" dirty="0"/>
          </a:p>
        </p:txBody>
      </p:sp>
      <p:sp>
        <p:nvSpPr>
          <p:cNvPr id="9" name="Text 6"/>
          <p:cNvSpPr txBox="1"/>
          <p:nvPr/>
        </p:nvSpPr>
        <p:spPr>
          <a:xfrm>
            <a:off x="812800" y="4470400"/>
            <a:ext cx="5363210" cy="282575"/>
          </a:xfrm>
          <a:prstGeom prst="rect">
            <a:avLst/>
          </a:prstGeom>
          <a:noFill/>
          <a:ln/>
        </p:spPr>
        <p:txBody>
          <a:bodyPr wrap="square" lIns="0" tIns="0" rIns="0" bIns="0" rtlCol="0" anchor="t"/>
          <a:lstStyle/>
          <a:p>
            <a:pPr algn="l" indent="0" marL="0">
              <a:lnSpc>
                <a:spcPts val="2030"/>
              </a:lnSpc>
              <a:buNone/>
            </a:pPr>
            <a:r>
              <a:rPr lang="en-US" sz="1500" b="1" dirty="0">
                <a:solidFill>
                  <a:srgbClr val="15161D"/>
                </a:solidFill>
                <a:latin typeface="Cambria" pitchFamily="34" charset="0"/>
                <a:ea typeface="Cambria" pitchFamily="34" charset="-122"/>
                <a:cs typeface="Cambria" pitchFamily="34" charset="-120"/>
              </a:rPr>
              <a:t>Sociality</a:t>
            </a:r>
            <a:pPr algn="l" indent="0" marL="0">
              <a:lnSpc>
                <a:spcPts val="2030"/>
              </a:lnSpc>
              <a:buNone/>
            </a:pPr>
            <a:r>
              <a:rPr lang="en-US" sz="1500" dirty="0">
                <a:solidFill>
                  <a:srgbClr val="15161D"/>
                </a:solidFill>
                <a:latin typeface="Cambria" pitchFamily="34" charset="0"/>
                <a:ea typeface="Cambria" pitchFamily="34" charset="-122"/>
                <a:cs typeface="Cambria" pitchFamily="34" charset="-120"/>
              </a:rPr>
              <a:t> · all the cool kids work on X. Should I, or shouldn’t I?</a:t>
            </a:r>
            <a:endParaRPr lang="en-US" sz="1500" dirty="0"/>
          </a:p>
        </p:txBody>
      </p:sp>
      <p:sp>
        <p:nvSpPr>
          <p:cNvPr id="10" name="Text 7"/>
          <p:cNvSpPr txBox="1"/>
          <p:nvPr/>
        </p:nvSpPr>
        <p:spPr>
          <a:xfrm>
            <a:off x="812800" y="6273800"/>
            <a:ext cx="5363210"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Partly a matter of feel: experienced researchers know one when they see it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EEE4"/>
        </a:solidFill>
      </p:bgPr>
    </p:bg>
    <p:spTree>
      <p:nvGrpSpPr>
        <p:cNvPr id="1" name=""/>
        <p:cNvGrpSpPr/>
        <p:nvPr/>
      </p:nvGrpSpPr>
      <p:grpSpPr>
        <a:xfrm>
          <a:off x="0" y="0"/>
          <a:ext cx="0" cy="0"/>
          <a:chOff x="0" y="0"/>
          <a:chExt cx="0" cy="0"/>
        </a:xfrm>
      </p:grpSpPr>
      <p:pic>
        <p:nvPicPr>
          <p:cNvPr id="2" name="Image 0" descr="A researcher climbs a spiral staircase whose steps alternate between orange notebook pages and blue journal volumes, while a paper automaton lights the next step.">    </p:cNvPr>
          <p:cNvPicPr>
            <a:picLocks noChangeAspect="1"/>
          </p:cNvPicPr>
          <p:nvPr/>
        </p:nvPicPr>
        <p:blipFill>
          <a:blip r:embed="rId1"/>
          <a:stretch>
            <a:fillRect/>
          </a:stretch>
        </p:blipFill>
        <p:spPr>
          <a:xfrm>
            <a:off x="6604000" y="0"/>
            <a:ext cx="5588000" cy="6858000"/>
          </a:xfrm>
          <a:prstGeom prst="rect">
            <a:avLst/>
          </a:prstGeom>
        </p:spPr>
      </p:pic>
      <p:sp>
        <p:nvSpPr>
          <p:cNvPr id="3" name="Text 0"/>
          <p:cNvSpPr txBox="1"/>
          <p:nvPr/>
        </p:nvSpPr>
        <p:spPr>
          <a:xfrm>
            <a:off x="812800" y="812800"/>
            <a:ext cx="5363210"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QUESTION AND LITERATURE</a:t>
            </a:r>
            <a:endParaRPr lang="en-US" sz="1200" dirty="0"/>
          </a:p>
        </p:txBody>
      </p:sp>
      <p:sp>
        <p:nvSpPr>
          <p:cNvPr id="4" name="Text 1"/>
          <p:cNvSpPr txBox="1"/>
          <p:nvPr/>
        </p:nvSpPr>
        <p:spPr>
          <a:xfrm>
            <a:off x="812800" y="1219200"/>
            <a:ext cx="5363210"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Each one steers the other</a:t>
            </a:r>
            <a:endParaRPr lang="en-US" sz="3600" dirty="0"/>
          </a:p>
        </p:txBody>
      </p:sp>
      <p:sp>
        <p:nvSpPr>
          <p:cNvPr id="5" name="Text 2"/>
          <p:cNvSpPr txBox="1"/>
          <p:nvPr/>
        </p:nvSpPr>
        <p:spPr>
          <a:xfrm>
            <a:off x="812800" y="2453481"/>
            <a:ext cx="5363210" cy="594320"/>
          </a:xfrm>
          <a:prstGeom prst="rect">
            <a:avLst/>
          </a:prstGeom>
          <a:noFill/>
          <a:ln/>
        </p:spPr>
        <p:txBody>
          <a:bodyPr wrap="square" lIns="0" tIns="0" rIns="0" bIns="0" rtlCol="0" anchor="t"/>
          <a:lstStyle/>
          <a:p>
            <a:pPr algn="l" indent="0" marL="0">
              <a:lnSpc>
                <a:spcPts val="2240"/>
              </a:lnSpc>
              <a:buNone/>
            </a:pPr>
            <a:r>
              <a:rPr lang="en-US" sz="1600" dirty="0">
                <a:solidFill>
                  <a:srgbClr val="4A4A55"/>
                </a:solidFill>
                <a:latin typeface="Cambria" pitchFamily="34" charset="0"/>
                <a:ea typeface="Cambria" pitchFamily="34" charset="-122"/>
                <a:cs typeface="Cambria" pitchFamily="34" charset="-120"/>
              </a:rPr>
              <a:t>Not a question from thin air, nor one that waits for a systematic review.</a:t>
            </a:r>
            <a:endParaRPr lang="en-US" sz="1600" dirty="0"/>
          </a:p>
        </p:txBody>
      </p:sp>
      <p:sp>
        <p:nvSpPr>
          <p:cNvPr id="6" name="Shape 3"/>
          <p:cNvSpPr/>
          <p:nvPr/>
        </p:nvSpPr>
        <p:spPr>
          <a:xfrm>
            <a:off x="812800" y="3556000"/>
            <a:ext cx="4699000" cy="488950"/>
          </a:xfrm>
          <a:prstGeom prst="roundRect">
            <a:avLst>
              <a:gd name="adj" fmla="val 50000"/>
            </a:avLst>
          </a:prstGeom>
          <a:solidFill>
            <a:srgbClr val="F2552C"/>
          </a:solidFill>
          <a:ln/>
        </p:spPr>
      </p:sp>
      <p:sp>
        <p:nvSpPr>
          <p:cNvPr id="7" name="Text 4"/>
          <p:cNvSpPr txBox="1"/>
          <p:nvPr/>
        </p:nvSpPr>
        <p:spPr>
          <a:xfrm>
            <a:off x="1016000" y="3683000"/>
            <a:ext cx="4421378"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1 · Draft a topic or question</a:t>
            </a:r>
            <a:endParaRPr lang="en-US" sz="1600" dirty="0"/>
          </a:p>
        </p:txBody>
      </p:sp>
      <p:sp>
        <p:nvSpPr>
          <p:cNvPr id="8" name="Shape 5"/>
          <p:cNvSpPr/>
          <p:nvPr/>
        </p:nvSpPr>
        <p:spPr>
          <a:xfrm>
            <a:off x="812800" y="4254500"/>
            <a:ext cx="4699000" cy="488950"/>
          </a:xfrm>
          <a:prstGeom prst="roundRect">
            <a:avLst>
              <a:gd name="adj" fmla="val 50000"/>
            </a:avLst>
          </a:prstGeom>
          <a:solidFill>
            <a:srgbClr val="2F4FA8"/>
          </a:solidFill>
          <a:ln/>
        </p:spPr>
      </p:sp>
      <p:sp>
        <p:nvSpPr>
          <p:cNvPr id="9" name="Text 6"/>
          <p:cNvSpPr txBox="1"/>
          <p:nvPr/>
        </p:nvSpPr>
        <p:spPr>
          <a:xfrm>
            <a:off x="1016000" y="4381500"/>
            <a:ext cx="4421378" cy="260350"/>
          </a:xfrm>
          <a:prstGeom prst="rect">
            <a:avLst/>
          </a:prstGeom>
          <a:noFill/>
          <a:ln/>
        </p:spPr>
        <p:txBody>
          <a:bodyPr wrap="square" lIns="0" tIns="0" rIns="0" bIns="0" rtlCol="0" anchor="t"/>
          <a:lstStyle/>
          <a:p>
            <a:pPr algn="l" indent="0" marL="0">
              <a:lnSpc>
                <a:spcPts val="1920"/>
              </a:lnSpc>
              <a:buNone/>
            </a:pPr>
            <a:r>
              <a:rPr lang="en-US" sz="1600" b="1" dirty="0">
                <a:solidFill>
                  <a:srgbClr val="F3EEE4"/>
                </a:solidFill>
                <a:latin typeface="Arial" pitchFamily="34" charset="0"/>
                <a:ea typeface="Arial" pitchFamily="34" charset="-122"/>
                <a:cs typeface="Arial" pitchFamily="34" charset="-120"/>
              </a:rPr>
              <a:t>2 · Search it: is it answered?</a:t>
            </a:r>
            <a:endParaRPr lang="en-US" sz="1600" dirty="0"/>
          </a:p>
        </p:txBody>
      </p:sp>
      <p:sp>
        <p:nvSpPr>
          <p:cNvPr id="10" name="Shape 7"/>
          <p:cNvSpPr/>
          <p:nvPr/>
        </p:nvSpPr>
        <p:spPr>
          <a:xfrm>
            <a:off x="812800" y="4953000"/>
            <a:ext cx="4699000" cy="488950"/>
          </a:xfrm>
          <a:prstGeom prst="roundRect">
            <a:avLst>
              <a:gd name="adj" fmla="val 50000"/>
            </a:avLst>
          </a:prstGeom>
          <a:solidFill>
            <a:srgbClr val="15161D"/>
          </a:solidFill>
          <a:ln/>
        </p:spPr>
      </p:sp>
      <p:sp>
        <p:nvSpPr>
          <p:cNvPr id="11" name="Text 8"/>
          <p:cNvSpPr txBox="1"/>
          <p:nvPr/>
        </p:nvSpPr>
        <p:spPr>
          <a:xfrm>
            <a:off x="1016000" y="5080000"/>
            <a:ext cx="4421378" cy="260350"/>
          </a:xfrm>
          <a:prstGeom prst="rect">
            <a:avLst/>
          </a:prstGeom>
          <a:noFill/>
          <a:ln/>
        </p:spPr>
        <p:txBody>
          <a:bodyPr wrap="square" lIns="0" tIns="0" rIns="0" bIns="0" rtlCol="0" anchor="t"/>
          <a:lstStyle/>
          <a:p>
            <a:pPr algn="l" indent="0" marL="0">
              <a:lnSpc>
                <a:spcPts val="1920"/>
              </a:lnSpc>
              <a:buNone/>
            </a:pPr>
            <a:r>
              <a:rPr lang="en-US" sz="1600" b="1" dirty="0">
                <a:solidFill>
                  <a:srgbClr val="F3EEE4"/>
                </a:solidFill>
                <a:latin typeface="Arial" pitchFamily="34" charset="0"/>
                <a:ea typeface="Arial" pitchFamily="34" charset="-122"/>
                <a:cs typeface="Arial" pitchFamily="34" charset="-120"/>
              </a:rPr>
              <a:t>3 · Refine what remains, and repeat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EE4"/>
        </a:solidFill>
      </p:bgPr>
    </p:bg>
    <p:spTree>
      <p:nvGrpSpPr>
        <p:cNvPr id="1" name=""/>
        <p:cNvGrpSpPr/>
        <p:nvPr/>
      </p:nvGrpSpPr>
      <p:grpSpPr>
        <a:xfrm>
          <a:off x="0" y="0"/>
          <a:ext cx="0" cy="0"/>
          <a:chOff x="0" y="0"/>
          <a:chExt cx="0" cy="0"/>
        </a:xfrm>
      </p:grpSpPr>
      <p:pic>
        <p:nvPicPr>
          <p:cNvPr id="2" name="Image 0" descr="A researcher stands at a fork between an enormous crowded mountain and a modest hill with a single path, while a paper automaton tugs toward the hill.">    </p:cNvPr>
          <p:cNvPicPr>
            <a:picLocks noChangeAspect="1"/>
          </p:cNvPicPr>
          <p:nvPr/>
        </p:nvPicPr>
        <p:blipFill>
          <a:blip r:embed="rId1"/>
          <a:stretch>
            <a:fillRect/>
          </a:stretch>
        </p:blipFill>
        <p:spPr>
          <a:xfrm>
            <a:off x="6604000" y="0"/>
            <a:ext cx="5588000" cy="6858000"/>
          </a:xfrm>
          <a:prstGeom prst="rect">
            <a:avLst/>
          </a:prstGeom>
        </p:spPr>
      </p:pic>
      <p:sp>
        <p:nvSpPr>
          <p:cNvPr id="3" name="Text 0"/>
          <p:cNvSpPr txBox="1"/>
          <p:nvPr/>
        </p:nvSpPr>
        <p:spPr>
          <a:xfrm>
            <a:off x="812800" y="812800"/>
            <a:ext cx="5363210"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PRACTICALITIES</a:t>
            </a:r>
            <a:endParaRPr lang="en-US" sz="1200" dirty="0"/>
          </a:p>
        </p:txBody>
      </p:sp>
      <p:sp>
        <p:nvSpPr>
          <p:cNvPr id="4" name="Text 1"/>
          <p:cNvSpPr txBox="1"/>
          <p:nvPr/>
        </p:nvSpPr>
        <p:spPr>
          <a:xfrm>
            <a:off x="812800" y="1219200"/>
            <a:ext cx="5363210"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Does it need an answer, and can you give one?</a:t>
            </a:r>
            <a:endParaRPr lang="en-US" sz="3600" dirty="0"/>
          </a:p>
        </p:txBody>
      </p:sp>
      <p:sp>
        <p:nvSpPr>
          <p:cNvPr id="5" name="Shape 2"/>
          <p:cNvSpPr/>
          <p:nvPr/>
        </p:nvSpPr>
        <p:spPr>
          <a:xfrm>
            <a:off x="812800" y="3048000"/>
            <a:ext cx="0" cy="513060"/>
          </a:xfrm>
          <a:prstGeom prst="line">
            <a:avLst/>
          </a:prstGeom>
          <a:noFill/>
          <a:ln w="38100">
            <a:solidFill>
              <a:srgbClr val="F2552C"/>
            </a:solidFill>
            <a:prstDash val="solid"/>
          </a:ln>
        </p:spPr>
      </p:sp>
      <p:sp>
        <p:nvSpPr>
          <p:cNvPr id="6" name="Text 3"/>
          <p:cNvSpPr txBox="1"/>
          <p:nvPr/>
        </p:nvSpPr>
        <p:spPr>
          <a:xfrm>
            <a:off x="1028700" y="3048000"/>
            <a:ext cx="5140833"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So what?</a:t>
            </a:r>
            <a:endParaRPr lang="en-US" sz="1600" dirty="0"/>
          </a:p>
        </p:txBody>
      </p:sp>
      <p:sp>
        <p:nvSpPr>
          <p:cNvPr id="7" name="Text 4"/>
          <p:cNvSpPr txBox="1"/>
          <p:nvPr/>
        </p:nvSpPr>
        <p:spPr>
          <a:xfrm>
            <a:off x="1028700" y="3321050"/>
            <a:ext cx="5140833" cy="265410"/>
          </a:xfrm>
          <a:prstGeom prst="rect">
            <a:avLst/>
          </a:prstGeom>
          <a:noFill/>
          <a:ln/>
        </p:spPr>
        <p:txBody>
          <a:bodyPr wrap="square" lIns="0" tIns="0" rIns="0" bIns="0" rtlCol="0" anchor="t"/>
          <a:lstStyle/>
          <a:p>
            <a:pPr algn="l" indent="0" marL="0">
              <a:lnSpc>
                <a:spcPts val="1890"/>
              </a:lnSpc>
              <a:buNone/>
            </a:pPr>
            <a:r>
              <a:rPr lang="en-US" sz="1400" dirty="0">
                <a:solidFill>
                  <a:srgbClr val="4A4A55"/>
                </a:solidFill>
                <a:latin typeface="Cambria" pitchFamily="34" charset="0"/>
                <a:ea typeface="Cambria" pitchFamily="34" charset="-122"/>
                <a:cs typeface="Cambria" pitchFamily="34" charset="-120"/>
              </a:rPr>
              <a:t>Is the answer necessary, or does it provoke a shrug?</a:t>
            </a:r>
            <a:endParaRPr lang="en-US" sz="1400" dirty="0"/>
          </a:p>
        </p:txBody>
      </p:sp>
      <p:sp>
        <p:nvSpPr>
          <p:cNvPr id="8" name="Shape 5"/>
          <p:cNvSpPr/>
          <p:nvPr/>
        </p:nvSpPr>
        <p:spPr>
          <a:xfrm>
            <a:off x="812800" y="3937000"/>
            <a:ext cx="0" cy="513060"/>
          </a:xfrm>
          <a:prstGeom prst="line">
            <a:avLst/>
          </a:prstGeom>
          <a:noFill/>
          <a:ln w="38100">
            <a:solidFill>
              <a:srgbClr val="2F4FA8"/>
            </a:solidFill>
            <a:prstDash val="solid"/>
          </a:ln>
        </p:spPr>
      </p:sp>
      <p:sp>
        <p:nvSpPr>
          <p:cNvPr id="9" name="Text 6"/>
          <p:cNvSpPr txBox="1"/>
          <p:nvPr/>
        </p:nvSpPr>
        <p:spPr>
          <a:xfrm>
            <a:off x="1028700" y="3937000"/>
            <a:ext cx="5140833"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Doable?</a:t>
            </a:r>
            <a:endParaRPr lang="en-US" sz="1600" dirty="0"/>
          </a:p>
        </p:txBody>
      </p:sp>
      <p:sp>
        <p:nvSpPr>
          <p:cNvPr id="10" name="Text 7"/>
          <p:cNvSpPr txBox="1"/>
          <p:nvPr/>
        </p:nvSpPr>
        <p:spPr>
          <a:xfrm>
            <a:off x="1028700" y="4210050"/>
            <a:ext cx="5140833" cy="265410"/>
          </a:xfrm>
          <a:prstGeom prst="rect">
            <a:avLst/>
          </a:prstGeom>
          <a:noFill/>
          <a:ln/>
        </p:spPr>
        <p:txBody>
          <a:bodyPr wrap="square" lIns="0" tIns="0" rIns="0" bIns="0" rtlCol="0" anchor="t"/>
          <a:lstStyle/>
          <a:p>
            <a:pPr algn="l" indent="0" marL="0">
              <a:lnSpc>
                <a:spcPts val="1890"/>
              </a:lnSpc>
              <a:buNone/>
            </a:pPr>
            <a:r>
              <a:rPr lang="en-US" sz="1400" dirty="0">
                <a:solidFill>
                  <a:srgbClr val="4A4A55"/>
                </a:solidFill>
                <a:latin typeface="Cambria" pitchFamily="34" charset="0"/>
                <a:ea typeface="Cambria" pitchFamily="34" charset="-122"/>
                <a:cs typeface="Cambria" pitchFamily="34" charset="-120"/>
              </a:rPr>
              <a:t>Or would it take 100 years, a billion dollars, a vast team?</a:t>
            </a:r>
            <a:endParaRPr lang="en-US" sz="1400" dirty="0"/>
          </a:p>
        </p:txBody>
      </p:sp>
      <p:sp>
        <p:nvSpPr>
          <p:cNvPr id="11" name="Shape 8"/>
          <p:cNvSpPr/>
          <p:nvPr/>
        </p:nvSpPr>
        <p:spPr>
          <a:xfrm>
            <a:off x="812800" y="4826000"/>
            <a:ext cx="0" cy="513060"/>
          </a:xfrm>
          <a:prstGeom prst="line">
            <a:avLst/>
          </a:prstGeom>
          <a:noFill/>
          <a:ln w="38100">
            <a:solidFill>
              <a:srgbClr val="15161D"/>
            </a:solidFill>
            <a:prstDash val="solid"/>
          </a:ln>
        </p:spPr>
      </p:sp>
      <p:sp>
        <p:nvSpPr>
          <p:cNvPr id="12" name="Text 9"/>
          <p:cNvSpPr txBox="1"/>
          <p:nvPr/>
        </p:nvSpPr>
        <p:spPr>
          <a:xfrm>
            <a:off x="1028700" y="4826000"/>
            <a:ext cx="5140833" cy="260350"/>
          </a:xfrm>
          <a:prstGeom prst="rect">
            <a:avLst/>
          </a:prstGeom>
          <a:noFill/>
          <a:ln/>
        </p:spPr>
        <p:txBody>
          <a:bodyPr wrap="square" lIns="0" tIns="0" rIns="0" bIns="0" rtlCol="0" anchor="t"/>
          <a:lstStyle/>
          <a:p>
            <a:pPr algn="l" indent="0" marL="0">
              <a:lnSpc>
                <a:spcPts val="1920"/>
              </a:lnSpc>
              <a:buNone/>
            </a:pPr>
            <a:r>
              <a:rPr lang="en-US" sz="1600" b="1" dirty="0">
                <a:solidFill>
                  <a:srgbClr val="15161D"/>
                </a:solidFill>
                <a:latin typeface="Arial" pitchFamily="34" charset="0"/>
                <a:ea typeface="Arial" pitchFamily="34" charset="-122"/>
                <a:cs typeface="Arial" pitchFamily="34" charset="-120"/>
              </a:rPr>
              <a:t>Within reach?</a:t>
            </a:r>
            <a:endParaRPr lang="en-US" sz="1600" dirty="0"/>
          </a:p>
        </p:txBody>
      </p:sp>
      <p:sp>
        <p:nvSpPr>
          <p:cNvPr id="13" name="Text 10"/>
          <p:cNvSpPr txBox="1"/>
          <p:nvPr/>
        </p:nvSpPr>
        <p:spPr>
          <a:xfrm>
            <a:off x="1028700" y="5099050"/>
            <a:ext cx="5140833" cy="265410"/>
          </a:xfrm>
          <a:prstGeom prst="rect">
            <a:avLst/>
          </a:prstGeom>
          <a:noFill/>
          <a:ln/>
        </p:spPr>
        <p:txBody>
          <a:bodyPr wrap="square" lIns="0" tIns="0" rIns="0" bIns="0" rtlCol="0" anchor="t"/>
          <a:lstStyle/>
          <a:p>
            <a:pPr algn="l" indent="0" marL="0">
              <a:lnSpc>
                <a:spcPts val="1890"/>
              </a:lnSpc>
              <a:buNone/>
            </a:pPr>
            <a:r>
              <a:rPr lang="en-US" sz="1400" dirty="0">
                <a:solidFill>
                  <a:srgbClr val="4A4A55"/>
                </a:solidFill>
                <a:latin typeface="Cambria" pitchFamily="34" charset="0"/>
                <a:ea typeface="Cambria" pitchFamily="34" charset="-122"/>
                <a:cs typeface="Cambria" pitchFamily="34" charset="-120"/>
              </a:rPr>
              <a:t>Methods you know, data you can actually access.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EEE4"/>
        </a:solidFill>
      </p:bgPr>
    </p:bg>
    <p:spTree>
      <p:nvGrpSpPr>
        <p:cNvPr id="1" name=""/>
        <p:cNvGrpSpPr/>
        <p:nvPr/>
      </p:nvGrpSpPr>
      <p:grpSpPr>
        <a:xfrm>
          <a:off x="0" y="0"/>
          <a:ext cx="0" cy="0"/>
          <a:chOff x="0" y="0"/>
          <a:chExt cx="0" cy="0"/>
        </a:xfrm>
      </p:grpSpPr>
      <p:pic>
        <p:nvPicPr>
          <p:cNvPr id="2" name="Image 0" descr="Viewed from above, a vast table is crowded with pinned paper notes, and a lamp lights one small unmarked gap that the researcher is pointing at.">    </p:cNvPr>
          <p:cNvPicPr>
            <a:picLocks noChangeAspect="1"/>
          </p:cNvPicPr>
          <p:nvPr/>
        </p:nvPicPr>
        <p:blipFill>
          <a:blip r:embed="rId1"/>
          <a:srcRect l="0" r="0" t="0" b="0"/>
          <a:stretch/>
        </p:blipFill>
        <p:spPr>
          <a:xfrm>
            <a:off x="6604000" y="0"/>
            <a:ext cx="5588000" cy="6858000"/>
          </a:xfrm>
          <a:prstGeom prst="rect">
            <a:avLst/>
          </a:prstGeom>
        </p:spPr>
      </p:pic>
      <p:sp>
        <p:nvSpPr>
          <p:cNvPr id="3" name="Text 0"/>
          <p:cNvSpPr txBox="1"/>
          <p:nvPr/>
        </p:nvSpPr>
        <p:spPr>
          <a:xfrm>
            <a:off x="812800" y="812800"/>
            <a:ext cx="5363210"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NOVELTY</a:t>
            </a:r>
            <a:endParaRPr lang="en-US" sz="1200" dirty="0"/>
          </a:p>
        </p:txBody>
      </p:sp>
      <p:sp>
        <p:nvSpPr>
          <p:cNvPr id="4" name="Text 1"/>
          <p:cNvSpPr txBox="1"/>
          <p:nvPr/>
        </p:nvSpPr>
        <p:spPr>
          <a:xfrm>
            <a:off x="812800" y="1219200"/>
            <a:ext cx="5363210" cy="103108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Has it been answered before?</a:t>
            </a:r>
            <a:endParaRPr lang="en-US" sz="3600" dirty="0"/>
          </a:p>
        </p:txBody>
      </p:sp>
      <p:sp>
        <p:nvSpPr>
          <p:cNvPr id="5" name="Text 2"/>
          <p:cNvSpPr txBox="1"/>
          <p:nvPr/>
        </p:nvSpPr>
        <p:spPr>
          <a:xfrm>
            <a:off x="812800" y="2453481"/>
            <a:ext cx="5363210" cy="1406525"/>
          </a:xfrm>
          <a:prstGeom prst="rect">
            <a:avLst/>
          </a:prstGeom>
          <a:noFill/>
          <a:ln/>
        </p:spPr>
        <p:txBody>
          <a:bodyPr wrap="square" lIns="0" tIns="0" rIns="0" bIns="0" rtlCol="0" anchor="t"/>
          <a:lstStyle/>
          <a:p>
            <a:pPr marL="228600" indent="-228600">
              <a:lnSpc>
                <a:spcPts val="2180"/>
              </a:lnSpc>
              <a:buSzPct val="100000"/>
              <a:buChar char="•"/>
            </a:pPr>
            <a:r>
              <a:rPr lang="en-US" sz="1500" dirty="0">
                <a:solidFill>
                  <a:srgbClr val="3A3A44"/>
                </a:solidFill>
                <a:latin typeface="Cambria" pitchFamily="34" charset="0"/>
                <a:ea typeface="Cambria" pitchFamily="34" charset="-122"/>
                <a:cs typeface="Cambria" pitchFamily="34" charset="-120"/>
              </a:rPr>
              <a:t>Often not obvious: many literatures and disciplines work on related problems</a:t>
            </a:r>
            <a:endParaRPr lang="en-US" sz="1500" dirty="0"/>
          </a:p>
          <a:p>
            <a:pPr marL="228600" indent="-228600">
              <a:lnSpc>
                <a:spcPts val="2180"/>
              </a:lnSpc>
              <a:buSzPct val="100000"/>
              <a:buChar char="•"/>
            </a:pPr>
            <a:r>
              <a:rPr lang="en-US" sz="1500" dirty="0">
                <a:solidFill>
                  <a:srgbClr val="3A3A44"/>
                </a:solidFill>
                <a:latin typeface="Cambria" pitchFamily="34" charset="0"/>
                <a:ea typeface="Cambria" pitchFamily="34" charset="-122"/>
                <a:cs typeface="Cambria" pitchFamily="34" charset="-120"/>
              </a:rPr>
              <a:t>Is it novel for good reasons, or because no one needs it, or research can’t answer it?</a:t>
            </a:r>
            <a:endParaRPr lang="en-US" sz="1500" dirty="0"/>
          </a:p>
          <a:p>
            <a:pPr marL="228600" indent="-228600">
              <a:lnSpc>
                <a:spcPts val="2180"/>
              </a:lnSpc>
              <a:buSzPct val="100000"/>
              <a:buChar char="•"/>
            </a:pPr>
            <a:r>
              <a:rPr lang="en-US" sz="1500" dirty="0">
                <a:solidFill>
                  <a:srgbClr val="3A3A44"/>
                </a:solidFill>
                <a:latin typeface="Cambria" pitchFamily="34" charset="0"/>
                <a:ea typeface="Cambria" pitchFamily="34" charset="-122"/>
                <a:cs typeface="Cambria" pitchFamily="34" charset="-120"/>
              </a:rPr>
              <a:t>Will it stay novel while you work?</a:t>
            </a:r>
            <a:endParaRPr lang="en-US" sz="1500" dirty="0"/>
          </a:p>
        </p:txBody>
      </p:sp>
      <p:sp>
        <p:nvSpPr>
          <p:cNvPr id="6" name="Shape 3"/>
          <p:cNvSpPr/>
          <p:nvPr/>
        </p:nvSpPr>
        <p:spPr>
          <a:xfrm>
            <a:off x="812800" y="4063206"/>
            <a:ext cx="5207000" cy="889000"/>
          </a:xfrm>
          <a:prstGeom prst="roundRect">
            <a:avLst>
              <a:gd name="adj" fmla="val 14286"/>
            </a:avLst>
          </a:prstGeom>
          <a:solidFill>
            <a:srgbClr val="15161D"/>
          </a:solidFill>
          <a:ln/>
        </p:spPr>
      </p:sp>
      <p:sp>
        <p:nvSpPr>
          <p:cNvPr id="7" name="Text 4"/>
          <p:cNvSpPr txBox="1"/>
          <p:nvPr/>
        </p:nvSpPr>
        <p:spPr>
          <a:xfrm>
            <a:off x="1041400" y="4241006"/>
            <a:ext cx="4892294" cy="558800"/>
          </a:xfrm>
          <a:prstGeom prst="rect">
            <a:avLst/>
          </a:prstGeom>
          <a:noFill/>
          <a:ln/>
        </p:spPr>
        <p:txBody>
          <a:bodyPr wrap="square" lIns="0" tIns="0" rIns="0" bIns="0" rtlCol="0" anchor="t"/>
          <a:lstStyle/>
          <a:p>
            <a:pPr algn="l" indent="0" marL="0">
              <a:lnSpc>
                <a:spcPts val="2100"/>
              </a:lnSpc>
              <a:buNone/>
            </a:pPr>
            <a:r>
              <a:rPr lang="en-US" sz="1500" i="1" dirty="0">
                <a:solidFill>
                  <a:srgbClr val="F3EEE4"/>
                </a:solidFill>
                <a:latin typeface="Cambria" pitchFamily="34" charset="0"/>
                <a:ea typeface="Cambria" pitchFamily="34" charset="-122"/>
                <a:cs typeface="Cambria" pitchFamily="34" charset="-120"/>
              </a:rPr>
              <a:t>“No one has studied the impact of [next year’s model] on student learning” — true until it’s released.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F4FA8"/>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F9D9CC"/>
                </a:solidFill>
                <a:latin typeface="Arial" pitchFamily="34" charset="0"/>
                <a:ea typeface="Arial" pitchFamily="34" charset="-122"/>
                <a:cs typeface="Arial" pitchFamily="34" charset="-120"/>
              </a:rPr>
              <a:t>BREAKOUT GROUPS</a:t>
            </a:r>
            <a:endParaRPr lang="en-US" sz="1200" dirty="0"/>
          </a:p>
        </p:txBody>
      </p:sp>
      <p:sp>
        <p:nvSpPr>
          <p:cNvPr id="3" name="Text 1"/>
          <p:cNvSpPr txBox="1"/>
          <p:nvPr/>
        </p:nvSpPr>
        <p:spPr>
          <a:xfrm>
            <a:off x="812800" y="1244600"/>
            <a:ext cx="9810750" cy="1549400"/>
          </a:xfrm>
          <a:prstGeom prst="rect">
            <a:avLst/>
          </a:prstGeom>
          <a:noFill/>
          <a:ln/>
        </p:spPr>
        <p:txBody>
          <a:bodyPr wrap="square" lIns="0" tIns="0" rIns="0" bIns="0" rtlCol="0" anchor="t"/>
          <a:lstStyle/>
          <a:p>
            <a:pPr algn="l" indent="0" marL="0">
              <a:lnSpc>
                <a:spcPts val="6000"/>
              </a:lnSpc>
              <a:buNone/>
            </a:pPr>
            <a:r>
              <a:rPr lang="en-US" sz="6000" b="1" spc="-150" kern="0" dirty="0">
                <a:solidFill>
                  <a:srgbClr val="F3EEE4"/>
                </a:solidFill>
                <a:latin typeface="Arial" pitchFamily="34" charset="0"/>
                <a:ea typeface="Arial" pitchFamily="34" charset="-122"/>
                <a:cs typeface="Arial" pitchFamily="34" charset="-120"/>
              </a:rPr>
              <a:t>Everyone needs a candidate question.</a:t>
            </a:r>
            <a:endParaRPr lang="en-US" sz="6000" dirty="0"/>
          </a:p>
        </p:txBody>
      </p:sp>
      <p:sp>
        <p:nvSpPr>
          <p:cNvPr id="4" name="Shape 2"/>
          <p:cNvSpPr/>
          <p:nvPr/>
        </p:nvSpPr>
        <p:spPr>
          <a:xfrm>
            <a:off x="812800" y="3822700"/>
            <a:ext cx="2387600" cy="0"/>
          </a:xfrm>
          <a:prstGeom prst="line">
            <a:avLst/>
          </a:prstGeom>
          <a:noFill/>
          <a:ln w="25400">
            <a:solidFill>
              <a:srgbClr val="F3EEE4"/>
            </a:solidFill>
            <a:prstDash val="solid"/>
          </a:ln>
        </p:spPr>
      </p:sp>
      <p:sp>
        <p:nvSpPr>
          <p:cNvPr id="5" name="Text 3"/>
          <p:cNvSpPr txBox="1"/>
          <p:nvPr/>
        </p:nvSpPr>
        <p:spPr>
          <a:xfrm>
            <a:off x="812800" y="3987800"/>
            <a:ext cx="2459228" cy="594320"/>
          </a:xfrm>
          <a:prstGeom prst="rect">
            <a:avLst/>
          </a:prstGeom>
          <a:noFill/>
          <a:ln/>
        </p:spPr>
        <p:txBody>
          <a:bodyPr wrap="square" lIns="0" tIns="0" rIns="0" bIns="0" rtlCol="0" anchor="t"/>
          <a:lstStyle/>
          <a:p>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It doesn’t need to be your dissertation</a:t>
            </a:r>
            <a:endParaRPr lang="en-US" sz="1600" dirty="0"/>
          </a:p>
        </p:txBody>
      </p:sp>
      <p:sp>
        <p:nvSpPr>
          <p:cNvPr id="6" name="Shape 4"/>
          <p:cNvSpPr/>
          <p:nvPr/>
        </p:nvSpPr>
        <p:spPr>
          <a:xfrm>
            <a:off x="3454400" y="3822700"/>
            <a:ext cx="2387600" cy="0"/>
          </a:xfrm>
          <a:prstGeom prst="line">
            <a:avLst/>
          </a:prstGeom>
          <a:noFill/>
          <a:ln w="25400">
            <a:solidFill>
              <a:srgbClr val="F3EEE4"/>
            </a:solidFill>
            <a:prstDash val="solid"/>
          </a:ln>
        </p:spPr>
      </p:sp>
      <p:sp>
        <p:nvSpPr>
          <p:cNvPr id="7" name="Text 5"/>
          <p:cNvSpPr txBox="1"/>
          <p:nvPr/>
        </p:nvSpPr>
        <p:spPr>
          <a:xfrm>
            <a:off x="3454400" y="3987800"/>
            <a:ext cx="2459228" cy="594320"/>
          </a:xfrm>
          <a:prstGeom prst="rect">
            <a:avLst/>
          </a:prstGeom>
          <a:noFill/>
          <a:ln/>
        </p:spPr>
        <p:txBody>
          <a:bodyPr wrap="square" lIns="0" tIns="0" rIns="0" bIns="0" rtlCol="0" anchor="t"/>
          <a:lstStyle/>
          <a:p>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Work on a pseudo-topic together</a:t>
            </a:r>
            <a:endParaRPr lang="en-US" sz="1600" dirty="0"/>
          </a:p>
        </p:txBody>
      </p:sp>
      <p:sp>
        <p:nvSpPr>
          <p:cNvPr id="8" name="Shape 6"/>
          <p:cNvSpPr/>
          <p:nvPr/>
        </p:nvSpPr>
        <p:spPr>
          <a:xfrm>
            <a:off x="6096000" y="3822700"/>
            <a:ext cx="2387600" cy="0"/>
          </a:xfrm>
          <a:prstGeom prst="line">
            <a:avLst/>
          </a:prstGeom>
          <a:noFill/>
          <a:ln w="25400">
            <a:solidFill>
              <a:srgbClr val="F3EEE4"/>
            </a:solidFill>
            <a:prstDash val="solid"/>
          </a:ln>
        </p:spPr>
      </p:sp>
      <p:sp>
        <p:nvSpPr>
          <p:cNvPr id="9" name="Text 7"/>
          <p:cNvSpPr txBox="1"/>
          <p:nvPr/>
        </p:nvSpPr>
        <p:spPr>
          <a:xfrm>
            <a:off x="6096000" y="3987800"/>
            <a:ext cx="2459228" cy="594320"/>
          </a:xfrm>
          <a:prstGeom prst="rect">
            <a:avLst/>
          </a:prstGeom>
          <a:noFill/>
          <a:ln/>
        </p:spPr>
        <p:txBody>
          <a:bodyPr wrap="square" lIns="0" tIns="0" rIns="0" bIns="0" rtlCol="0" anchor="t"/>
          <a:lstStyle/>
          <a:p>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Test it against sources, practicalities and novelty</a:t>
            </a:r>
            <a:endParaRPr lang="en-US" sz="1600" dirty="0"/>
          </a:p>
        </p:txBody>
      </p:sp>
      <p:sp>
        <p:nvSpPr>
          <p:cNvPr id="10" name="Shape 8"/>
          <p:cNvSpPr/>
          <p:nvPr/>
        </p:nvSpPr>
        <p:spPr>
          <a:xfrm>
            <a:off x="8737600" y="3822700"/>
            <a:ext cx="2641600" cy="0"/>
          </a:xfrm>
          <a:prstGeom prst="line">
            <a:avLst/>
          </a:prstGeom>
          <a:noFill/>
          <a:ln w="25400">
            <a:solidFill>
              <a:srgbClr val="F3EEE4"/>
            </a:solidFill>
            <a:prstDash val="solid"/>
          </a:ln>
        </p:spPr>
      </p:sp>
      <p:sp>
        <p:nvSpPr>
          <p:cNvPr id="11" name="Text 9"/>
          <p:cNvSpPr txBox="1"/>
          <p:nvPr/>
        </p:nvSpPr>
        <p:spPr>
          <a:xfrm>
            <a:off x="8737600" y="3987800"/>
            <a:ext cx="2720848" cy="594320"/>
          </a:xfrm>
          <a:prstGeom prst="rect">
            <a:avLst/>
          </a:prstGeom>
          <a:noFill/>
          <a:ln/>
        </p:spPr>
        <p:txBody>
          <a:bodyPr wrap="square" lIns="0" tIns="0" rIns="0" bIns="0" rtlCol="0" anchor="t"/>
          <a:lstStyle/>
          <a:p>
            <a:pPr algn="l" indent="0" marL="0">
              <a:lnSpc>
                <a:spcPts val="2240"/>
              </a:lnSpc>
              <a:buNone/>
            </a:pPr>
            <a:r>
              <a:rPr lang="en-US" sz="1600" dirty="0">
                <a:solidFill>
                  <a:srgbClr val="F3EEE4"/>
                </a:solidFill>
                <a:latin typeface="Cambria" pitchFamily="34" charset="0"/>
                <a:ea typeface="Cambria" pitchFamily="34" charset="-122"/>
                <a:cs typeface="Cambria" pitchFamily="34" charset="-120"/>
              </a:rPr>
              <a:t>Write it down in the class workspace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IF TIME PERMITS · ABOUT 25 MINUTES</a:t>
            </a:r>
            <a:endParaRPr lang="en-US" sz="1200" dirty="0"/>
          </a:p>
        </p:txBody>
      </p:sp>
      <p:sp>
        <p:nvSpPr>
          <p:cNvPr id="3" name="Text 1"/>
          <p:cNvSpPr txBox="1"/>
          <p:nvPr/>
        </p:nvSpPr>
        <p:spPr>
          <a:xfrm>
            <a:off x="812800" y="12446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How the breakout works</a:t>
            </a:r>
            <a:endParaRPr lang="en-US" sz="3600" dirty="0"/>
          </a:p>
        </p:txBody>
      </p:sp>
      <p:sp>
        <p:nvSpPr>
          <p:cNvPr id="4" name="Text 2"/>
          <p:cNvSpPr txBox="1"/>
          <p:nvPr/>
        </p:nvSpPr>
        <p:spPr>
          <a:xfrm>
            <a:off x="812800" y="2159000"/>
            <a:ext cx="9810750" cy="312341"/>
          </a:xfrm>
          <a:prstGeom prst="rect">
            <a:avLst/>
          </a:prstGeom>
          <a:noFill/>
          <a:ln/>
        </p:spPr>
        <p:txBody>
          <a:bodyPr wrap="square" lIns="0" tIns="0" rIns="0" bIns="0" rtlCol="0" anchor="t"/>
          <a:lstStyle/>
          <a:p>
            <a:pPr algn="l" indent="0" marL="0">
              <a:lnSpc>
                <a:spcPts val="2210"/>
              </a:lnSpc>
              <a:buNone/>
            </a:pPr>
            <a:r>
              <a:rPr lang="en-US" sz="1700" b="1" dirty="0">
                <a:solidFill>
                  <a:srgbClr val="B83A16"/>
                </a:solidFill>
                <a:latin typeface="Arial" pitchFamily="34" charset="0"/>
                <a:ea typeface="Arial" pitchFamily="34" charset="-122"/>
                <a:cs typeface="Arial" pitchFamily="34" charset="-120"/>
              </a:rPr>
              <a:t>1</a:t>
            </a:r>
            <a:pPr algn="l" indent="0" marL="0">
              <a:lnSpc>
                <a:spcPts val="2210"/>
              </a:lnSpc>
              <a:buNone/>
            </a:pPr>
            <a:r>
              <a:rPr lang="en-US" sz="1700" dirty="0">
                <a:solidFill>
                  <a:srgbClr val="15161D"/>
                </a:solidFill>
                <a:latin typeface="Cambria" pitchFamily="34" charset="0"/>
                <a:ea typeface="Cambria" pitchFamily="34" charset="-122"/>
                <a:cs typeface="Cambria" pitchFamily="34" charset="-120"/>
              </a:rPr>
              <a:t> Join your breakout room (Rooms 1–4)</a:t>
            </a:r>
            <a:endParaRPr lang="en-US" sz="1700" dirty="0"/>
          </a:p>
        </p:txBody>
      </p:sp>
      <p:sp>
        <p:nvSpPr>
          <p:cNvPr id="5" name="Text 3"/>
          <p:cNvSpPr txBox="1"/>
          <p:nvPr/>
        </p:nvSpPr>
        <p:spPr>
          <a:xfrm>
            <a:off x="812800" y="2768600"/>
            <a:ext cx="9810750" cy="312341"/>
          </a:xfrm>
          <a:prstGeom prst="rect">
            <a:avLst/>
          </a:prstGeom>
          <a:noFill/>
          <a:ln/>
        </p:spPr>
        <p:txBody>
          <a:bodyPr wrap="square" lIns="0" tIns="0" rIns="0" bIns="0" rtlCol="0" anchor="t"/>
          <a:lstStyle/>
          <a:p>
            <a:pPr algn="l" indent="0" marL="0">
              <a:lnSpc>
                <a:spcPts val="2210"/>
              </a:lnSpc>
              <a:buNone/>
            </a:pPr>
            <a:r>
              <a:rPr lang="en-US" sz="1700" b="1" dirty="0">
                <a:solidFill>
                  <a:srgbClr val="B83A16"/>
                </a:solidFill>
                <a:latin typeface="Arial" pitchFamily="34" charset="0"/>
                <a:ea typeface="Arial" pitchFamily="34" charset="-122"/>
                <a:cs typeface="Arial" pitchFamily="34" charset="-120"/>
              </a:rPr>
              <a:t>2</a:t>
            </a:r>
            <a:pPr algn="l" indent="0" marL="0">
              <a:lnSpc>
                <a:spcPts val="2210"/>
              </a:lnSpc>
              <a:buNone/>
            </a:pPr>
            <a:r>
              <a:rPr lang="en-US" sz="1700" dirty="0">
                <a:solidFill>
                  <a:srgbClr val="15161D"/>
                </a:solidFill>
                <a:latin typeface="Cambria" pitchFamily="34" charset="0"/>
                <a:ea typeface="Cambria" pitchFamily="34" charset="-122"/>
                <a:cs typeface="Cambria" pitchFamily="34" charset="-120"/>
              </a:rPr>
              <a:t> Open the class doc → </a:t>
            </a:r>
            <a:pPr algn="l" indent="0" marL="0">
              <a:lnSpc>
                <a:spcPts val="2210"/>
              </a:lnSpc>
              <a:buNone/>
            </a:pPr>
            <a:r>
              <a:rPr lang="en-US" sz="1700" b="1" dirty="0">
                <a:solidFill>
                  <a:srgbClr val="15161D"/>
                </a:solidFill>
                <a:latin typeface="Cambria" pitchFamily="34" charset="0"/>
                <a:ea typeface="Cambria" pitchFamily="34" charset="-122"/>
                <a:cs typeface="Cambria" pitchFamily="34" charset="-120"/>
              </a:rPr>
              <a:t>Week 1 Collaboration</a:t>
            </a:r>
            <a:endParaRPr lang="en-US" sz="1700" dirty="0"/>
          </a:p>
        </p:txBody>
      </p:sp>
      <p:sp>
        <p:nvSpPr>
          <p:cNvPr id="6" name="Text 4"/>
          <p:cNvSpPr txBox="1"/>
          <p:nvPr/>
        </p:nvSpPr>
        <p:spPr>
          <a:xfrm>
            <a:off x="812800" y="3378200"/>
            <a:ext cx="9810750" cy="312341"/>
          </a:xfrm>
          <a:prstGeom prst="rect">
            <a:avLst/>
          </a:prstGeom>
          <a:noFill/>
          <a:ln/>
        </p:spPr>
        <p:txBody>
          <a:bodyPr wrap="square" lIns="0" tIns="0" rIns="0" bIns="0" rtlCol="0" anchor="t"/>
          <a:lstStyle/>
          <a:p>
            <a:pPr algn="l" indent="0" marL="0">
              <a:lnSpc>
                <a:spcPts val="2210"/>
              </a:lnSpc>
              <a:buNone/>
            </a:pPr>
            <a:r>
              <a:rPr lang="en-US" sz="1700" b="1" dirty="0">
                <a:solidFill>
                  <a:srgbClr val="B83A16"/>
                </a:solidFill>
                <a:latin typeface="Arial" pitchFamily="34" charset="0"/>
                <a:ea typeface="Arial" pitchFamily="34" charset="-122"/>
                <a:cs typeface="Arial" pitchFamily="34" charset="-120"/>
              </a:rPr>
              <a:t>3</a:t>
            </a:r>
            <a:pPr algn="l" indent="0" marL="0">
              <a:lnSpc>
                <a:spcPts val="2210"/>
              </a:lnSpc>
              <a:buNone/>
            </a:pPr>
            <a:r>
              <a:rPr lang="en-US" sz="1700" dirty="0">
                <a:solidFill>
                  <a:srgbClr val="15161D"/>
                </a:solidFill>
                <a:latin typeface="Cambria" pitchFamily="34" charset="0"/>
                <a:ea typeface="Cambria" pitchFamily="34" charset="-122"/>
                <a:cs typeface="Cambria" pitchFamily="34" charset="-120"/>
              </a:rPr>
              <a:t> Agree a pseudo-topic and a candidate question</a:t>
            </a:r>
            <a:endParaRPr lang="en-US" sz="1700" dirty="0"/>
          </a:p>
        </p:txBody>
      </p:sp>
      <p:sp>
        <p:nvSpPr>
          <p:cNvPr id="7" name="Text 5"/>
          <p:cNvSpPr txBox="1"/>
          <p:nvPr/>
        </p:nvSpPr>
        <p:spPr>
          <a:xfrm>
            <a:off x="812800" y="3987800"/>
            <a:ext cx="9810750" cy="312341"/>
          </a:xfrm>
          <a:prstGeom prst="rect">
            <a:avLst/>
          </a:prstGeom>
          <a:noFill/>
          <a:ln/>
        </p:spPr>
        <p:txBody>
          <a:bodyPr wrap="square" lIns="0" tIns="0" rIns="0" bIns="0" rtlCol="0" anchor="t"/>
          <a:lstStyle/>
          <a:p>
            <a:pPr algn="l" indent="0" marL="0">
              <a:lnSpc>
                <a:spcPts val="2210"/>
              </a:lnSpc>
              <a:buNone/>
            </a:pPr>
            <a:r>
              <a:rPr lang="en-US" sz="1700" b="1" dirty="0">
                <a:solidFill>
                  <a:srgbClr val="B83A16"/>
                </a:solidFill>
                <a:latin typeface="Arial" pitchFamily="34" charset="0"/>
                <a:ea typeface="Arial" pitchFamily="34" charset="-122"/>
                <a:cs typeface="Arial" pitchFamily="34" charset="-120"/>
              </a:rPr>
              <a:t>4</a:t>
            </a:r>
            <a:pPr algn="l" indent="0" marL="0">
              <a:lnSpc>
                <a:spcPts val="2210"/>
              </a:lnSpc>
              <a:buNone/>
            </a:pPr>
            <a:r>
              <a:rPr lang="en-US" sz="1700" dirty="0">
                <a:solidFill>
                  <a:srgbClr val="15161D"/>
                </a:solidFill>
                <a:latin typeface="Cambria" pitchFamily="34" charset="0"/>
                <a:ea typeface="Cambria" pitchFamily="34" charset="-122"/>
                <a:cs typeface="Cambria" pitchFamily="34" charset="-120"/>
              </a:rPr>
              <a:t> Test it: sources, practicalities, novelty, and an AI stress-test</a:t>
            </a:r>
            <a:endParaRPr lang="en-US" sz="1700" dirty="0"/>
          </a:p>
        </p:txBody>
      </p:sp>
      <p:sp>
        <p:nvSpPr>
          <p:cNvPr id="8" name="Text 6"/>
          <p:cNvSpPr txBox="1"/>
          <p:nvPr/>
        </p:nvSpPr>
        <p:spPr>
          <a:xfrm>
            <a:off x="812800" y="4597400"/>
            <a:ext cx="9810750" cy="312341"/>
          </a:xfrm>
          <a:prstGeom prst="rect">
            <a:avLst/>
          </a:prstGeom>
          <a:noFill/>
          <a:ln/>
        </p:spPr>
        <p:txBody>
          <a:bodyPr wrap="square" lIns="0" tIns="0" rIns="0" bIns="0" rtlCol="0" anchor="t"/>
          <a:lstStyle/>
          <a:p>
            <a:pPr algn="l" indent="0" marL="0">
              <a:lnSpc>
                <a:spcPts val="2210"/>
              </a:lnSpc>
              <a:buNone/>
            </a:pPr>
            <a:r>
              <a:rPr lang="en-US" sz="1700" b="1" dirty="0">
                <a:solidFill>
                  <a:srgbClr val="B83A16"/>
                </a:solidFill>
                <a:latin typeface="Arial" pitchFamily="34" charset="0"/>
                <a:ea typeface="Arial" pitchFamily="34" charset="-122"/>
                <a:cs typeface="Arial" pitchFamily="34" charset="-120"/>
              </a:rPr>
              <a:t>5</a:t>
            </a:r>
            <a:pPr algn="l" indent="0" marL="0">
              <a:lnSpc>
                <a:spcPts val="2210"/>
              </a:lnSpc>
              <a:buNone/>
            </a:pPr>
            <a:r>
              <a:rPr lang="en-US" sz="1700" dirty="0">
                <a:solidFill>
                  <a:srgbClr val="15161D"/>
                </a:solidFill>
                <a:latin typeface="Cambria" pitchFamily="34" charset="0"/>
                <a:ea typeface="Cambria" pitchFamily="34" charset="-122"/>
                <a:cs typeface="Cambria" pitchFamily="34" charset="-120"/>
              </a:rPr>
              <a:t> Back at 7:35: one question per room</a:t>
            </a:r>
            <a:endParaRPr lang="en-US" sz="1700" dirty="0"/>
          </a:p>
        </p:txBody>
      </p:sp>
      <p:sp>
        <p:nvSpPr>
          <p:cNvPr id="9" name="Text 7"/>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Class doc: first item in Course introduction on Canvas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EEE4"/>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83A16"/>
                </a:solidFill>
                <a:latin typeface="Arial" pitchFamily="34" charset="0"/>
                <a:ea typeface="Arial" pitchFamily="34" charset="-122"/>
                <a:cs typeface="Arial" pitchFamily="34" charset="-120"/>
              </a:rPr>
              <a:t>UNGRADED · THIS WEEK</a:t>
            </a:r>
            <a:endParaRPr lang="en-US" sz="1200" dirty="0"/>
          </a:p>
        </p:txBody>
      </p:sp>
      <p:sp>
        <p:nvSpPr>
          <p:cNvPr id="3" name="Text 1"/>
          <p:cNvSpPr txBox="1"/>
          <p:nvPr/>
        </p:nvSpPr>
        <p:spPr>
          <a:xfrm>
            <a:off x="812800" y="12700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15161D"/>
                </a:solidFill>
                <a:latin typeface="Arial" pitchFamily="34" charset="0"/>
                <a:ea typeface="Arial" pitchFamily="34" charset="-122"/>
                <a:cs typeface="Arial" pitchFamily="34" charset="-120"/>
              </a:rPr>
              <a:t>Baseline reflection</a:t>
            </a:r>
            <a:endParaRPr lang="en-US" sz="3600" dirty="0"/>
          </a:p>
        </p:txBody>
      </p:sp>
      <p:sp>
        <p:nvSpPr>
          <p:cNvPr id="4" name="Shape 2"/>
          <p:cNvSpPr/>
          <p:nvPr/>
        </p:nvSpPr>
        <p:spPr>
          <a:xfrm>
            <a:off x="812800" y="2159000"/>
            <a:ext cx="5181600" cy="1051520"/>
          </a:xfrm>
          <a:prstGeom prst="roundRect">
            <a:avLst>
              <a:gd name="adj" fmla="val 12078"/>
            </a:avLst>
          </a:prstGeom>
          <a:solidFill>
            <a:srgbClr val="FBF8F2"/>
          </a:solidFill>
          <a:ln w="12700">
            <a:solidFill>
              <a:srgbClr val="15161D"/>
            </a:solidFill>
            <a:prstDash val="solid"/>
          </a:ln>
        </p:spPr>
      </p:sp>
      <p:sp>
        <p:nvSpPr>
          <p:cNvPr id="5" name="Text 3"/>
          <p:cNvSpPr txBox="1"/>
          <p:nvPr/>
        </p:nvSpPr>
        <p:spPr>
          <a:xfrm>
            <a:off x="1054100" y="2400300"/>
            <a:ext cx="4839970" cy="594320"/>
          </a:xfrm>
          <a:prstGeom prst="rect">
            <a:avLst/>
          </a:prstGeom>
          <a:noFill/>
          <a:ln/>
        </p:spPr>
        <p:txBody>
          <a:bodyPr wrap="square" lIns="0" tIns="0" rIns="0" bIns="0" rtlCol="0" anchor="t"/>
          <a:lstStyle/>
          <a:p>
            <a:pPr algn="l" indent="0" marL="0">
              <a:lnSpc>
                <a:spcPts val="2240"/>
              </a:lnSpc>
              <a:buNone/>
            </a:pPr>
            <a:r>
              <a:rPr lang="en-US" sz="1600" dirty="0">
                <a:solidFill>
                  <a:srgbClr val="15161D"/>
                </a:solidFill>
                <a:latin typeface="Cambria" pitchFamily="34" charset="0"/>
                <a:ea typeface="Cambria" pitchFamily="34" charset="-122"/>
                <a:cs typeface="Cambria" pitchFamily="34" charset="-120"/>
              </a:rPr>
              <a:t>What question do you want to investigate, and why does it matter?</a:t>
            </a:r>
            <a:endParaRPr lang="en-US" sz="1600" dirty="0"/>
          </a:p>
        </p:txBody>
      </p:sp>
      <p:sp>
        <p:nvSpPr>
          <p:cNvPr id="6" name="Shape 4"/>
          <p:cNvSpPr/>
          <p:nvPr/>
        </p:nvSpPr>
        <p:spPr>
          <a:xfrm>
            <a:off x="6197600" y="2159000"/>
            <a:ext cx="5181600" cy="767060"/>
          </a:xfrm>
          <a:prstGeom prst="roundRect">
            <a:avLst>
              <a:gd name="adj" fmla="val 16557"/>
            </a:avLst>
          </a:prstGeom>
          <a:solidFill>
            <a:srgbClr val="FBF8F2"/>
          </a:solidFill>
          <a:ln w="12700">
            <a:solidFill>
              <a:srgbClr val="15161D"/>
            </a:solidFill>
            <a:prstDash val="solid"/>
          </a:ln>
        </p:spPr>
      </p:sp>
      <p:sp>
        <p:nvSpPr>
          <p:cNvPr id="7" name="Text 5"/>
          <p:cNvSpPr txBox="1"/>
          <p:nvPr/>
        </p:nvSpPr>
        <p:spPr>
          <a:xfrm>
            <a:off x="6438900" y="2400300"/>
            <a:ext cx="4839970" cy="309860"/>
          </a:xfrm>
          <a:prstGeom prst="rect">
            <a:avLst/>
          </a:prstGeom>
          <a:noFill/>
          <a:ln/>
        </p:spPr>
        <p:txBody>
          <a:bodyPr wrap="square" lIns="0" tIns="0" rIns="0" bIns="0" rtlCol="0" anchor="t"/>
          <a:lstStyle/>
          <a:p>
            <a:pPr algn="l" indent="0" marL="0">
              <a:lnSpc>
                <a:spcPts val="2240"/>
              </a:lnSpc>
              <a:buNone/>
            </a:pPr>
            <a:r>
              <a:rPr lang="en-US" sz="1600" dirty="0">
                <a:solidFill>
                  <a:srgbClr val="15161D"/>
                </a:solidFill>
                <a:latin typeface="Cambria" pitchFamily="34" charset="0"/>
                <a:ea typeface="Cambria" pitchFamily="34" charset="-122"/>
                <a:cs typeface="Cambria" pitchFamily="34" charset="-120"/>
              </a:rPr>
              <a:t>What do you already know about the relevant literature?</a:t>
            </a:r>
            <a:endParaRPr lang="en-US" sz="1600" dirty="0"/>
          </a:p>
        </p:txBody>
      </p:sp>
      <p:sp>
        <p:nvSpPr>
          <p:cNvPr id="8" name="Shape 6"/>
          <p:cNvSpPr/>
          <p:nvPr/>
        </p:nvSpPr>
        <p:spPr>
          <a:xfrm>
            <a:off x="812800" y="3429000"/>
            <a:ext cx="5181600" cy="767060"/>
          </a:xfrm>
          <a:prstGeom prst="roundRect">
            <a:avLst>
              <a:gd name="adj" fmla="val 16557"/>
            </a:avLst>
          </a:prstGeom>
          <a:solidFill>
            <a:srgbClr val="FBF8F2"/>
          </a:solidFill>
          <a:ln w="12700">
            <a:solidFill>
              <a:srgbClr val="15161D"/>
            </a:solidFill>
            <a:prstDash val="solid"/>
          </a:ln>
        </p:spPr>
      </p:sp>
      <p:sp>
        <p:nvSpPr>
          <p:cNvPr id="9" name="Text 7"/>
          <p:cNvSpPr txBox="1"/>
          <p:nvPr/>
        </p:nvSpPr>
        <p:spPr>
          <a:xfrm>
            <a:off x="1054100" y="3670300"/>
            <a:ext cx="4839970" cy="309860"/>
          </a:xfrm>
          <a:prstGeom prst="rect">
            <a:avLst/>
          </a:prstGeom>
          <a:noFill/>
          <a:ln/>
        </p:spPr>
        <p:txBody>
          <a:bodyPr wrap="square" lIns="0" tIns="0" rIns="0" bIns="0" rtlCol="0" anchor="t"/>
          <a:lstStyle/>
          <a:p>
            <a:pPr algn="l" indent="0" marL="0">
              <a:lnSpc>
                <a:spcPts val="2240"/>
              </a:lnSpc>
              <a:buNone/>
            </a:pPr>
            <a:r>
              <a:rPr lang="en-US" sz="1600" dirty="0">
                <a:solidFill>
                  <a:srgbClr val="15161D"/>
                </a:solidFill>
                <a:latin typeface="Cambria" pitchFamily="34" charset="0"/>
                <a:ea typeface="Cambria" pitchFamily="34" charset="-122"/>
                <a:cs typeface="Cambria" pitchFamily="34" charset="-120"/>
              </a:rPr>
              <a:t>What would change your current understanding?</a:t>
            </a:r>
            <a:endParaRPr lang="en-US" sz="1600" dirty="0"/>
          </a:p>
        </p:txBody>
      </p:sp>
      <p:sp>
        <p:nvSpPr>
          <p:cNvPr id="10" name="Shape 8"/>
          <p:cNvSpPr/>
          <p:nvPr/>
        </p:nvSpPr>
        <p:spPr>
          <a:xfrm>
            <a:off x="6197600" y="3429000"/>
            <a:ext cx="5181600" cy="1051520"/>
          </a:xfrm>
          <a:prstGeom prst="roundRect">
            <a:avLst>
              <a:gd name="adj" fmla="val 12078"/>
            </a:avLst>
          </a:prstGeom>
          <a:solidFill>
            <a:srgbClr val="FBF8F2"/>
          </a:solidFill>
          <a:ln w="12700">
            <a:solidFill>
              <a:srgbClr val="15161D"/>
            </a:solidFill>
            <a:prstDash val="solid"/>
          </a:ln>
        </p:spPr>
      </p:sp>
      <p:sp>
        <p:nvSpPr>
          <p:cNvPr id="11" name="Text 9"/>
          <p:cNvSpPr txBox="1"/>
          <p:nvPr/>
        </p:nvSpPr>
        <p:spPr>
          <a:xfrm>
            <a:off x="6438900" y="3670300"/>
            <a:ext cx="4839970" cy="594320"/>
          </a:xfrm>
          <a:prstGeom prst="rect">
            <a:avLst/>
          </a:prstGeom>
          <a:noFill/>
          <a:ln/>
        </p:spPr>
        <p:txBody>
          <a:bodyPr wrap="square" lIns="0" tIns="0" rIns="0" bIns="0" rtlCol="0" anchor="t"/>
          <a:lstStyle/>
          <a:p>
            <a:pPr algn="l" indent="0" marL="0">
              <a:lnSpc>
                <a:spcPts val="2240"/>
              </a:lnSpc>
              <a:buNone/>
            </a:pPr>
            <a:r>
              <a:rPr lang="en-US" sz="1600" dirty="0">
                <a:solidFill>
                  <a:srgbClr val="15161D"/>
                </a:solidFill>
                <a:latin typeface="Cambria" pitchFamily="34" charset="0"/>
                <a:ea typeface="Cambria" pitchFamily="34" charset="-122"/>
                <a:cs typeface="Cambria" pitchFamily="34" charset="-120"/>
              </a:rPr>
              <a:t>How have you used AI in research, and what are you unsure about?</a:t>
            </a:r>
            <a:endParaRPr lang="en-US" sz="1600" dirty="0"/>
          </a:p>
        </p:txBody>
      </p:sp>
      <p:sp>
        <p:nvSpPr>
          <p:cNvPr id="12" name="Text 10"/>
          <p:cNvSpPr txBox="1"/>
          <p:nvPr/>
        </p:nvSpPr>
        <p:spPr>
          <a:xfrm>
            <a:off x="812800" y="4889500"/>
            <a:ext cx="9810750" cy="309860"/>
          </a:xfrm>
          <a:prstGeom prst="rect">
            <a:avLst/>
          </a:prstGeom>
          <a:noFill/>
          <a:ln/>
        </p:spPr>
        <p:txBody>
          <a:bodyPr wrap="square" lIns="0" tIns="0" rIns="0" bIns="0" rtlCol="0" anchor="t"/>
          <a:lstStyle/>
          <a:p>
            <a:pPr algn="l" indent="0" marL="0">
              <a:lnSpc>
                <a:spcPts val="2240"/>
              </a:lnSpc>
              <a:buNone/>
            </a:pPr>
            <a:r>
              <a:rPr lang="en-US" sz="1600" dirty="0">
                <a:solidFill>
                  <a:srgbClr val="4A4A55"/>
                </a:solidFill>
                <a:latin typeface="Cambria" pitchFamily="34" charset="0"/>
                <a:ea typeface="Cambria" pitchFamily="34" charset="-122"/>
                <a:cs typeface="Cambria" pitchFamily="34" charset="-120"/>
              </a:rPr>
              <a:t>A short starting point to compare with your final review.</a:t>
            </a:r>
            <a:endParaRPr lang="en-US" sz="1600" dirty="0"/>
          </a:p>
        </p:txBody>
      </p:sp>
      <p:sp>
        <p:nvSpPr>
          <p:cNvPr id="13" name="Text 11"/>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6A6670"/>
                </a:solidFill>
                <a:latin typeface="Arial" pitchFamily="34" charset="0"/>
                <a:ea typeface="Arial" pitchFamily="34" charset="-122"/>
                <a:cs typeface="Arial" pitchFamily="34" charset="-120"/>
              </a:rPr>
              <a:t>From the syllabus · before or during the first seminar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5161D"/>
        </a:solidFill>
      </p:bgPr>
    </p:bg>
    <p:spTree>
      <p:nvGrpSpPr>
        <p:cNvPr id="1" name=""/>
        <p:cNvGrpSpPr/>
        <p:nvPr/>
      </p:nvGrpSpPr>
      <p:grpSpPr>
        <a:xfrm>
          <a:off x="0" y="0"/>
          <a:ext cx="0" cy="0"/>
          <a:chOff x="0" y="0"/>
          <a:chExt cx="0" cy="0"/>
        </a:xfrm>
      </p:grpSpPr>
      <p:sp>
        <p:nvSpPr>
          <p:cNvPr id="2" name="Text 0"/>
          <p:cNvSpPr txBox="1"/>
          <p:nvPr/>
        </p:nvSpPr>
        <p:spPr>
          <a:xfrm>
            <a:off x="812800" y="812800"/>
            <a:ext cx="10883392" cy="20320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FF7A50"/>
                </a:solidFill>
                <a:latin typeface="Arial" pitchFamily="34" charset="0"/>
                <a:ea typeface="Arial" pitchFamily="34" charset="-122"/>
                <a:cs typeface="Arial" pitchFamily="34" charset="-120"/>
              </a:rPr>
              <a:t>BEFORE NEXT MONDAY</a:t>
            </a:r>
            <a:endParaRPr lang="en-US" sz="1200" dirty="0"/>
          </a:p>
        </p:txBody>
      </p:sp>
      <p:sp>
        <p:nvSpPr>
          <p:cNvPr id="3" name="Text 1"/>
          <p:cNvSpPr txBox="1"/>
          <p:nvPr/>
        </p:nvSpPr>
        <p:spPr>
          <a:xfrm>
            <a:off x="812800" y="1295400"/>
            <a:ext cx="10883392" cy="528241"/>
          </a:xfrm>
          <a:prstGeom prst="rect">
            <a:avLst/>
          </a:prstGeom>
          <a:noFill/>
          <a:ln/>
        </p:spPr>
        <p:txBody>
          <a:bodyPr wrap="square" lIns="0" tIns="0" rIns="0" bIns="0" rtlCol="0" anchor="t"/>
          <a:lstStyle/>
          <a:p>
            <a:pPr algn="l" indent="0" marL="0">
              <a:lnSpc>
                <a:spcPts val="3960"/>
              </a:lnSpc>
              <a:buNone/>
            </a:pPr>
            <a:r>
              <a:rPr lang="en-US" sz="3600" b="1" spc="-50" kern="0" dirty="0">
                <a:solidFill>
                  <a:srgbClr val="F3EEE4"/>
                </a:solidFill>
                <a:latin typeface="Arial" pitchFamily="34" charset="0"/>
                <a:ea typeface="Arial" pitchFamily="34" charset="-122"/>
                <a:cs typeface="Arial" pitchFamily="34" charset="-120"/>
              </a:rPr>
              <a:t>Readings and Task 1</a:t>
            </a:r>
            <a:endParaRPr lang="en-US" sz="3600" dirty="0"/>
          </a:p>
        </p:txBody>
      </p:sp>
      <p:sp>
        <p:nvSpPr>
          <p:cNvPr id="4" name="Text 2"/>
          <p:cNvSpPr txBox="1"/>
          <p:nvPr/>
        </p:nvSpPr>
        <p:spPr>
          <a:xfrm>
            <a:off x="812800" y="2103041"/>
            <a:ext cx="5964936" cy="854075"/>
          </a:xfrm>
          <a:prstGeom prst="rect">
            <a:avLst/>
          </a:prstGeom>
          <a:noFill/>
          <a:ln/>
        </p:spPr>
        <p:txBody>
          <a:bodyPr wrap="square" lIns="0" tIns="0" rIns="0" bIns="0" rtlCol="0" anchor="t"/>
          <a:lstStyle/>
          <a:p>
            <a:pPr algn="l" indent="0" marL="0">
              <a:lnSpc>
                <a:spcPts val="2180"/>
              </a:lnSpc>
              <a:buNone/>
            </a:pPr>
            <a:r>
              <a:rPr lang="en-US" sz="1500" dirty="0">
                <a:solidFill>
                  <a:srgbClr val="C9C4B8"/>
                </a:solidFill>
                <a:latin typeface="Cambria" pitchFamily="34" charset="0"/>
                <a:ea typeface="Cambria" pitchFamily="34" charset="-122"/>
                <a:cs typeface="Cambria" pitchFamily="34" charset="-120"/>
              </a:rPr>
              <a:t>Weber, M. (1946). Science as a vocation. In H. H. Gerth &amp; C. Wright Mills (Eds.), </a:t>
            </a:r>
            <a:pPr algn="l" indent="0" marL="0">
              <a:lnSpc>
                <a:spcPts val="2180"/>
              </a:lnSpc>
              <a:buNone/>
            </a:pPr>
            <a:r>
              <a:rPr lang="en-US" sz="1500" i="1" dirty="0">
                <a:solidFill>
                  <a:srgbClr val="C9C4B8"/>
                </a:solidFill>
                <a:latin typeface="Cambria" pitchFamily="34" charset="0"/>
                <a:ea typeface="Cambria" pitchFamily="34" charset="-122"/>
                <a:cs typeface="Cambria" pitchFamily="34" charset="-120"/>
              </a:rPr>
              <a:t>From Max Weber: Essays in sociology</a:t>
            </a:r>
            <a:pPr algn="l" indent="0" marL="0">
              <a:lnSpc>
                <a:spcPts val="2180"/>
              </a:lnSpc>
              <a:buNone/>
            </a:pPr>
            <a:r>
              <a:rPr lang="en-US" sz="1500" dirty="0">
                <a:solidFill>
                  <a:srgbClr val="C9C4B8"/>
                </a:solidFill>
                <a:latin typeface="Cambria" pitchFamily="34" charset="0"/>
                <a:ea typeface="Cambria" pitchFamily="34" charset="-122"/>
                <a:cs typeface="Cambria" pitchFamily="34" charset="-120"/>
              </a:rPr>
              <a:t>. Oxford University Press, pp. 129–156. </a:t>
            </a:r>
            <a:pPr algn="l" indent="0" marL="0">
              <a:lnSpc>
                <a:spcPts val="2180"/>
              </a:lnSpc>
              <a:buNone/>
            </a:pPr>
            <a:r>
              <a:rPr lang="en-US" sz="1500" u="sng" dirty="0">
                <a:solidFill>
                  <a:srgbClr val="FF7A50"/>
                </a:solidFill>
                <a:latin typeface="Cambria" pitchFamily="34" charset="0"/>
                <a:ea typeface="Cambria" pitchFamily="34" charset="-122"/>
                <a:cs typeface="Cambria"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online</a:t>
            </a:r>
            <a:endParaRPr lang="en-US" sz="1500" dirty="0"/>
          </a:p>
        </p:txBody>
      </p:sp>
      <p:sp>
        <p:nvSpPr>
          <p:cNvPr id="5" name="Text 3"/>
          <p:cNvSpPr txBox="1"/>
          <p:nvPr/>
        </p:nvSpPr>
        <p:spPr>
          <a:xfrm>
            <a:off x="812800" y="3109516"/>
            <a:ext cx="5964936" cy="577850"/>
          </a:xfrm>
          <a:prstGeom prst="rect">
            <a:avLst/>
          </a:prstGeom>
          <a:noFill/>
          <a:ln/>
        </p:spPr>
        <p:txBody>
          <a:bodyPr wrap="square" lIns="0" tIns="0" rIns="0" bIns="0" rtlCol="0" anchor="t"/>
          <a:lstStyle/>
          <a:p>
            <a:pPr algn="l" indent="0" marL="0">
              <a:lnSpc>
                <a:spcPts val="2180"/>
              </a:lnSpc>
              <a:buNone/>
            </a:pPr>
            <a:r>
              <a:rPr lang="en-US" sz="1500" dirty="0">
                <a:solidFill>
                  <a:srgbClr val="C9C4B8"/>
                </a:solidFill>
                <a:latin typeface="Cambria" pitchFamily="34" charset="0"/>
                <a:ea typeface="Cambria" pitchFamily="34" charset="-122"/>
                <a:cs typeface="Cambria" pitchFamily="34" charset="-120"/>
              </a:rPr>
              <a:t>University of Illinois Library. (n.d.). </a:t>
            </a:r>
            <a:pPr algn="l" indent="0" marL="0">
              <a:lnSpc>
                <a:spcPts val="2180"/>
              </a:lnSpc>
              <a:buNone/>
            </a:pPr>
            <a:r>
              <a:rPr lang="en-US" sz="1500" i="1" dirty="0">
                <a:solidFill>
                  <a:srgbClr val="C9C4B8"/>
                </a:solidFill>
                <a:latin typeface="Cambria" pitchFamily="34" charset="0"/>
                <a:ea typeface="Cambria" pitchFamily="34" charset="-122"/>
                <a:cs typeface="Cambria" pitchFamily="34" charset="-120"/>
              </a:rPr>
              <a:t>Develop a topic and dissect your research question</a:t>
            </a:r>
            <a:pPr algn="l" indent="0" marL="0">
              <a:lnSpc>
                <a:spcPts val="2180"/>
              </a:lnSpc>
              <a:buNone/>
            </a:pPr>
            <a:r>
              <a:rPr lang="en-US" sz="1500" dirty="0">
                <a:solidFill>
                  <a:srgbClr val="C9C4B8"/>
                </a:solidFill>
                <a:latin typeface="Cambria" pitchFamily="34" charset="0"/>
                <a:ea typeface="Cambria" pitchFamily="34" charset="-122"/>
                <a:cs typeface="Cambria" pitchFamily="34" charset="-120"/>
              </a:rPr>
              <a:t>. </a:t>
            </a:r>
            <a:pPr algn="l" indent="0" marL="0">
              <a:lnSpc>
                <a:spcPts val="2180"/>
              </a:lnSpc>
              <a:buNone/>
            </a:pPr>
            <a:r>
              <a:rPr lang="en-US" sz="1500" u="sng" dirty="0">
                <a:solidFill>
                  <a:srgbClr val="FF7A50"/>
                </a:solidFill>
                <a:latin typeface="Cambria" pitchFamily="34" charset="0"/>
                <a:ea typeface="Cambria" pitchFamily="34" charset="-122"/>
                <a:cs typeface="Cambria"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library.illinois.edu</a:t>
            </a:r>
            <a:endParaRPr lang="en-US" sz="1500" dirty="0"/>
          </a:p>
        </p:txBody>
      </p:sp>
      <p:sp>
        <p:nvSpPr>
          <p:cNvPr id="6" name="Shape 4"/>
          <p:cNvSpPr/>
          <p:nvPr/>
        </p:nvSpPr>
        <p:spPr>
          <a:xfrm>
            <a:off x="7010400" y="2103041"/>
            <a:ext cx="4368800" cy="3738959"/>
          </a:xfrm>
          <a:prstGeom prst="roundRect">
            <a:avLst>
              <a:gd name="adj" fmla="val 4076"/>
            </a:avLst>
          </a:prstGeom>
          <a:solidFill>
            <a:srgbClr val="F2552C"/>
          </a:solidFill>
          <a:ln/>
        </p:spPr>
      </p:sp>
      <p:sp>
        <p:nvSpPr>
          <p:cNvPr id="7" name="Text 5"/>
          <p:cNvSpPr txBox="1"/>
          <p:nvPr/>
        </p:nvSpPr>
        <p:spPr>
          <a:xfrm>
            <a:off x="7264400" y="2357041"/>
            <a:ext cx="3976624" cy="20320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15161D"/>
                </a:solidFill>
                <a:latin typeface="Arial" pitchFamily="34" charset="0"/>
                <a:ea typeface="Arial" pitchFamily="34" charset="-122"/>
                <a:cs typeface="Arial" pitchFamily="34" charset="-120"/>
              </a:rPr>
              <a:t>TASK 1 · UNGRADED</a:t>
            </a:r>
            <a:endParaRPr lang="en-US" sz="1200" dirty="0"/>
          </a:p>
        </p:txBody>
      </p:sp>
      <p:sp>
        <p:nvSpPr>
          <p:cNvPr id="8" name="Text 6"/>
          <p:cNvSpPr txBox="1"/>
          <p:nvPr/>
        </p:nvSpPr>
        <p:spPr>
          <a:xfrm>
            <a:off x="7264400" y="2636441"/>
            <a:ext cx="3976624" cy="346670"/>
          </a:xfrm>
          <a:prstGeom prst="rect">
            <a:avLst/>
          </a:prstGeom>
          <a:noFill/>
          <a:ln/>
        </p:spPr>
        <p:txBody>
          <a:bodyPr wrap="square" lIns="0" tIns="0" rIns="0" bIns="0" rtlCol="0" anchor="t"/>
          <a:lstStyle/>
          <a:p>
            <a:pPr algn="l" indent="0" marL="0">
              <a:lnSpc>
                <a:spcPts val="2530"/>
              </a:lnSpc>
              <a:buNone/>
            </a:pPr>
            <a:r>
              <a:rPr lang="en-US" sz="2200" b="1" dirty="0">
                <a:solidFill>
                  <a:srgbClr val="15161D"/>
                </a:solidFill>
                <a:latin typeface="Arial" pitchFamily="34" charset="0"/>
                <a:ea typeface="Arial" pitchFamily="34" charset="-122"/>
                <a:cs typeface="Arial" pitchFamily="34" charset="-120"/>
              </a:rPr>
              <a:t>Research topic and question</a:t>
            </a:r>
            <a:endParaRPr lang="en-US" sz="2200" dirty="0"/>
          </a:p>
        </p:txBody>
      </p:sp>
      <p:sp>
        <p:nvSpPr>
          <p:cNvPr id="9" name="Text 7"/>
          <p:cNvSpPr txBox="1"/>
          <p:nvPr/>
        </p:nvSpPr>
        <p:spPr>
          <a:xfrm>
            <a:off x="7264400" y="3059311"/>
            <a:ext cx="3976624" cy="558800"/>
          </a:xfrm>
          <a:prstGeom prst="rect">
            <a:avLst/>
          </a:prstGeom>
          <a:noFill/>
          <a:ln/>
        </p:spPr>
        <p:txBody>
          <a:bodyPr wrap="square" lIns="0" tIns="0" rIns="0" bIns="0" rtlCol="0" anchor="t"/>
          <a:lstStyle/>
          <a:p>
            <a:pPr algn="l" indent="0" marL="0">
              <a:lnSpc>
                <a:spcPts val="2100"/>
              </a:lnSpc>
              <a:buNone/>
            </a:pPr>
            <a:r>
              <a:rPr lang="en-US" sz="1500" dirty="0">
                <a:solidFill>
                  <a:srgbClr val="15161D"/>
                </a:solidFill>
                <a:latin typeface="Cambria" pitchFamily="34" charset="0"/>
                <a:ea typeface="Cambria" pitchFamily="34" charset="-122"/>
                <a:cs typeface="Cambria" pitchFamily="34" charset="-120"/>
              </a:rPr>
              <a:t>Due Monday 26 October, 11:59 PM Central, on Canvas.</a:t>
            </a:r>
            <a:endParaRPr lang="en-US" sz="1500" dirty="0"/>
          </a:p>
        </p:txBody>
      </p:sp>
      <p:sp>
        <p:nvSpPr>
          <p:cNvPr id="10" name="Text 8"/>
          <p:cNvSpPr txBox="1"/>
          <p:nvPr/>
        </p:nvSpPr>
        <p:spPr>
          <a:xfrm>
            <a:off x="7264400" y="3694311"/>
            <a:ext cx="3976624" cy="487561"/>
          </a:xfrm>
          <a:prstGeom prst="rect">
            <a:avLst/>
          </a:prstGeom>
          <a:noFill/>
          <a:ln/>
        </p:spPr>
        <p:txBody>
          <a:bodyPr wrap="square" lIns="0" tIns="0" rIns="0" bIns="0" rtlCol="0" anchor="t"/>
          <a:lstStyle/>
          <a:p>
            <a:pPr algn="l" indent="0" marL="0">
              <a:lnSpc>
                <a:spcPts val="1820"/>
              </a:lnSpc>
              <a:buNone/>
            </a:pPr>
            <a:r>
              <a:rPr lang="en-US" sz="1300" dirty="0">
                <a:solidFill>
                  <a:srgbClr val="15161D"/>
                </a:solidFill>
                <a:latin typeface="Cambria" pitchFamily="34" charset="0"/>
                <a:ea typeface="Cambria" pitchFamily="34" charset="-122"/>
                <a:cs typeface="Cambria" pitchFamily="34" charset="-120"/>
              </a:rPr>
              <a:t>A provisional question: its significance, feasibility and first sources, and what you’d need to read to refine it.</a:t>
            </a:r>
            <a:endParaRPr lang="en-US" sz="1300" dirty="0"/>
          </a:p>
        </p:txBody>
      </p:sp>
      <p:sp>
        <p:nvSpPr>
          <p:cNvPr id="11" name="Text 9"/>
          <p:cNvSpPr txBox="1"/>
          <p:nvPr/>
        </p:nvSpPr>
        <p:spPr>
          <a:xfrm>
            <a:off x="812800" y="6273800"/>
            <a:ext cx="10883392" cy="203200"/>
          </a:xfrm>
          <a:prstGeom prst="rect">
            <a:avLst/>
          </a:prstGeom>
          <a:noFill/>
          <a:ln/>
        </p:spPr>
        <p:txBody>
          <a:bodyPr wrap="square" lIns="0" tIns="0" rIns="0" bIns="0" rtlCol="0" anchor="t"/>
          <a:lstStyle/>
          <a:p>
            <a:pPr algn="l" indent="0" marL="0">
              <a:lnSpc>
                <a:spcPts val="1440"/>
              </a:lnSpc>
              <a:buNone/>
            </a:pPr>
            <a:r>
              <a:rPr lang="en-US" sz="1200" dirty="0">
                <a:solidFill>
                  <a:srgbClr val="9C978C"/>
                </a:solidFill>
                <a:latin typeface="Arial" pitchFamily="34" charset="0"/>
                <a:ea typeface="Arial" pitchFamily="34" charset="-122"/>
                <a:cs typeface="Arial" pitchFamily="34" charset="-120"/>
              </a:rPr>
              <a:t>Next week · Article anatomy, review design, mapping a field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EPOL 590 Lecture 1 — Research Questions</dc:title>
  <dc:subject>PptxGenJS Presentation</dc:subject>
  <dc:creator>Liam Magee</dc:creator>
  <cp:lastModifiedBy>Liam Magee</cp:lastModifiedBy>
  <cp:revision>1</cp:revision>
  <dcterms:created xsi:type="dcterms:W3CDTF">2026-10-26T19:15:50Z</dcterms:created>
  <dcterms:modified xsi:type="dcterms:W3CDTF">2026-10-26T19:15:50Z</dcterms:modified>
</cp:coreProperties>
</file>