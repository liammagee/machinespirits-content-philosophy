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2" autoAdjust="0"/>
    <p:restoredTop sz="94726" autoAdjust="0"/>
  </p:normalViewPr>
  <p:slideViewPr>
    <p:cSldViewPr snapToGrid="0" snapToObjects="1">
      <p:cViewPr varScale="1">
        <p:scale>
          <a:sx n="139" d="100"/>
          <a:sy n="139" d="100"/>
        </p:scale>
        <p:origin x="176" y="51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DA554-F856-AD0E-9F32-20A78EAD40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2D441E-76E0-B483-1B4F-74633CA86C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9A8618-A771-C1D1-624A-87A0B892C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C8B2A-6AFF-1CD8-63DC-13D96CE28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E2D71-51C3-9D73-D94A-21F731CE2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705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EFA72-E740-AD24-B2DD-4B78EE256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91FF9-F40B-CDEA-6781-ABC951FD30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56C72B-E791-C37A-6B2E-6BD15E7DD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9EF25-6B2B-14A4-8597-D8DA3D1BB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A0EF3D-5433-3822-8077-C36FF75C2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89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BDE5C-5D91-44B0-15DA-054FD1CE7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7C307-591A-9C43-826A-37B4A42AD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5DEB48-FED0-1DFE-441C-E37AD8AC1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1DECD-CB5A-2DA9-EBED-733868402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1B20F-E14A-C214-606F-B1CD1275A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246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62EAE-E8BC-11F9-3FAB-1AE5DC0EC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565F4-75C3-5362-B41F-98DC3200E6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EAC42B-E9DA-1CF9-780F-0A320B2EF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19EEE1-D734-A20B-A98F-AF74EAE13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9B926A-F1FC-5794-D06A-3F5D379C4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F0EA74-F343-CCB0-367F-7132A6B26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717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30E97-D357-CC16-28DF-5CB77D15F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6B697-ED66-E77A-2885-492098A62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38D7F8-FE12-EE34-06D6-1A23E01DBA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E5470F-B51A-4E6D-B275-B91C7DDF03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7C70D2-5770-35B7-38F4-B19A0DD18E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189B61-5FB5-2C1F-D751-69DD6E66E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6D0E95-10E7-2E59-4A1B-02CC7C6E7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6E492E-5555-B4BC-3544-CB89DB67A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704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A3475-29ED-3592-7482-39EAEDAF5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49E903-AA1B-6054-C8B4-AE1E2C9D0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6046F-E264-F910-9353-5E33A1C53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30FB8E-03D9-A3F0-75BC-3CB49606B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833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77C9E3-4C67-65B1-C2F6-9BB5AF45E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407F96-DA4F-C228-97CA-18B4E53B9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C01548-15BA-3EA2-6F54-EC0FBA225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823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9C5E6-F988-1F00-D25F-9A1B82A3C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2DD87-2B8F-D37C-64D7-53C1F183B4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C17682-D71E-E617-C75A-24AF043688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618A5A-79E6-3700-405B-E428666E7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F0AEE4-06B2-4475-12FB-B0EB20870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844CC7-9337-4A2E-2FF2-67750532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849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5331A-270B-FE49-0D36-468490346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DDDE88-10E9-3E56-F959-6216C4AC9D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74C374-6FAE-67F4-0FEB-F331AFFD69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A81067-5D19-8DB4-222A-AEDEDDF1A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91E024-C486-34C0-094C-0111E81CA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607CC7-10D8-8427-CF82-A1091D2F8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04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EF154-C141-0EE2-2FB3-5A95F5471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C10216-A100-3190-DDC4-1365F8B877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C2673-F6AB-76FD-6381-816EB0BA1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D9609-C64D-D25E-0219-FED8CBF44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A3168-CDA7-A142-4F87-A22623B76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234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BD19EF-3E00-DDEA-66D3-0489840819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A1EF13-1861-9C5D-3975-FE7B4A088B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853CC3-7E03-B3C4-6986-3C29593E9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F3A72-FEF9-28F0-F6F1-FE38520C5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69727B-3D0E-951E-1CFB-A87360FE8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2661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78A1F6-2D8E-2CC5-3BE4-E19CDB301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7121BA-82B3-0AEE-2D0B-76CBAE932E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47EF7A-7D2F-76D2-903D-FE56675364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41D618-AB97-6510-905F-4E837EF36D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EB3BFF-7B5B-7146-7D3A-DB60729107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394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ocs.google.com/document/d/1JATwv9qBCeN9ld3AEHc5FeZVi6ZamubNqLHzVQjeWGY/edit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hyperlink" Target="https://ldlprogram.web.illinois.edu/dissertation-resources/literature-review-guidelines/" TargetMode="External"/><Relationship Id="rId3" Type="http://schemas.openxmlformats.org/officeDocument/2006/relationships/hyperlink" Target="https://owl.purdue.edu/owl/research_and_citation/conducting_research/writing_a_literature_review.html" TargetMode="External"/><Relationship Id="rId4" Type="http://schemas.openxmlformats.org/officeDocument/2006/relationships/hyperlink" Target="https://writingcenter.unc.edu/tips-and-tools/literature-reviews/#:~:text=A%20literature%20review%20discusses%20published,combines%20both%20summary%20and%20synthesis." TargetMode="External"/><Relationship Id="rId5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ocs.google.com/document/d/1JATwv9qBCeN9ld3AEHc5FeZVi6ZamubNqLHzVQjeWGY/edit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sciencepolicy.colorado.edu/students/envs_5110/snow_1959.pdf" TargetMode="External"/><Relationship Id="rId3" Type="http://schemas.openxmlformats.org/officeDocument/2006/relationships/hyperlink" Target="https://williamwolff.org/wp-content/uploads/2013/01/aarseth-ergodic-ch1-1997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178904"/>
            <a:ext cx="8263890" cy="1075811"/>
          </a:xfrm>
        </p:spPr>
        <p:txBody>
          <a:bodyPr anchor="b">
            <a:normAutofit/>
          </a:bodyPr>
          <a:lstStyle/>
          <a:p>
            <a:pPr marL="0" lvl="0" indent="0">
              <a:buNone/>
            </a:pPr>
            <a:r>
              <a:rPr lang="en-US" sz="4100"/>
              <a:t>590 Lecture 2</a:t>
            </a:r>
          </a:p>
        </p:txBody>
      </p:sp>
      <p:sp>
        <p:nvSpPr>
          <p:cNvPr id="18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261158"/>
            <a:ext cx="8229600" cy="13716"/>
          </a:xfrm>
          <a:custGeom>
            <a:avLst/>
            <a:gdLst>
              <a:gd name="connsiteX0" fmla="*/ 0 w 8229600"/>
              <a:gd name="connsiteY0" fmla="*/ 0 h 13716"/>
              <a:gd name="connsiteX1" fmla="*/ 521208 w 8229600"/>
              <a:gd name="connsiteY1" fmla="*/ 0 h 13716"/>
              <a:gd name="connsiteX2" fmla="*/ 1371600 w 8229600"/>
              <a:gd name="connsiteY2" fmla="*/ 0 h 13716"/>
              <a:gd name="connsiteX3" fmla="*/ 2221992 w 8229600"/>
              <a:gd name="connsiteY3" fmla="*/ 0 h 13716"/>
              <a:gd name="connsiteX4" fmla="*/ 3072384 w 8229600"/>
              <a:gd name="connsiteY4" fmla="*/ 0 h 13716"/>
              <a:gd name="connsiteX5" fmla="*/ 3511296 w 8229600"/>
              <a:gd name="connsiteY5" fmla="*/ 0 h 13716"/>
              <a:gd name="connsiteX6" fmla="*/ 4114800 w 8229600"/>
              <a:gd name="connsiteY6" fmla="*/ 0 h 13716"/>
              <a:gd name="connsiteX7" fmla="*/ 4553712 w 8229600"/>
              <a:gd name="connsiteY7" fmla="*/ 0 h 13716"/>
              <a:gd name="connsiteX8" fmla="*/ 5239512 w 8229600"/>
              <a:gd name="connsiteY8" fmla="*/ 0 h 13716"/>
              <a:gd name="connsiteX9" fmla="*/ 5843016 w 8229600"/>
              <a:gd name="connsiteY9" fmla="*/ 0 h 13716"/>
              <a:gd name="connsiteX10" fmla="*/ 6611112 w 8229600"/>
              <a:gd name="connsiteY10" fmla="*/ 0 h 13716"/>
              <a:gd name="connsiteX11" fmla="*/ 7461504 w 8229600"/>
              <a:gd name="connsiteY11" fmla="*/ 0 h 13716"/>
              <a:gd name="connsiteX12" fmla="*/ 8229600 w 8229600"/>
              <a:gd name="connsiteY12" fmla="*/ 0 h 13716"/>
              <a:gd name="connsiteX13" fmla="*/ 8229600 w 8229600"/>
              <a:gd name="connsiteY13" fmla="*/ 13716 h 13716"/>
              <a:gd name="connsiteX14" fmla="*/ 7461504 w 8229600"/>
              <a:gd name="connsiteY14" fmla="*/ 13716 h 13716"/>
              <a:gd name="connsiteX15" fmla="*/ 6940296 w 8229600"/>
              <a:gd name="connsiteY15" fmla="*/ 13716 h 13716"/>
              <a:gd name="connsiteX16" fmla="*/ 6419088 w 8229600"/>
              <a:gd name="connsiteY16" fmla="*/ 13716 h 13716"/>
              <a:gd name="connsiteX17" fmla="*/ 5650992 w 8229600"/>
              <a:gd name="connsiteY17" fmla="*/ 13716 h 13716"/>
              <a:gd name="connsiteX18" fmla="*/ 5129784 w 8229600"/>
              <a:gd name="connsiteY18" fmla="*/ 13716 h 13716"/>
              <a:gd name="connsiteX19" fmla="*/ 4690872 w 8229600"/>
              <a:gd name="connsiteY19" fmla="*/ 13716 h 13716"/>
              <a:gd name="connsiteX20" fmla="*/ 4087368 w 8229600"/>
              <a:gd name="connsiteY20" fmla="*/ 13716 h 13716"/>
              <a:gd name="connsiteX21" fmla="*/ 3401568 w 8229600"/>
              <a:gd name="connsiteY21" fmla="*/ 13716 h 13716"/>
              <a:gd name="connsiteX22" fmla="*/ 2798064 w 8229600"/>
              <a:gd name="connsiteY22" fmla="*/ 13716 h 13716"/>
              <a:gd name="connsiteX23" fmla="*/ 2276856 w 8229600"/>
              <a:gd name="connsiteY23" fmla="*/ 13716 h 13716"/>
              <a:gd name="connsiteX24" fmla="*/ 1426464 w 8229600"/>
              <a:gd name="connsiteY24" fmla="*/ 13716 h 13716"/>
              <a:gd name="connsiteX25" fmla="*/ 740664 w 8229600"/>
              <a:gd name="connsiteY25" fmla="*/ 13716 h 13716"/>
              <a:gd name="connsiteX26" fmla="*/ 0 w 8229600"/>
              <a:gd name="connsiteY26" fmla="*/ 13716 h 13716"/>
              <a:gd name="connsiteX27" fmla="*/ 0 w 8229600"/>
              <a:gd name="connsiteY27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3716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9169" y="6566"/>
                  <a:pt x="8229218" y="9895"/>
                  <a:pt x="8229600" y="13716"/>
                </a:cubicBezTo>
                <a:cubicBezTo>
                  <a:pt x="7940706" y="-13865"/>
                  <a:pt x="7792584" y="-20581"/>
                  <a:pt x="7461504" y="13716"/>
                </a:cubicBezTo>
                <a:cubicBezTo>
                  <a:pt x="7130424" y="48013"/>
                  <a:pt x="7080072" y="39273"/>
                  <a:pt x="6940296" y="13716"/>
                </a:cubicBezTo>
                <a:cubicBezTo>
                  <a:pt x="6800520" y="-11841"/>
                  <a:pt x="6672872" y="22099"/>
                  <a:pt x="6419088" y="13716"/>
                </a:cubicBezTo>
                <a:cubicBezTo>
                  <a:pt x="6165304" y="5333"/>
                  <a:pt x="5869721" y="415"/>
                  <a:pt x="5650992" y="13716"/>
                </a:cubicBezTo>
                <a:cubicBezTo>
                  <a:pt x="5432263" y="27017"/>
                  <a:pt x="5308310" y="-1549"/>
                  <a:pt x="5129784" y="13716"/>
                </a:cubicBezTo>
                <a:cubicBezTo>
                  <a:pt x="4951258" y="28981"/>
                  <a:pt x="4799696" y="10785"/>
                  <a:pt x="4690872" y="13716"/>
                </a:cubicBezTo>
                <a:cubicBezTo>
                  <a:pt x="4582048" y="16647"/>
                  <a:pt x="4311124" y="-12408"/>
                  <a:pt x="4087368" y="13716"/>
                </a:cubicBezTo>
                <a:cubicBezTo>
                  <a:pt x="3863612" y="39840"/>
                  <a:pt x="3730288" y="8802"/>
                  <a:pt x="3401568" y="13716"/>
                </a:cubicBezTo>
                <a:cubicBezTo>
                  <a:pt x="3072848" y="18630"/>
                  <a:pt x="3020684" y="27853"/>
                  <a:pt x="2798064" y="13716"/>
                </a:cubicBezTo>
                <a:cubicBezTo>
                  <a:pt x="2575444" y="-421"/>
                  <a:pt x="2440915" y="-11924"/>
                  <a:pt x="2276856" y="13716"/>
                </a:cubicBezTo>
                <a:cubicBezTo>
                  <a:pt x="2112797" y="39356"/>
                  <a:pt x="1726502" y="-14132"/>
                  <a:pt x="1426464" y="13716"/>
                </a:cubicBezTo>
                <a:cubicBezTo>
                  <a:pt x="1126426" y="41564"/>
                  <a:pt x="992925" y="16444"/>
                  <a:pt x="740664" y="13716"/>
                </a:cubicBezTo>
                <a:cubicBezTo>
                  <a:pt x="488403" y="10988"/>
                  <a:pt x="195650" y="-20633"/>
                  <a:pt x="0" y="13716"/>
                </a:cubicBezTo>
                <a:cubicBezTo>
                  <a:pt x="120" y="8944"/>
                  <a:pt x="-32" y="6034"/>
                  <a:pt x="0" y="0"/>
                </a:cubicBezTo>
                <a:close/>
              </a:path>
              <a:path w="8229600" h="13716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29365" y="6754"/>
                  <a:pt x="8229865" y="9234"/>
                  <a:pt x="8229600" y="13716"/>
                </a:cubicBezTo>
                <a:cubicBezTo>
                  <a:pt x="8075287" y="30482"/>
                  <a:pt x="7821366" y="17278"/>
                  <a:pt x="7626096" y="13716"/>
                </a:cubicBezTo>
                <a:cubicBezTo>
                  <a:pt x="7430826" y="10154"/>
                  <a:pt x="7320004" y="-14241"/>
                  <a:pt x="7022592" y="13716"/>
                </a:cubicBezTo>
                <a:cubicBezTo>
                  <a:pt x="6725180" y="41673"/>
                  <a:pt x="6348804" y="-18597"/>
                  <a:pt x="6172200" y="13716"/>
                </a:cubicBezTo>
                <a:cubicBezTo>
                  <a:pt x="5995596" y="46029"/>
                  <a:pt x="5788102" y="18318"/>
                  <a:pt x="5650992" y="13716"/>
                </a:cubicBezTo>
                <a:cubicBezTo>
                  <a:pt x="5513882" y="9114"/>
                  <a:pt x="5198399" y="24549"/>
                  <a:pt x="4882896" y="13716"/>
                </a:cubicBezTo>
                <a:cubicBezTo>
                  <a:pt x="4567393" y="2883"/>
                  <a:pt x="4557008" y="22393"/>
                  <a:pt x="4443984" y="13716"/>
                </a:cubicBezTo>
                <a:cubicBezTo>
                  <a:pt x="4330960" y="5039"/>
                  <a:pt x="4061674" y="24319"/>
                  <a:pt x="3758184" y="13716"/>
                </a:cubicBezTo>
                <a:cubicBezTo>
                  <a:pt x="3454694" y="3113"/>
                  <a:pt x="3380392" y="14547"/>
                  <a:pt x="3236976" y="13716"/>
                </a:cubicBezTo>
                <a:cubicBezTo>
                  <a:pt x="3093560" y="12885"/>
                  <a:pt x="2632116" y="33035"/>
                  <a:pt x="2386584" y="13716"/>
                </a:cubicBezTo>
                <a:cubicBezTo>
                  <a:pt x="2141052" y="-5603"/>
                  <a:pt x="2110884" y="24205"/>
                  <a:pt x="1947672" y="13716"/>
                </a:cubicBezTo>
                <a:cubicBezTo>
                  <a:pt x="1784460" y="3227"/>
                  <a:pt x="1535467" y="-4111"/>
                  <a:pt x="1261872" y="13716"/>
                </a:cubicBezTo>
                <a:cubicBezTo>
                  <a:pt x="988277" y="31543"/>
                  <a:pt x="1021096" y="5803"/>
                  <a:pt x="822960" y="13716"/>
                </a:cubicBezTo>
                <a:cubicBezTo>
                  <a:pt x="624824" y="21629"/>
                  <a:pt x="298309" y="-3289"/>
                  <a:pt x="0" y="13716"/>
                </a:cubicBezTo>
                <a:cubicBezTo>
                  <a:pt x="52" y="10594"/>
                  <a:pt x="386" y="5364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369" y="1553487"/>
            <a:ext cx="5035164" cy="3089379"/>
          </a:xfrm>
        </p:spPr>
        <p:txBody>
          <a:bodyPr anchor="t">
            <a:normAutofit/>
          </a:bodyPr>
          <a:lstStyle/>
          <a:p>
            <a:pPr lvl="0"/>
            <a:r>
              <a:rPr lang="en-US" sz="1700"/>
              <a:t>Week 2 - Anatomy of a Journal Article / Where’s the Gap? Mapping a Field</a:t>
            </a:r>
          </a:p>
          <a:p>
            <a:pPr lvl="0"/>
            <a:r>
              <a:rPr lang="en-US" sz="1700"/>
              <a:t>Overview:</a:t>
            </a:r>
          </a:p>
          <a:p>
            <a:pPr lvl="1"/>
            <a:r>
              <a:rPr lang="en-US" sz="1700"/>
              <a:t>What is a Journal Article? What is a Literature Review? (hours 1)</a:t>
            </a:r>
          </a:p>
          <a:p>
            <a:pPr lvl="1"/>
            <a:r>
              <a:rPr lang="en-US" sz="1700"/>
              <a:t>Mapping a Field (and Minding the Gap) (hour 2)</a:t>
            </a:r>
          </a:p>
          <a:p>
            <a:pPr lvl="1"/>
            <a:r>
              <a:rPr lang="en-US" sz="1700"/>
              <a:t>Design, Method and Structure of the Literature Review (hour 3)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0F1C62-FA5C-7F48-4603-246CC3FA8A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849" r="21035"/>
          <a:stretch>
            <a:fillRect/>
          </a:stretch>
        </p:blipFill>
        <p:spPr>
          <a:xfrm>
            <a:off x="5756743" y="1570482"/>
            <a:ext cx="2955798" cy="30723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3"/>
            <a:ext cx="7886700" cy="99417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4100"/>
              <a:t>Recap on Week 1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258029"/>
            <a:ext cx="8140446" cy="13716"/>
          </a:xfrm>
          <a:custGeom>
            <a:avLst/>
            <a:gdLst>
              <a:gd name="connsiteX0" fmla="*/ 0 w 8140446"/>
              <a:gd name="connsiteY0" fmla="*/ 0 h 13716"/>
              <a:gd name="connsiteX1" fmla="*/ 434157 w 8140446"/>
              <a:gd name="connsiteY1" fmla="*/ 0 h 13716"/>
              <a:gd name="connsiteX2" fmla="*/ 1193932 w 8140446"/>
              <a:gd name="connsiteY2" fmla="*/ 0 h 13716"/>
              <a:gd name="connsiteX3" fmla="*/ 1628089 w 8140446"/>
              <a:gd name="connsiteY3" fmla="*/ 0 h 13716"/>
              <a:gd name="connsiteX4" fmla="*/ 2225055 w 8140446"/>
              <a:gd name="connsiteY4" fmla="*/ 0 h 13716"/>
              <a:gd name="connsiteX5" fmla="*/ 3066235 w 8140446"/>
              <a:gd name="connsiteY5" fmla="*/ 0 h 13716"/>
              <a:gd name="connsiteX6" fmla="*/ 3744605 w 8140446"/>
              <a:gd name="connsiteY6" fmla="*/ 0 h 13716"/>
              <a:gd name="connsiteX7" fmla="*/ 4504380 w 8140446"/>
              <a:gd name="connsiteY7" fmla="*/ 0 h 13716"/>
              <a:gd name="connsiteX8" fmla="*/ 5101346 w 8140446"/>
              <a:gd name="connsiteY8" fmla="*/ 0 h 13716"/>
              <a:gd name="connsiteX9" fmla="*/ 5779717 w 8140446"/>
              <a:gd name="connsiteY9" fmla="*/ 0 h 13716"/>
              <a:gd name="connsiteX10" fmla="*/ 6620896 w 8140446"/>
              <a:gd name="connsiteY10" fmla="*/ 0 h 13716"/>
              <a:gd name="connsiteX11" fmla="*/ 7136458 w 8140446"/>
              <a:gd name="connsiteY11" fmla="*/ 0 h 13716"/>
              <a:gd name="connsiteX12" fmla="*/ 8140446 w 8140446"/>
              <a:gd name="connsiteY12" fmla="*/ 0 h 13716"/>
              <a:gd name="connsiteX13" fmla="*/ 8140446 w 8140446"/>
              <a:gd name="connsiteY13" fmla="*/ 13716 h 13716"/>
              <a:gd name="connsiteX14" fmla="*/ 7543480 w 8140446"/>
              <a:gd name="connsiteY14" fmla="*/ 13716 h 13716"/>
              <a:gd name="connsiteX15" fmla="*/ 7109323 w 8140446"/>
              <a:gd name="connsiteY15" fmla="*/ 13716 h 13716"/>
              <a:gd name="connsiteX16" fmla="*/ 6430952 w 8140446"/>
              <a:gd name="connsiteY16" fmla="*/ 13716 h 13716"/>
              <a:gd name="connsiteX17" fmla="*/ 5915391 w 8140446"/>
              <a:gd name="connsiteY17" fmla="*/ 13716 h 13716"/>
              <a:gd name="connsiteX18" fmla="*/ 5237020 w 8140446"/>
              <a:gd name="connsiteY18" fmla="*/ 13716 h 13716"/>
              <a:gd name="connsiteX19" fmla="*/ 4558650 w 8140446"/>
              <a:gd name="connsiteY19" fmla="*/ 13716 h 13716"/>
              <a:gd name="connsiteX20" fmla="*/ 3880279 w 8140446"/>
              <a:gd name="connsiteY20" fmla="*/ 13716 h 13716"/>
              <a:gd name="connsiteX21" fmla="*/ 3201909 w 8140446"/>
              <a:gd name="connsiteY21" fmla="*/ 13716 h 13716"/>
              <a:gd name="connsiteX22" fmla="*/ 2604943 w 8140446"/>
              <a:gd name="connsiteY22" fmla="*/ 13716 h 13716"/>
              <a:gd name="connsiteX23" fmla="*/ 1845168 w 8140446"/>
              <a:gd name="connsiteY23" fmla="*/ 13716 h 13716"/>
              <a:gd name="connsiteX24" fmla="*/ 1166797 w 8140446"/>
              <a:gd name="connsiteY24" fmla="*/ 13716 h 13716"/>
              <a:gd name="connsiteX25" fmla="*/ 0 w 8140446"/>
              <a:gd name="connsiteY25" fmla="*/ 13716 h 13716"/>
              <a:gd name="connsiteX26" fmla="*/ 0 w 8140446"/>
              <a:gd name="connsiteY2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3716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543" y="2784"/>
                  <a:pt x="8140462" y="9558"/>
                  <a:pt x="8140446" y="13716"/>
                </a:cubicBezTo>
                <a:cubicBezTo>
                  <a:pt x="7906329" y="-7615"/>
                  <a:pt x="7681180" y="22893"/>
                  <a:pt x="7543480" y="13716"/>
                </a:cubicBezTo>
                <a:cubicBezTo>
                  <a:pt x="7405780" y="4539"/>
                  <a:pt x="7216607" y="-912"/>
                  <a:pt x="7109323" y="13716"/>
                </a:cubicBezTo>
                <a:cubicBezTo>
                  <a:pt x="7002039" y="28344"/>
                  <a:pt x="6576231" y="38120"/>
                  <a:pt x="6430952" y="13716"/>
                </a:cubicBezTo>
                <a:cubicBezTo>
                  <a:pt x="6285673" y="-10688"/>
                  <a:pt x="6138840" y="29949"/>
                  <a:pt x="5915391" y="13716"/>
                </a:cubicBezTo>
                <a:cubicBezTo>
                  <a:pt x="5691942" y="-2517"/>
                  <a:pt x="5459460" y="47094"/>
                  <a:pt x="5237020" y="13716"/>
                </a:cubicBezTo>
                <a:cubicBezTo>
                  <a:pt x="5014580" y="-19662"/>
                  <a:pt x="4747677" y="35877"/>
                  <a:pt x="4558650" y="13716"/>
                </a:cubicBezTo>
                <a:cubicBezTo>
                  <a:pt x="4369623" y="-8445"/>
                  <a:pt x="4146061" y="7996"/>
                  <a:pt x="3880279" y="13716"/>
                </a:cubicBezTo>
                <a:cubicBezTo>
                  <a:pt x="3614497" y="19436"/>
                  <a:pt x="3473808" y="-17480"/>
                  <a:pt x="3201909" y="13716"/>
                </a:cubicBezTo>
                <a:cubicBezTo>
                  <a:pt x="2930010" y="44912"/>
                  <a:pt x="2728175" y="-8002"/>
                  <a:pt x="2604943" y="13716"/>
                </a:cubicBezTo>
                <a:cubicBezTo>
                  <a:pt x="2481711" y="35434"/>
                  <a:pt x="2004334" y="22380"/>
                  <a:pt x="1845168" y="13716"/>
                </a:cubicBezTo>
                <a:cubicBezTo>
                  <a:pt x="1686003" y="5052"/>
                  <a:pt x="1375070" y="33008"/>
                  <a:pt x="1166797" y="13716"/>
                </a:cubicBezTo>
                <a:cubicBezTo>
                  <a:pt x="958524" y="-5576"/>
                  <a:pt x="342846" y="4308"/>
                  <a:pt x="0" y="13716"/>
                </a:cubicBezTo>
                <a:cubicBezTo>
                  <a:pt x="-100" y="9589"/>
                  <a:pt x="468" y="2983"/>
                  <a:pt x="0" y="0"/>
                </a:cubicBezTo>
                <a:close/>
              </a:path>
              <a:path w="8140446" h="13716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39772" y="5682"/>
                  <a:pt x="8139843" y="9439"/>
                  <a:pt x="8140446" y="13716"/>
                </a:cubicBezTo>
                <a:cubicBezTo>
                  <a:pt x="7959314" y="-1227"/>
                  <a:pt x="7870113" y="5865"/>
                  <a:pt x="7706289" y="13716"/>
                </a:cubicBezTo>
                <a:cubicBezTo>
                  <a:pt x="7542465" y="21567"/>
                  <a:pt x="7157940" y="12910"/>
                  <a:pt x="6865109" y="13716"/>
                </a:cubicBezTo>
                <a:cubicBezTo>
                  <a:pt x="6572278" y="14522"/>
                  <a:pt x="6524256" y="33479"/>
                  <a:pt x="6349548" y="13716"/>
                </a:cubicBezTo>
                <a:cubicBezTo>
                  <a:pt x="6174840" y="-6047"/>
                  <a:pt x="5951624" y="-4398"/>
                  <a:pt x="5671177" y="13716"/>
                </a:cubicBezTo>
                <a:cubicBezTo>
                  <a:pt x="5390730" y="31830"/>
                  <a:pt x="5222992" y="55486"/>
                  <a:pt x="4829998" y="13716"/>
                </a:cubicBezTo>
                <a:cubicBezTo>
                  <a:pt x="4437004" y="-28054"/>
                  <a:pt x="4344181" y="34515"/>
                  <a:pt x="4151627" y="13716"/>
                </a:cubicBezTo>
                <a:cubicBezTo>
                  <a:pt x="3959073" y="-7083"/>
                  <a:pt x="3886970" y="28303"/>
                  <a:pt x="3717470" y="13716"/>
                </a:cubicBezTo>
                <a:cubicBezTo>
                  <a:pt x="3547970" y="-871"/>
                  <a:pt x="3451521" y="27300"/>
                  <a:pt x="3201909" y="13716"/>
                </a:cubicBezTo>
                <a:cubicBezTo>
                  <a:pt x="2952297" y="132"/>
                  <a:pt x="2543413" y="1457"/>
                  <a:pt x="2360729" y="13716"/>
                </a:cubicBezTo>
                <a:cubicBezTo>
                  <a:pt x="2178045" y="25975"/>
                  <a:pt x="1906056" y="21275"/>
                  <a:pt x="1682359" y="13716"/>
                </a:cubicBezTo>
                <a:cubicBezTo>
                  <a:pt x="1458662" y="6158"/>
                  <a:pt x="1330405" y="3474"/>
                  <a:pt x="1166797" y="13716"/>
                </a:cubicBezTo>
                <a:cubicBezTo>
                  <a:pt x="1003189" y="23958"/>
                  <a:pt x="278098" y="14961"/>
                  <a:pt x="0" y="13716"/>
                </a:cubicBezTo>
                <a:cubicBezTo>
                  <a:pt x="303" y="7982"/>
                  <a:pt x="182" y="5202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47038"/>
            <a:ext cx="7886700" cy="3188970"/>
          </a:xfrm>
        </p:spPr>
        <p:txBody>
          <a:bodyPr>
            <a:normAutofit/>
          </a:bodyPr>
          <a:lstStyle/>
          <a:p>
            <a:pPr lvl="0"/>
            <a:r>
              <a:rPr lang="en-US" sz="1700"/>
              <a:t>What is this course about? Do we need another course on academic literature?</a:t>
            </a:r>
          </a:p>
          <a:p>
            <a:pPr lvl="0"/>
            <a:r>
              <a:rPr lang="en-US" sz="1700"/>
              <a:t>Foundational: How to Develop a Literature Review</a:t>
            </a:r>
          </a:p>
          <a:p>
            <a:pPr lvl="0"/>
            <a:r>
              <a:rPr lang="en-US" sz="1700"/>
              <a:t>Future-Oriented: How AI is Impacting Academic Literature / Scholarship</a:t>
            </a:r>
          </a:p>
          <a:p>
            <a:pPr lvl="0"/>
            <a:r>
              <a:rPr lang="en-US" sz="1700"/>
              <a:t>Mix of Theory and Practice</a:t>
            </a:r>
          </a:p>
          <a:p>
            <a:pPr marL="0" lvl="0" indent="0">
              <a:buNone/>
            </a:pPr>
            <a:r>
              <a:rPr lang="en-US" sz="1700"/>
              <a:t>How do you build a sense of your field and its gaps? This course aims to make sense of a term – academic literature – at once mundane and mystical. It starts with fundamentals: how to build, annotate, analyze, map and translate a literature database into a literature review. It progresses to think about how AI and other technology can help foster more critical, analytic and reflexive modes of interpretation and understandings of the field.</a:t>
            </a:r>
          </a:p>
          <a:p>
            <a:pPr marL="0" lvl="0" indent="0">
              <a:buNone/>
            </a:pPr>
            <a:r>
              <a:rPr lang="en-US" sz="1700"/>
              <a:t>All required material (video lectures, readings etc.) will be provided to students.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192024"/>
            <a:ext cx="7879842" cy="761238"/>
          </a:xfrm>
        </p:spPr>
        <p:txBody>
          <a:bodyPr anchor="b">
            <a:normAutofit/>
          </a:bodyPr>
          <a:lstStyle/>
          <a:p>
            <a:pPr marL="0" lvl="0" indent="0">
              <a:buNone/>
            </a:pPr>
            <a:r>
              <a:rPr/>
              <a:t>Recap on Week 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225876"/>
            <a:ext cx="7838694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153632"/>
            <a:ext cx="1405092" cy="823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5326833"/>
              </p:ext>
            </p:extLst>
          </p:nvPr>
        </p:nvGraphicFramePr>
        <p:xfrm>
          <a:off x="628650" y="1647564"/>
          <a:ext cx="7886702" cy="28624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31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26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67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40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248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700" b="1"/>
                        <a:t>Week</a:t>
                      </a:r>
                    </a:p>
                  </a:txBody>
                  <a:tcPr marL="46019" marR="46019" marT="23010" marB="2301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700" b="1"/>
                        <a:t>Theory</a:t>
                      </a:r>
                    </a:p>
                  </a:txBody>
                  <a:tcPr marL="46019" marR="46019" marT="23010" marB="2301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700" b="1"/>
                        <a:t>Practice</a:t>
                      </a:r>
                    </a:p>
                  </a:txBody>
                  <a:tcPr marL="46019" marR="46019" marT="23010" marB="2301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700" b="1"/>
                        <a:t>Assessment</a:t>
                      </a:r>
                    </a:p>
                  </a:txBody>
                  <a:tcPr marL="46019" marR="46019" marT="23010" marB="2301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603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700" b="1"/>
                        <a:t>1</a:t>
                      </a:r>
                    </a:p>
                  </a:txBody>
                  <a:tcPr marL="46019" marR="46019" marT="23010" marB="2301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700"/>
                        <a:t>Course Overview / Anatomy of a Journal Article / What Makes a Good Research Question?</a:t>
                      </a:r>
                    </a:p>
                  </a:txBody>
                  <a:tcPr marL="46019" marR="46019" marT="23010" marB="2301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700"/>
                        <a:t>AI Tools for Literature</a:t>
                      </a:r>
                    </a:p>
                  </a:txBody>
                  <a:tcPr marL="46019" marR="46019" marT="23010" marB="2301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700"/>
                        <a:t>First Draft of Research Topic / Research Question</a:t>
                      </a:r>
                    </a:p>
                  </a:txBody>
                  <a:tcPr marL="46019" marR="46019" marT="23010" marB="2301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545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700" b="1"/>
                        <a:t>2</a:t>
                      </a:r>
                    </a:p>
                  </a:txBody>
                  <a:tcPr marL="46019" marR="46019" marT="23010" marB="2301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700"/>
                        <a:t>Academic Audiences and Techniques of Persuasion</a:t>
                      </a:r>
                    </a:p>
                  </a:txBody>
                  <a:tcPr marL="46019" marR="46019" marT="23010" marB="2301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700"/>
                        <a:t>Where’s the Gap? Mapping a Field</a:t>
                      </a:r>
                    </a:p>
                  </a:txBody>
                  <a:tcPr marL="46019" marR="46019" marT="23010" marB="2301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700"/>
                        <a:t>Design, Method and Structure of the Literature Review</a:t>
                      </a:r>
                    </a:p>
                  </a:txBody>
                  <a:tcPr marL="46019" marR="46019" marT="23010" marB="2301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545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700" b="1"/>
                        <a:t>3</a:t>
                      </a:r>
                    </a:p>
                  </a:txBody>
                  <a:tcPr marL="46019" marR="46019" marT="23010" marB="2301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700"/>
                        <a:t>Does Artificial Intelligence Mean Artificial Knowledge? How AI is Impacting Academia</a:t>
                      </a:r>
                    </a:p>
                  </a:txBody>
                  <a:tcPr marL="46019" marR="46019" marT="23010" marB="2301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700"/>
                        <a:t>Vibe Scholarship (Is It as Bad as It Sounds?)</a:t>
                      </a:r>
                    </a:p>
                  </a:txBody>
                  <a:tcPr marL="46019" marR="46019" marT="23010" marB="2301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700"/>
                        <a:t>Concept Map of the Literature</a:t>
                      </a:r>
                    </a:p>
                  </a:txBody>
                  <a:tcPr marL="46019" marR="46019" marT="23010" marB="2301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545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700" b="1"/>
                        <a:t>4</a:t>
                      </a:r>
                    </a:p>
                  </a:txBody>
                  <a:tcPr marL="46019" marR="46019" marT="23010" marB="2301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700"/>
                        <a:t>Finding Your Scholarly Voice: Peers / Audience / Venue / Field</a:t>
                      </a:r>
                    </a:p>
                  </a:txBody>
                  <a:tcPr marL="46019" marR="46019" marT="23010" marB="2301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700"/>
                        <a:t>Drafting a section of your review in a </a:t>
                      </a:r>
                      <a:r>
                        <a:rPr lang="en-US" sz="700" i="1"/>
                        <a:t>scientific</a:t>
                      </a:r>
                      <a:r>
                        <a:rPr lang="en-US" sz="700"/>
                        <a:t> and </a:t>
                      </a:r>
                      <a:r>
                        <a:rPr lang="en-US" sz="700" i="1"/>
                        <a:t>humanities</a:t>
                      </a:r>
                      <a:r>
                        <a:rPr lang="en-US" sz="700"/>
                        <a:t> mode</a:t>
                      </a:r>
                    </a:p>
                  </a:txBody>
                  <a:tcPr marL="46019" marR="46019" marT="23010" marB="2301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700"/>
                        <a:t>Literature Review Sample: In the Scientific Mode</a:t>
                      </a:r>
                    </a:p>
                  </a:txBody>
                  <a:tcPr marL="46019" marR="46019" marT="23010" marB="2301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545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700" b="1"/>
                        <a:t>5</a:t>
                      </a:r>
                    </a:p>
                  </a:txBody>
                  <a:tcPr marL="46019" marR="46019" marT="23010" marB="2301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700"/>
                        <a:t>“What Do I Know?” Towards A Sociology of Knowledge</a:t>
                      </a:r>
                    </a:p>
                  </a:txBody>
                  <a:tcPr marL="46019" marR="46019" marT="23010" marB="2301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700"/>
                        <a:t>Framing Language: “Carry” Your Reader</a:t>
                      </a:r>
                    </a:p>
                  </a:txBody>
                  <a:tcPr marL="46019" marR="46019" marT="23010" marB="2301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700"/>
                        <a:t>Frame up your Literature Review</a:t>
                      </a:r>
                    </a:p>
                  </a:txBody>
                  <a:tcPr marL="46019" marR="46019" marT="23010" marB="2301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8603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700" b="1"/>
                        <a:t>6</a:t>
                      </a:r>
                    </a:p>
                  </a:txBody>
                  <a:tcPr marL="46019" marR="46019" marT="23010" marB="2301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700"/>
                        <a:t>The Reflexive Researcher and Interpreting Scholarship</a:t>
                      </a:r>
                    </a:p>
                  </a:txBody>
                  <a:tcPr marL="46019" marR="46019" marT="23010" marB="2301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700"/>
                        <a:t>Reflecting on your positionality vis-a-vis interpretation; drafting a statement about AI’s epistemic role</a:t>
                      </a:r>
                    </a:p>
                  </a:txBody>
                  <a:tcPr marL="46019" marR="46019" marT="23010" marB="2301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700"/>
                        <a:t>Statement on the Use of AI in Your Literature Review / Reflection on the Role of AI in Academia</a:t>
                      </a:r>
                    </a:p>
                  </a:txBody>
                  <a:tcPr marL="46019" marR="46019" marT="23010" marB="2301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0545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700" b="1"/>
                        <a:t>7</a:t>
                      </a:r>
                    </a:p>
                  </a:txBody>
                  <a:tcPr marL="46019" marR="46019" marT="23010" marB="2301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700"/>
                        <a:t>The Automatic Academy? The Future of Scholarship</a:t>
                      </a:r>
                    </a:p>
                  </a:txBody>
                  <a:tcPr marL="46019" marR="46019" marT="23010" marB="2301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700"/>
                        <a:t>Compiling a complete literature review</a:t>
                      </a:r>
                    </a:p>
                  </a:txBody>
                  <a:tcPr marL="46019" marR="46019" marT="23010" marB="2301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700"/>
                        <a:t>Final Literature Review</a:t>
                      </a:r>
                    </a:p>
                  </a:txBody>
                  <a:tcPr marL="46019" marR="46019" marT="23010" marB="2301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3"/>
            <a:ext cx="7886700" cy="99417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4100"/>
              <a:t>Anatomy of a Journal Article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258029"/>
            <a:ext cx="8140446" cy="13716"/>
          </a:xfrm>
          <a:custGeom>
            <a:avLst/>
            <a:gdLst>
              <a:gd name="connsiteX0" fmla="*/ 0 w 8140446"/>
              <a:gd name="connsiteY0" fmla="*/ 0 h 13716"/>
              <a:gd name="connsiteX1" fmla="*/ 434157 w 8140446"/>
              <a:gd name="connsiteY1" fmla="*/ 0 h 13716"/>
              <a:gd name="connsiteX2" fmla="*/ 1193932 w 8140446"/>
              <a:gd name="connsiteY2" fmla="*/ 0 h 13716"/>
              <a:gd name="connsiteX3" fmla="*/ 1628089 w 8140446"/>
              <a:gd name="connsiteY3" fmla="*/ 0 h 13716"/>
              <a:gd name="connsiteX4" fmla="*/ 2225055 w 8140446"/>
              <a:gd name="connsiteY4" fmla="*/ 0 h 13716"/>
              <a:gd name="connsiteX5" fmla="*/ 3066235 w 8140446"/>
              <a:gd name="connsiteY5" fmla="*/ 0 h 13716"/>
              <a:gd name="connsiteX6" fmla="*/ 3744605 w 8140446"/>
              <a:gd name="connsiteY6" fmla="*/ 0 h 13716"/>
              <a:gd name="connsiteX7" fmla="*/ 4504380 w 8140446"/>
              <a:gd name="connsiteY7" fmla="*/ 0 h 13716"/>
              <a:gd name="connsiteX8" fmla="*/ 5101346 w 8140446"/>
              <a:gd name="connsiteY8" fmla="*/ 0 h 13716"/>
              <a:gd name="connsiteX9" fmla="*/ 5779717 w 8140446"/>
              <a:gd name="connsiteY9" fmla="*/ 0 h 13716"/>
              <a:gd name="connsiteX10" fmla="*/ 6620896 w 8140446"/>
              <a:gd name="connsiteY10" fmla="*/ 0 h 13716"/>
              <a:gd name="connsiteX11" fmla="*/ 7136458 w 8140446"/>
              <a:gd name="connsiteY11" fmla="*/ 0 h 13716"/>
              <a:gd name="connsiteX12" fmla="*/ 8140446 w 8140446"/>
              <a:gd name="connsiteY12" fmla="*/ 0 h 13716"/>
              <a:gd name="connsiteX13" fmla="*/ 8140446 w 8140446"/>
              <a:gd name="connsiteY13" fmla="*/ 13716 h 13716"/>
              <a:gd name="connsiteX14" fmla="*/ 7543480 w 8140446"/>
              <a:gd name="connsiteY14" fmla="*/ 13716 h 13716"/>
              <a:gd name="connsiteX15" fmla="*/ 7109323 w 8140446"/>
              <a:gd name="connsiteY15" fmla="*/ 13716 h 13716"/>
              <a:gd name="connsiteX16" fmla="*/ 6430952 w 8140446"/>
              <a:gd name="connsiteY16" fmla="*/ 13716 h 13716"/>
              <a:gd name="connsiteX17" fmla="*/ 5915391 w 8140446"/>
              <a:gd name="connsiteY17" fmla="*/ 13716 h 13716"/>
              <a:gd name="connsiteX18" fmla="*/ 5237020 w 8140446"/>
              <a:gd name="connsiteY18" fmla="*/ 13716 h 13716"/>
              <a:gd name="connsiteX19" fmla="*/ 4558650 w 8140446"/>
              <a:gd name="connsiteY19" fmla="*/ 13716 h 13716"/>
              <a:gd name="connsiteX20" fmla="*/ 3880279 w 8140446"/>
              <a:gd name="connsiteY20" fmla="*/ 13716 h 13716"/>
              <a:gd name="connsiteX21" fmla="*/ 3201909 w 8140446"/>
              <a:gd name="connsiteY21" fmla="*/ 13716 h 13716"/>
              <a:gd name="connsiteX22" fmla="*/ 2604943 w 8140446"/>
              <a:gd name="connsiteY22" fmla="*/ 13716 h 13716"/>
              <a:gd name="connsiteX23" fmla="*/ 1845168 w 8140446"/>
              <a:gd name="connsiteY23" fmla="*/ 13716 h 13716"/>
              <a:gd name="connsiteX24" fmla="*/ 1166797 w 8140446"/>
              <a:gd name="connsiteY24" fmla="*/ 13716 h 13716"/>
              <a:gd name="connsiteX25" fmla="*/ 0 w 8140446"/>
              <a:gd name="connsiteY25" fmla="*/ 13716 h 13716"/>
              <a:gd name="connsiteX26" fmla="*/ 0 w 8140446"/>
              <a:gd name="connsiteY2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3716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543" y="2784"/>
                  <a:pt x="8140462" y="9558"/>
                  <a:pt x="8140446" y="13716"/>
                </a:cubicBezTo>
                <a:cubicBezTo>
                  <a:pt x="7906329" y="-7615"/>
                  <a:pt x="7681180" y="22893"/>
                  <a:pt x="7543480" y="13716"/>
                </a:cubicBezTo>
                <a:cubicBezTo>
                  <a:pt x="7405780" y="4539"/>
                  <a:pt x="7216607" y="-912"/>
                  <a:pt x="7109323" y="13716"/>
                </a:cubicBezTo>
                <a:cubicBezTo>
                  <a:pt x="7002039" y="28344"/>
                  <a:pt x="6576231" y="38120"/>
                  <a:pt x="6430952" y="13716"/>
                </a:cubicBezTo>
                <a:cubicBezTo>
                  <a:pt x="6285673" y="-10688"/>
                  <a:pt x="6138840" y="29949"/>
                  <a:pt x="5915391" y="13716"/>
                </a:cubicBezTo>
                <a:cubicBezTo>
                  <a:pt x="5691942" y="-2517"/>
                  <a:pt x="5459460" y="47094"/>
                  <a:pt x="5237020" y="13716"/>
                </a:cubicBezTo>
                <a:cubicBezTo>
                  <a:pt x="5014580" y="-19662"/>
                  <a:pt x="4747677" y="35877"/>
                  <a:pt x="4558650" y="13716"/>
                </a:cubicBezTo>
                <a:cubicBezTo>
                  <a:pt x="4369623" y="-8445"/>
                  <a:pt x="4146061" y="7996"/>
                  <a:pt x="3880279" y="13716"/>
                </a:cubicBezTo>
                <a:cubicBezTo>
                  <a:pt x="3614497" y="19436"/>
                  <a:pt x="3473808" y="-17480"/>
                  <a:pt x="3201909" y="13716"/>
                </a:cubicBezTo>
                <a:cubicBezTo>
                  <a:pt x="2930010" y="44912"/>
                  <a:pt x="2728175" y="-8002"/>
                  <a:pt x="2604943" y="13716"/>
                </a:cubicBezTo>
                <a:cubicBezTo>
                  <a:pt x="2481711" y="35434"/>
                  <a:pt x="2004334" y="22380"/>
                  <a:pt x="1845168" y="13716"/>
                </a:cubicBezTo>
                <a:cubicBezTo>
                  <a:pt x="1686003" y="5052"/>
                  <a:pt x="1375070" y="33008"/>
                  <a:pt x="1166797" y="13716"/>
                </a:cubicBezTo>
                <a:cubicBezTo>
                  <a:pt x="958524" y="-5576"/>
                  <a:pt x="342846" y="4308"/>
                  <a:pt x="0" y="13716"/>
                </a:cubicBezTo>
                <a:cubicBezTo>
                  <a:pt x="-100" y="9589"/>
                  <a:pt x="468" y="2983"/>
                  <a:pt x="0" y="0"/>
                </a:cubicBezTo>
                <a:close/>
              </a:path>
              <a:path w="8140446" h="13716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39772" y="5682"/>
                  <a:pt x="8139843" y="9439"/>
                  <a:pt x="8140446" y="13716"/>
                </a:cubicBezTo>
                <a:cubicBezTo>
                  <a:pt x="7959314" y="-1227"/>
                  <a:pt x="7870113" y="5865"/>
                  <a:pt x="7706289" y="13716"/>
                </a:cubicBezTo>
                <a:cubicBezTo>
                  <a:pt x="7542465" y="21567"/>
                  <a:pt x="7157940" y="12910"/>
                  <a:pt x="6865109" y="13716"/>
                </a:cubicBezTo>
                <a:cubicBezTo>
                  <a:pt x="6572278" y="14522"/>
                  <a:pt x="6524256" y="33479"/>
                  <a:pt x="6349548" y="13716"/>
                </a:cubicBezTo>
                <a:cubicBezTo>
                  <a:pt x="6174840" y="-6047"/>
                  <a:pt x="5951624" y="-4398"/>
                  <a:pt x="5671177" y="13716"/>
                </a:cubicBezTo>
                <a:cubicBezTo>
                  <a:pt x="5390730" y="31830"/>
                  <a:pt x="5222992" y="55486"/>
                  <a:pt x="4829998" y="13716"/>
                </a:cubicBezTo>
                <a:cubicBezTo>
                  <a:pt x="4437004" y="-28054"/>
                  <a:pt x="4344181" y="34515"/>
                  <a:pt x="4151627" y="13716"/>
                </a:cubicBezTo>
                <a:cubicBezTo>
                  <a:pt x="3959073" y="-7083"/>
                  <a:pt x="3886970" y="28303"/>
                  <a:pt x="3717470" y="13716"/>
                </a:cubicBezTo>
                <a:cubicBezTo>
                  <a:pt x="3547970" y="-871"/>
                  <a:pt x="3451521" y="27300"/>
                  <a:pt x="3201909" y="13716"/>
                </a:cubicBezTo>
                <a:cubicBezTo>
                  <a:pt x="2952297" y="132"/>
                  <a:pt x="2543413" y="1457"/>
                  <a:pt x="2360729" y="13716"/>
                </a:cubicBezTo>
                <a:cubicBezTo>
                  <a:pt x="2178045" y="25975"/>
                  <a:pt x="1906056" y="21275"/>
                  <a:pt x="1682359" y="13716"/>
                </a:cubicBezTo>
                <a:cubicBezTo>
                  <a:pt x="1458662" y="6158"/>
                  <a:pt x="1330405" y="3474"/>
                  <a:pt x="1166797" y="13716"/>
                </a:cubicBezTo>
                <a:cubicBezTo>
                  <a:pt x="1003189" y="23958"/>
                  <a:pt x="278098" y="14961"/>
                  <a:pt x="0" y="13716"/>
                </a:cubicBezTo>
                <a:cubicBezTo>
                  <a:pt x="303" y="7982"/>
                  <a:pt x="182" y="5202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47038"/>
            <a:ext cx="7886700" cy="3188970"/>
          </a:xfrm>
        </p:spPr>
        <p:txBody>
          <a:bodyPr>
            <a:normAutofit/>
          </a:bodyPr>
          <a:lstStyle/>
          <a:p>
            <a:pPr lvl="0"/>
            <a:r>
              <a:rPr lang="en-US" sz="1700"/>
              <a:t>Think back to Weber: the “Journal Article” is the vehicle of choice for transmitting science (German: </a:t>
            </a:r>
            <a:r>
              <a:rPr lang="en-US" sz="1700" i="1"/>
              <a:t>Wissenschaft</a:t>
            </a:r>
            <a:r>
              <a:rPr lang="en-US" sz="1700"/>
              <a:t>, or what we would call knowledge)</a:t>
            </a:r>
          </a:p>
          <a:p>
            <a:pPr lvl="0"/>
            <a:r>
              <a:rPr lang="en-US" sz="1700"/>
              <a:t>We read dozens, hundreds, thousands…</a:t>
            </a:r>
          </a:p>
          <a:p>
            <a:pPr lvl="0"/>
            <a:r>
              <a:rPr lang="en-US" sz="1700"/>
              <a:t>Our life is conditioned by the results of journal articles</a:t>
            </a:r>
          </a:p>
          <a:p>
            <a:pPr lvl="1"/>
            <a:r>
              <a:rPr lang="en-US" sz="1700"/>
              <a:t>For example, “AI” is today completely dominated by a single paper, “Attention is All You Need” (GS cites: &gt; 200K)</a:t>
            </a:r>
          </a:p>
          <a:p>
            <a:pPr lvl="0"/>
            <a:r>
              <a:rPr lang="en-US" sz="1700"/>
              <a:t>But what </a:t>
            </a:r>
            <a:r>
              <a:rPr lang="en-US" sz="1700" i="1"/>
              <a:t>is</a:t>
            </a:r>
            <a:r>
              <a:rPr lang="en-US" sz="1700"/>
              <a:t> a journal article? How do you </a:t>
            </a:r>
            <a:r>
              <a:rPr lang="en-US" sz="1700" i="1"/>
              <a:t>analyze</a:t>
            </a:r>
            <a:r>
              <a:rPr lang="en-US" sz="1700"/>
              <a:t> one? How do you </a:t>
            </a:r>
            <a:r>
              <a:rPr lang="en-US" sz="1700" i="1"/>
              <a:t>write</a:t>
            </a:r>
            <a:r>
              <a:rPr lang="en-US" sz="1700"/>
              <a:t> one?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258029"/>
            <a:ext cx="8140446" cy="13716"/>
          </a:xfrm>
          <a:custGeom>
            <a:avLst/>
            <a:gdLst>
              <a:gd name="connsiteX0" fmla="*/ 0 w 8140446"/>
              <a:gd name="connsiteY0" fmla="*/ 0 h 13716"/>
              <a:gd name="connsiteX1" fmla="*/ 434157 w 8140446"/>
              <a:gd name="connsiteY1" fmla="*/ 0 h 13716"/>
              <a:gd name="connsiteX2" fmla="*/ 1193932 w 8140446"/>
              <a:gd name="connsiteY2" fmla="*/ 0 h 13716"/>
              <a:gd name="connsiteX3" fmla="*/ 1628089 w 8140446"/>
              <a:gd name="connsiteY3" fmla="*/ 0 h 13716"/>
              <a:gd name="connsiteX4" fmla="*/ 2225055 w 8140446"/>
              <a:gd name="connsiteY4" fmla="*/ 0 h 13716"/>
              <a:gd name="connsiteX5" fmla="*/ 3066235 w 8140446"/>
              <a:gd name="connsiteY5" fmla="*/ 0 h 13716"/>
              <a:gd name="connsiteX6" fmla="*/ 3744605 w 8140446"/>
              <a:gd name="connsiteY6" fmla="*/ 0 h 13716"/>
              <a:gd name="connsiteX7" fmla="*/ 4504380 w 8140446"/>
              <a:gd name="connsiteY7" fmla="*/ 0 h 13716"/>
              <a:gd name="connsiteX8" fmla="*/ 5101346 w 8140446"/>
              <a:gd name="connsiteY8" fmla="*/ 0 h 13716"/>
              <a:gd name="connsiteX9" fmla="*/ 5779717 w 8140446"/>
              <a:gd name="connsiteY9" fmla="*/ 0 h 13716"/>
              <a:gd name="connsiteX10" fmla="*/ 6620896 w 8140446"/>
              <a:gd name="connsiteY10" fmla="*/ 0 h 13716"/>
              <a:gd name="connsiteX11" fmla="*/ 7136458 w 8140446"/>
              <a:gd name="connsiteY11" fmla="*/ 0 h 13716"/>
              <a:gd name="connsiteX12" fmla="*/ 8140446 w 8140446"/>
              <a:gd name="connsiteY12" fmla="*/ 0 h 13716"/>
              <a:gd name="connsiteX13" fmla="*/ 8140446 w 8140446"/>
              <a:gd name="connsiteY13" fmla="*/ 13716 h 13716"/>
              <a:gd name="connsiteX14" fmla="*/ 7543480 w 8140446"/>
              <a:gd name="connsiteY14" fmla="*/ 13716 h 13716"/>
              <a:gd name="connsiteX15" fmla="*/ 7109323 w 8140446"/>
              <a:gd name="connsiteY15" fmla="*/ 13716 h 13716"/>
              <a:gd name="connsiteX16" fmla="*/ 6430952 w 8140446"/>
              <a:gd name="connsiteY16" fmla="*/ 13716 h 13716"/>
              <a:gd name="connsiteX17" fmla="*/ 5915391 w 8140446"/>
              <a:gd name="connsiteY17" fmla="*/ 13716 h 13716"/>
              <a:gd name="connsiteX18" fmla="*/ 5237020 w 8140446"/>
              <a:gd name="connsiteY18" fmla="*/ 13716 h 13716"/>
              <a:gd name="connsiteX19" fmla="*/ 4558650 w 8140446"/>
              <a:gd name="connsiteY19" fmla="*/ 13716 h 13716"/>
              <a:gd name="connsiteX20" fmla="*/ 3880279 w 8140446"/>
              <a:gd name="connsiteY20" fmla="*/ 13716 h 13716"/>
              <a:gd name="connsiteX21" fmla="*/ 3201909 w 8140446"/>
              <a:gd name="connsiteY21" fmla="*/ 13716 h 13716"/>
              <a:gd name="connsiteX22" fmla="*/ 2604943 w 8140446"/>
              <a:gd name="connsiteY22" fmla="*/ 13716 h 13716"/>
              <a:gd name="connsiteX23" fmla="*/ 1845168 w 8140446"/>
              <a:gd name="connsiteY23" fmla="*/ 13716 h 13716"/>
              <a:gd name="connsiteX24" fmla="*/ 1166797 w 8140446"/>
              <a:gd name="connsiteY24" fmla="*/ 13716 h 13716"/>
              <a:gd name="connsiteX25" fmla="*/ 0 w 8140446"/>
              <a:gd name="connsiteY25" fmla="*/ 13716 h 13716"/>
              <a:gd name="connsiteX26" fmla="*/ 0 w 8140446"/>
              <a:gd name="connsiteY2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3716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543" y="2784"/>
                  <a:pt x="8140462" y="9558"/>
                  <a:pt x="8140446" y="13716"/>
                </a:cubicBezTo>
                <a:cubicBezTo>
                  <a:pt x="7906329" y="-7615"/>
                  <a:pt x="7681180" y="22893"/>
                  <a:pt x="7543480" y="13716"/>
                </a:cubicBezTo>
                <a:cubicBezTo>
                  <a:pt x="7405780" y="4539"/>
                  <a:pt x="7216607" y="-912"/>
                  <a:pt x="7109323" y="13716"/>
                </a:cubicBezTo>
                <a:cubicBezTo>
                  <a:pt x="7002039" y="28344"/>
                  <a:pt x="6576231" y="38120"/>
                  <a:pt x="6430952" y="13716"/>
                </a:cubicBezTo>
                <a:cubicBezTo>
                  <a:pt x="6285673" y="-10688"/>
                  <a:pt x="6138840" y="29949"/>
                  <a:pt x="5915391" y="13716"/>
                </a:cubicBezTo>
                <a:cubicBezTo>
                  <a:pt x="5691942" y="-2517"/>
                  <a:pt x="5459460" y="47094"/>
                  <a:pt x="5237020" y="13716"/>
                </a:cubicBezTo>
                <a:cubicBezTo>
                  <a:pt x="5014580" y="-19662"/>
                  <a:pt x="4747677" y="35877"/>
                  <a:pt x="4558650" y="13716"/>
                </a:cubicBezTo>
                <a:cubicBezTo>
                  <a:pt x="4369623" y="-8445"/>
                  <a:pt x="4146061" y="7996"/>
                  <a:pt x="3880279" y="13716"/>
                </a:cubicBezTo>
                <a:cubicBezTo>
                  <a:pt x="3614497" y="19436"/>
                  <a:pt x="3473808" y="-17480"/>
                  <a:pt x="3201909" y="13716"/>
                </a:cubicBezTo>
                <a:cubicBezTo>
                  <a:pt x="2930010" y="44912"/>
                  <a:pt x="2728175" y="-8002"/>
                  <a:pt x="2604943" y="13716"/>
                </a:cubicBezTo>
                <a:cubicBezTo>
                  <a:pt x="2481711" y="35434"/>
                  <a:pt x="2004334" y="22380"/>
                  <a:pt x="1845168" y="13716"/>
                </a:cubicBezTo>
                <a:cubicBezTo>
                  <a:pt x="1686003" y="5052"/>
                  <a:pt x="1375070" y="33008"/>
                  <a:pt x="1166797" y="13716"/>
                </a:cubicBezTo>
                <a:cubicBezTo>
                  <a:pt x="958524" y="-5576"/>
                  <a:pt x="342846" y="4308"/>
                  <a:pt x="0" y="13716"/>
                </a:cubicBezTo>
                <a:cubicBezTo>
                  <a:pt x="-100" y="9589"/>
                  <a:pt x="468" y="2983"/>
                  <a:pt x="0" y="0"/>
                </a:cubicBezTo>
                <a:close/>
              </a:path>
              <a:path w="8140446" h="13716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39772" y="5682"/>
                  <a:pt x="8139843" y="9439"/>
                  <a:pt x="8140446" y="13716"/>
                </a:cubicBezTo>
                <a:cubicBezTo>
                  <a:pt x="7959314" y="-1227"/>
                  <a:pt x="7870113" y="5865"/>
                  <a:pt x="7706289" y="13716"/>
                </a:cubicBezTo>
                <a:cubicBezTo>
                  <a:pt x="7542465" y="21567"/>
                  <a:pt x="7157940" y="12910"/>
                  <a:pt x="6865109" y="13716"/>
                </a:cubicBezTo>
                <a:cubicBezTo>
                  <a:pt x="6572278" y="14522"/>
                  <a:pt x="6524256" y="33479"/>
                  <a:pt x="6349548" y="13716"/>
                </a:cubicBezTo>
                <a:cubicBezTo>
                  <a:pt x="6174840" y="-6047"/>
                  <a:pt x="5951624" y="-4398"/>
                  <a:pt x="5671177" y="13716"/>
                </a:cubicBezTo>
                <a:cubicBezTo>
                  <a:pt x="5390730" y="31830"/>
                  <a:pt x="5222992" y="55486"/>
                  <a:pt x="4829998" y="13716"/>
                </a:cubicBezTo>
                <a:cubicBezTo>
                  <a:pt x="4437004" y="-28054"/>
                  <a:pt x="4344181" y="34515"/>
                  <a:pt x="4151627" y="13716"/>
                </a:cubicBezTo>
                <a:cubicBezTo>
                  <a:pt x="3959073" y="-7083"/>
                  <a:pt x="3886970" y="28303"/>
                  <a:pt x="3717470" y="13716"/>
                </a:cubicBezTo>
                <a:cubicBezTo>
                  <a:pt x="3547970" y="-871"/>
                  <a:pt x="3451521" y="27300"/>
                  <a:pt x="3201909" y="13716"/>
                </a:cubicBezTo>
                <a:cubicBezTo>
                  <a:pt x="2952297" y="132"/>
                  <a:pt x="2543413" y="1457"/>
                  <a:pt x="2360729" y="13716"/>
                </a:cubicBezTo>
                <a:cubicBezTo>
                  <a:pt x="2178045" y="25975"/>
                  <a:pt x="1906056" y="21275"/>
                  <a:pt x="1682359" y="13716"/>
                </a:cubicBezTo>
                <a:cubicBezTo>
                  <a:pt x="1458662" y="6158"/>
                  <a:pt x="1330405" y="3474"/>
                  <a:pt x="1166797" y="13716"/>
                </a:cubicBezTo>
                <a:cubicBezTo>
                  <a:pt x="1003189" y="23958"/>
                  <a:pt x="278098" y="14961"/>
                  <a:pt x="0" y="13716"/>
                </a:cubicBezTo>
                <a:cubicBezTo>
                  <a:pt x="303" y="7982"/>
                  <a:pt x="182" y="5202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47038"/>
            <a:ext cx="7886700" cy="3188970"/>
          </a:xfrm>
        </p:spPr>
        <p:txBody>
          <a:bodyPr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lang="en-US" sz="1600" b="1"/>
              <a:t>Quick history:</a:t>
            </a:r>
          </a:p>
          <a:p>
            <a:pPr lvl="0"/>
            <a:r>
              <a:rPr lang="en-US" sz="1600"/>
              <a:t>The “journal” is a recent invention</a:t>
            </a:r>
          </a:p>
          <a:p>
            <a:pPr lvl="0"/>
            <a:r>
              <a:rPr lang="en-US" sz="1600"/>
              <a:t>Convenient communication of science (17-19th centuries)</a:t>
            </a:r>
          </a:p>
          <a:p>
            <a:pPr lvl="0"/>
            <a:r>
              <a:rPr lang="en-US" sz="1600"/>
              <a:t>Involves the following “ontology”:</a:t>
            </a:r>
          </a:p>
          <a:p>
            <a:pPr lvl="1"/>
            <a:r>
              <a:rPr lang="en-US" sz="1600"/>
              <a:t>A collection of </a:t>
            </a:r>
            <a:r>
              <a:rPr lang="en-US" sz="1600" b="1"/>
              <a:t>articles</a:t>
            </a:r>
          </a:p>
          <a:p>
            <a:pPr lvl="1"/>
            <a:r>
              <a:rPr lang="en-US" sz="1600" b="1"/>
              <a:t>bold text</a:t>
            </a:r>
            <a:r>
              <a:rPr lang="en-US" sz="1600"/>
              <a:t>Authors of the article</a:t>
            </a:r>
          </a:p>
          <a:p>
            <a:pPr lvl="1"/>
            <a:r>
              <a:rPr lang="en-US" sz="1600"/>
              <a:t>An </a:t>
            </a:r>
            <a:r>
              <a:rPr lang="en-US" sz="1600" b="1"/>
              <a:t>editor</a:t>
            </a:r>
            <a:r>
              <a:rPr lang="en-US" sz="1600"/>
              <a:t> (who reviews and assembles articles)</a:t>
            </a:r>
          </a:p>
          <a:p>
            <a:pPr lvl="2"/>
            <a:r>
              <a:rPr lang="en-US" sz="1600" b="1"/>
              <a:t>Peer reviewers</a:t>
            </a:r>
            <a:r>
              <a:rPr lang="en-US" sz="1600"/>
              <a:t> (other scholars who the editor invites to review articles)</a:t>
            </a:r>
          </a:p>
          <a:p>
            <a:pPr lvl="1"/>
            <a:r>
              <a:rPr lang="en-US" sz="1600"/>
              <a:t>A </a:t>
            </a:r>
            <a:r>
              <a:rPr lang="en-US" sz="1600" b="1"/>
              <a:t>publisher</a:t>
            </a:r>
            <a:r>
              <a:rPr lang="en-US" sz="1600"/>
              <a:t> (who </a:t>
            </a:r>
            <a:r>
              <a:rPr lang="en-US" sz="1600" i="1"/>
              <a:t>recruits</a:t>
            </a:r>
            <a:r>
              <a:rPr lang="en-US" sz="1600"/>
              <a:t> the editor, </a:t>
            </a:r>
            <a:r>
              <a:rPr lang="en-US" sz="1600" i="1"/>
              <a:t>typesets</a:t>
            </a:r>
            <a:r>
              <a:rPr lang="en-US" sz="1600"/>
              <a:t>, </a:t>
            </a:r>
            <a:r>
              <a:rPr lang="en-US" sz="1600" i="1"/>
              <a:t>sells</a:t>
            </a:r>
            <a:r>
              <a:rPr lang="en-US" sz="1600"/>
              <a:t> and </a:t>
            </a:r>
            <a:r>
              <a:rPr lang="en-US" sz="1600" i="1"/>
              <a:t>distributes</a:t>
            </a:r>
            <a:r>
              <a:rPr lang="en-US" sz="1600"/>
              <a:t> the journal to readers)</a:t>
            </a:r>
          </a:p>
          <a:p>
            <a:pPr lvl="1"/>
            <a:r>
              <a:rPr lang="en-US" sz="1600"/>
              <a:t>A </a:t>
            </a:r>
            <a:r>
              <a:rPr lang="en-US" sz="1600" b="1"/>
              <a:t>readership</a:t>
            </a:r>
            <a:r>
              <a:rPr lang="en-US" sz="1600"/>
              <a:t> (who subscribes to the journal - very often </a:t>
            </a:r>
            <a:r>
              <a:rPr lang="en-US" sz="1600" b="1"/>
              <a:t>university libraries</a:t>
            </a:r>
            <a:r>
              <a:rPr lang="en-US" sz="1600"/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258029"/>
            <a:ext cx="8140446" cy="13716"/>
          </a:xfrm>
          <a:custGeom>
            <a:avLst/>
            <a:gdLst>
              <a:gd name="connsiteX0" fmla="*/ 0 w 8140446"/>
              <a:gd name="connsiteY0" fmla="*/ 0 h 13716"/>
              <a:gd name="connsiteX1" fmla="*/ 434157 w 8140446"/>
              <a:gd name="connsiteY1" fmla="*/ 0 h 13716"/>
              <a:gd name="connsiteX2" fmla="*/ 1193932 w 8140446"/>
              <a:gd name="connsiteY2" fmla="*/ 0 h 13716"/>
              <a:gd name="connsiteX3" fmla="*/ 1628089 w 8140446"/>
              <a:gd name="connsiteY3" fmla="*/ 0 h 13716"/>
              <a:gd name="connsiteX4" fmla="*/ 2225055 w 8140446"/>
              <a:gd name="connsiteY4" fmla="*/ 0 h 13716"/>
              <a:gd name="connsiteX5" fmla="*/ 3066235 w 8140446"/>
              <a:gd name="connsiteY5" fmla="*/ 0 h 13716"/>
              <a:gd name="connsiteX6" fmla="*/ 3744605 w 8140446"/>
              <a:gd name="connsiteY6" fmla="*/ 0 h 13716"/>
              <a:gd name="connsiteX7" fmla="*/ 4504380 w 8140446"/>
              <a:gd name="connsiteY7" fmla="*/ 0 h 13716"/>
              <a:gd name="connsiteX8" fmla="*/ 5101346 w 8140446"/>
              <a:gd name="connsiteY8" fmla="*/ 0 h 13716"/>
              <a:gd name="connsiteX9" fmla="*/ 5779717 w 8140446"/>
              <a:gd name="connsiteY9" fmla="*/ 0 h 13716"/>
              <a:gd name="connsiteX10" fmla="*/ 6620896 w 8140446"/>
              <a:gd name="connsiteY10" fmla="*/ 0 h 13716"/>
              <a:gd name="connsiteX11" fmla="*/ 7136458 w 8140446"/>
              <a:gd name="connsiteY11" fmla="*/ 0 h 13716"/>
              <a:gd name="connsiteX12" fmla="*/ 8140446 w 8140446"/>
              <a:gd name="connsiteY12" fmla="*/ 0 h 13716"/>
              <a:gd name="connsiteX13" fmla="*/ 8140446 w 8140446"/>
              <a:gd name="connsiteY13" fmla="*/ 13716 h 13716"/>
              <a:gd name="connsiteX14" fmla="*/ 7543480 w 8140446"/>
              <a:gd name="connsiteY14" fmla="*/ 13716 h 13716"/>
              <a:gd name="connsiteX15" fmla="*/ 7109323 w 8140446"/>
              <a:gd name="connsiteY15" fmla="*/ 13716 h 13716"/>
              <a:gd name="connsiteX16" fmla="*/ 6430952 w 8140446"/>
              <a:gd name="connsiteY16" fmla="*/ 13716 h 13716"/>
              <a:gd name="connsiteX17" fmla="*/ 5915391 w 8140446"/>
              <a:gd name="connsiteY17" fmla="*/ 13716 h 13716"/>
              <a:gd name="connsiteX18" fmla="*/ 5237020 w 8140446"/>
              <a:gd name="connsiteY18" fmla="*/ 13716 h 13716"/>
              <a:gd name="connsiteX19" fmla="*/ 4558650 w 8140446"/>
              <a:gd name="connsiteY19" fmla="*/ 13716 h 13716"/>
              <a:gd name="connsiteX20" fmla="*/ 3880279 w 8140446"/>
              <a:gd name="connsiteY20" fmla="*/ 13716 h 13716"/>
              <a:gd name="connsiteX21" fmla="*/ 3201909 w 8140446"/>
              <a:gd name="connsiteY21" fmla="*/ 13716 h 13716"/>
              <a:gd name="connsiteX22" fmla="*/ 2604943 w 8140446"/>
              <a:gd name="connsiteY22" fmla="*/ 13716 h 13716"/>
              <a:gd name="connsiteX23" fmla="*/ 1845168 w 8140446"/>
              <a:gd name="connsiteY23" fmla="*/ 13716 h 13716"/>
              <a:gd name="connsiteX24" fmla="*/ 1166797 w 8140446"/>
              <a:gd name="connsiteY24" fmla="*/ 13716 h 13716"/>
              <a:gd name="connsiteX25" fmla="*/ 0 w 8140446"/>
              <a:gd name="connsiteY25" fmla="*/ 13716 h 13716"/>
              <a:gd name="connsiteX26" fmla="*/ 0 w 8140446"/>
              <a:gd name="connsiteY2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3716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543" y="2784"/>
                  <a:pt x="8140462" y="9558"/>
                  <a:pt x="8140446" y="13716"/>
                </a:cubicBezTo>
                <a:cubicBezTo>
                  <a:pt x="7906329" y="-7615"/>
                  <a:pt x="7681180" y="22893"/>
                  <a:pt x="7543480" y="13716"/>
                </a:cubicBezTo>
                <a:cubicBezTo>
                  <a:pt x="7405780" y="4539"/>
                  <a:pt x="7216607" y="-912"/>
                  <a:pt x="7109323" y="13716"/>
                </a:cubicBezTo>
                <a:cubicBezTo>
                  <a:pt x="7002039" y="28344"/>
                  <a:pt x="6576231" y="38120"/>
                  <a:pt x="6430952" y="13716"/>
                </a:cubicBezTo>
                <a:cubicBezTo>
                  <a:pt x="6285673" y="-10688"/>
                  <a:pt x="6138840" y="29949"/>
                  <a:pt x="5915391" y="13716"/>
                </a:cubicBezTo>
                <a:cubicBezTo>
                  <a:pt x="5691942" y="-2517"/>
                  <a:pt x="5459460" y="47094"/>
                  <a:pt x="5237020" y="13716"/>
                </a:cubicBezTo>
                <a:cubicBezTo>
                  <a:pt x="5014580" y="-19662"/>
                  <a:pt x="4747677" y="35877"/>
                  <a:pt x="4558650" y="13716"/>
                </a:cubicBezTo>
                <a:cubicBezTo>
                  <a:pt x="4369623" y="-8445"/>
                  <a:pt x="4146061" y="7996"/>
                  <a:pt x="3880279" y="13716"/>
                </a:cubicBezTo>
                <a:cubicBezTo>
                  <a:pt x="3614497" y="19436"/>
                  <a:pt x="3473808" y="-17480"/>
                  <a:pt x="3201909" y="13716"/>
                </a:cubicBezTo>
                <a:cubicBezTo>
                  <a:pt x="2930010" y="44912"/>
                  <a:pt x="2728175" y="-8002"/>
                  <a:pt x="2604943" y="13716"/>
                </a:cubicBezTo>
                <a:cubicBezTo>
                  <a:pt x="2481711" y="35434"/>
                  <a:pt x="2004334" y="22380"/>
                  <a:pt x="1845168" y="13716"/>
                </a:cubicBezTo>
                <a:cubicBezTo>
                  <a:pt x="1686003" y="5052"/>
                  <a:pt x="1375070" y="33008"/>
                  <a:pt x="1166797" y="13716"/>
                </a:cubicBezTo>
                <a:cubicBezTo>
                  <a:pt x="958524" y="-5576"/>
                  <a:pt x="342846" y="4308"/>
                  <a:pt x="0" y="13716"/>
                </a:cubicBezTo>
                <a:cubicBezTo>
                  <a:pt x="-100" y="9589"/>
                  <a:pt x="468" y="2983"/>
                  <a:pt x="0" y="0"/>
                </a:cubicBezTo>
                <a:close/>
              </a:path>
              <a:path w="8140446" h="13716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39772" y="5682"/>
                  <a:pt x="8139843" y="9439"/>
                  <a:pt x="8140446" y="13716"/>
                </a:cubicBezTo>
                <a:cubicBezTo>
                  <a:pt x="7959314" y="-1227"/>
                  <a:pt x="7870113" y="5865"/>
                  <a:pt x="7706289" y="13716"/>
                </a:cubicBezTo>
                <a:cubicBezTo>
                  <a:pt x="7542465" y="21567"/>
                  <a:pt x="7157940" y="12910"/>
                  <a:pt x="6865109" y="13716"/>
                </a:cubicBezTo>
                <a:cubicBezTo>
                  <a:pt x="6572278" y="14522"/>
                  <a:pt x="6524256" y="33479"/>
                  <a:pt x="6349548" y="13716"/>
                </a:cubicBezTo>
                <a:cubicBezTo>
                  <a:pt x="6174840" y="-6047"/>
                  <a:pt x="5951624" y="-4398"/>
                  <a:pt x="5671177" y="13716"/>
                </a:cubicBezTo>
                <a:cubicBezTo>
                  <a:pt x="5390730" y="31830"/>
                  <a:pt x="5222992" y="55486"/>
                  <a:pt x="4829998" y="13716"/>
                </a:cubicBezTo>
                <a:cubicBezTo>
                  <a:pt x="4437004" y="-28054"/>
                  <a:pt x="4344181" y="34515"/>
                  <a:pt x="4151627" y="13716"/>
                </a:cubicBezTo>
                <a:cubicBezTo>
                  <a:pt x="3959073" y="-7083"/>
                  <a:pt x="3886970" y="28303"/>
                  <a:pt x="3717470" y="13716"/>
                </a:cubicBezTo>
                <a:cubicBezTo>
                  <a:pt x="3547970" y="-871"/>
                  <a:pt x="3451521" y="27300"/>
                  <a:pt x="3201909" y="13716"/>
                </a:cubicBezTo>
                <a:cubicBezTo>
                  <a:pt x="2952297" y="132"/>
                  <a:pt x="2543413" y="1457"/>
                  <a:pt x="2360729" y="13716"/>
                </a:cubicBezTo>
                <a:cubicBezTo>
                  <a:pt x="2178045" y="25975"/>
                  <a:pt x="1906056" y="21275"/>
                  <a:pt x="1682359" y="13716"/>
                </a:cubicBezTo>
                <a:cubicBezTo>
                  <a:pt x="1458662" y="6158"/>
                  <a:pt x="1330405" y="3474"/>
                  <a:pt x="1166797" y="13716"/>
                </a:cubicBezTo>
                <a:cubicBezTo>
                  <a:pt x="1003189" y="23958"/>
                  <a:pt x="278098" y="14961"/>
                  <a:pt x="0" y="13716"/>
                </a:cubicBezTo>
                <a:cubicBezTo>
                  <a:pt x="303" y="7982"/>
                  <a:pt x="182" y="5202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47038"/>
            <a:ext cx="7886700" cy="3188970"/>
          </a:xfrm>
        </p:spPr>
        <p:txBody>
          <a:bodyPr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lang="en-US" sz="1700" b="1"/>
              <a:t>Aside: Perversity of Publishing</a:t>
            </a:r>
          </a:p>
          <a:p>
            <a:pPr lvl="0"/>
            <a:r>
              <a:rPr lang="en-US" sz="1700" b="1"/>
              <a:t>University libraries</a:t>
            </a:r>
            <a:r>
              <a:rPr lang="en-US" sz="1700"/>
              <a:t> pay subscriptions to the </a:t>
            </a:r>
            <a:r>
              <a:rPr lang="en-US" sz="1700" b="1"/>
              <a:t>publisher</a:t>
            </a:r>
            <a:r>
              <a:rPr lang="en-US" sz="1700"/>
              <a:t> for articles that its own employees have authored (and edited and reviewed)</a:t>
            </a:r>
          </a:p>
          <a:p>
            <a:pPr lvl="1"/>
            <a:r>
              <a:rPr lang="en-US" sz="1700" b="1"/>
              <a:t>Why?</a:t>
            </a:r>
          </a:p>
          <a:p>
            <a:pPr lvl="0"/>
            <a:r>
              <a:rPr lang="en-US" sz="1700"/>
              <a:t>Are there alternatives?</a:t>
            </a:r>
          </a:p>
          <a:p>
            <a:pPr lvl="1"/>
            <a:r>
              <a:rPr lang="en-US" sz="1700"/>
              <a:t>Open access publishing (but questions of sustainability of volunteer labour / reputation / distribution reach)</a:t>
            </a:r>
          </a:p>
          <a:p>
            <a:pPr lvl="1"/>
            <a:r>
              <a:rPr lang="en-US" sz="1700"/>
              <a:t>Rise of “predatory publishing” (&amp; dreaded “Article Processing Charge” - upto $8K USD)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258029"/>
            <a:ext cx="8140446" cy="13716"/>
          </a:xfrm>
          <a:custGeom>
            <a:avLst/>
            <a:gdLst>
              <a:gd name="connsiteX0" fmla="*/ 0 w 8140446"/>
              <a:gd name="connsiteY0" fmla="*/ 0 h 13716"/>
              <a:gd name="connsiteX1" fmla="*/ 434157 w 8140446"/>
              <a:gd name="connsiteY1" fmla="*/ 0 h 13716"/>
              <a:gd name="connsiteX2" fmla="*/ 1193932 w 8140446"/>
              <a:gd name="connsiteY2" fmla="*/ 0 h 13716"/>
              <a:gd name="connsiteX3" fmla="*/ 1628089 w 8140446"/>
              <a:gd name="connsiteY3" fmla="*/ 0 h 13716"/>
              <a:gd name="connsiteX4" fmla="*/ 2225055 w 8140446"/>
              <a:gd name="connsiteY4" fmla="*/ 0 h 13716"/>
              <a:gd name="connsiteX5" fmla="*/ 3066235 w 8140446"/>
              <a:gd name="connsiteY5" fmla="*/ 0 h 13716"/>
              <a:gd name="connsiteX6" fmla="*/ 3744605 w 8140446"/>
              <a:gd name="connsiteY6" fmla="*/ 0 h 13716"/>
              <a:gd name="connsiteX7" fmla="*/ 4504380 w 8140446"/>
              <a:gd name="connsiteY7" fmla="*/ 0 h 13716"/>
              <a:gd name="connsiteX8" fmla="*/ 5101346 w 8140446"/>
              <a:gd name="connsiteY8" fmla="*/ 0 h 13716"/>
              <a:gd name="connsiteX9" fmla="*/ 5779717 w 8140446"/>
              <a:gd name="connsiteY9" fmla="*/ 0 h 13716"/>
              <a:gd name="connsiteX10" fmla="*/ 6620896 w 8140446"/>
              <a:gd name="connsiteY10" fmla="*/ 0 h 13716"/>
              <a:gd name="connsiteX11" fmla="*/ 7136458 w 8140446"/>
              <a:gd name="connsiteY11" fmla="*/ 0 h 13716"/>
              <a:gd name="connsiteX12" fmla="*/ 8140446 w 8140446"/>
              <a:gd name="connsiteY12" fmla="*/ 0 h 13716"/>
              <a:gd name="connsiteX13" fmla="*/ 8140446 w 8140446"/>
              <a:gd name="connsiteY13" fmla="*/ 13716 h 13716"/>
              <a:gd name="connsiteX14" fmla="*/ 7543480 w 8140446"/>
              <a:gd name="connsiteY14" fmla="*/ 13716 h 13716"/>
              <a:gd name="connsiteX15" fmla="*/ 7109323 w 8140446"/>
              <a:gd name="connsiteY15" fmla="*/ 13716 h 13716"/>
              <a:gd name="connsiteX16" fmla="*/ 6430952 w 8140446"/>
              <a:gd name="connsiteY16" fmla="*/ 13716 h 13716"/>
              <a:gd name="connsiteX17" fmla="*/ 5915391 w 8140446"/>
              <a:gd name="connsiteY17" fmla="*/ 13716 h 13716"/>
              <a:gd name="connsiteX18" fmla="*/ 5237020 w 8140446"/>
              <a:gd name="connsiteY18" fmla="*/ 13716 h 13716"/>
              <a:gd name="connsiteX19" fmla="*/ 4558650 w 8140446"/>
              <a:gd name="connsiteY19" fmla="*/ 13716 h 13716"/>
              <a:gd name="connsiteX20" fmla="*/ 3880279 w 8140446"/>
              <a:gd name="connsiteY20" fmla="*/ 13716 h 13716"/>
              <a:gd name="connsiteX21" fmla="*/ 3201909 w 8140446"/>
              <a:gd name="connsiteY21" fmla="*/ 13716 h 13716"/>
              <a:gd name="connsiteX22" fmla="*/ 2604943 w 8140446"/>
              <a:gd name="connsiteY22" fmla="*/ 13716 h 13716"/>
              <a:gd name="connsiteX23" fmla="*/ 1845168 w 8140446"/>
              <a:gd name="connsiteY23" fmla="*/ 13716 h 13716"/>
              <a:gd name="connsiteX24" fmla="*/ 1166797 w 8140446"/>
              <a:gd name="connsiteY24" fmla="*/ 13716 h 13716"/>
              <a:gd name="connsiteX25" fmla="*/ 0 w 8140446"/>
              <a:gd name="connsiteY25" fmla="*/ 13716 h 13716"/>
              <a:gd name="connsiteX26" fmla="*/ 0 w 8140446"/>
              <a:gd name="connsiteY2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3716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543" y="2784"/>
                  <a:pt x="8140462" y="9558"/>
                  <a:pt x="8140446" y="13716"/>
                </a:cubicBezTo>
                <a:cubicBezTo>
                  <a:pt x="7906329" y="-7615"/>
                  <a:pt x="7681180" y="22893"/>
                  <a:pt x="7543480" y="13716"/>
                </a:cubicBezTo>
                <a:cubicBezTo>
                  <a:pt x="7405780" y="4539"/>
                  <a:pt x="7216607" y="-912"/>
                  <a:pt x="7109323" y="13716"/>
                </a:cubicBezTo>
                <a:cubicBezTo>
                  <a:pt x="7002039" y="28344"/>
                  <a:pt x="6576231" y="38120"/>
                  <a:pt x="6430952" y="13716"/>
                </a:cubicBezTo>
                <a:cubicBezTo>
                  <a:pt x="6285673" y="-10688"/>
                  <a:pt x="6138840" y="29949"/>
                  <a:pt x="5915391" y="13716"/>
                </a:cubicBezTo>
                <a:cubicBezTo>
                  <a:pt x="5691942" y="-2517"/>
                  <a:pt x="5459460" y="47094"/>
                  <a:pt x="5237020" y="13716"/>
                </a:cubicBezTo>
                <a:cubicBezTo>
                  <a:pt x="5014580" y="-19662"/>
                  <a:pt x="4747677" y="35877"/>
                  <a:pt x="4558650" y="13716"/>
                </a:cubicBezTo>
                <a:cubicBezTo>
                  <a:pt x="4369623" y="-8445"/>
                  <a:pt x="4146061" y="7996"/>
                  <a:pt x="3880279" y="13716"/>
                </a:cubicBezTo>
                <a:cubicBezTo>
                  <a:pt x="3614497" y="19436"/>
                  <a:pt x="3473808" y="-17480"/>
                  <a:pt x="3201909" y="13716"/>
                </a:cubicBezTo>
                <a:cubicBezTo>
                  <a:pt x="2930010" y="44912"/>
                  <a:pt x="2728175" y="-8002"/>
                  <a:pt x="2604943" y="13716"/>
                </a:cubicBezTo>
                <a:cubicBezTo>
                  <a:pt x="2481711" y="35434"/>
                  <a:pt x="2004334" y="22380"/>
                  <a:pt x="1845168" y="13716"/>
                </a:cubicBezTo>
                <a:cubicBezTo>
                  <a:pt x="1686003" y="5052"/>
                  <a:pt x="1375070" y="33008"/>
                  <a:pt x="1166797" y="13716"/>
                </a:cubicBezTo>
                <a:cubicBezTo>
                  <a:pt x="958524" y="-5576"/>
                  <a:pt x="342846" y="4308"/>
                  <a:pt x="0" y="13716"/>
                </a:cubicBezTo>
                <a:cubicBezTo>
                  <a:pt x="-100" y="9589"/>
                  <a:pt x="468" y="2983"/>
                  <a:pt x="0" y="0"/>
                </a:cubicBezTo>
                <a:close/>
              </a:path>
              <a:path w="8140446" h="13716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39772" y="5682"/>
                  <a:pt x="8139843" y="9439"/>
                  <a:pt x="8140446" y="13716"/>
                </a:cubicBezTo>
                <a:cubicBezTo>
                  <a:pt x="7959314" y="-1227"/>
                  <a:pt x="7870113" y="5865"/>
                  <a:pt x="7706289" y="13716"/>
                </a:cubicBezTo>
                <a:cubicBezTo>
                  <a:pt x="7542465" y="21567"/>
                  <a:pt x="7157940" y="12910"/>
                  <a:pt x="6865109" y="13716"/>
                </a:cubicBezTo>
                <a:cubicBezTo>
                  <a:pt x="6572278" y="14522"/>
                  <a:pt x="6524256" y="33479"/>
                  <a:pt x="6349548" y="13716"/>
                </a:cubicBezTo>
                <a:cubicBezTo>
                  <a:pt x="6174840" y="-6047"/>
                  <a:pt x="5951624" y="-4398"/>
                  <a:pt x="5671177" y="13716"/>
                </a:cubicBezTo>
                <a:cubicBezTo>
                  <a:pt x="5390730" y="31830"/>
                  <a:pt x="5222992" y="55486"/>
                  <a:pt x="4829998" y="13716"/>
                </a:cubicBezTo>
                <a:cubicBezTo>
                  <a:pt x="4437004" y="-28054"/>
                  <a:pt x="4344181" y="34515"/>
                  <a:pt x="4151627" y="13716"/>
                </a:cubicBezTo>
                <a:cubicBezTo>
                  <a:pt x="3959073" y="-7083"/>
                  <a:pt x="3886970" y="28303"/>
                  <a:pt x="3717470" y="13716"/>
                </a:cubicBezTo>
                <a:cubicBezTo>
                  <a:pt x="3547970" y="-871"/>
                  <a:pt x="3451521" y="27300"/>
                  <a:pt x="3201909" y="13716"/>
                </a:cubicBezTo>
                <a:cubicBezTo>
                  <a:pt x="2952297" y="132"/>
                  <a:pt x="2543413" y="1457"/>
                  <a:pt x="2360729" y="13716"/>
                </a:cubicBezTo>
                <a:cubicBezTo>
                  <a:pt x="2178045" y="25975"/>
                  <a:pt x="1906056" y="21275"/>
                  <a:pt x="1682359" y="13716"/>
                </a:cubicBezTo>
                <a:cubicBezTo>
                  <a:pt x="1458662" y="6158"/>
                  <a:pt x="1330405" y="3474"/>
                  <a:pt x="1166797" y="13716"/>
                </a:cubicBezTo>
                <a:cubicBezTo>
                  <a:pt x="1003189" y="23958"/>
                  <a:pt x="278098" y="14961"/>
                  <a:pt x="0" y="13716"/>
                </a:cubicBezTo>
                <a:cubicBezTo>
                  <a:pt x="303" y="7982"/>
                  <a:pt x="182" y="5202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47038"/>
            <a:ext cx="7886700" cy="3188970"/>
          </a:xfrm>
        </p:spPr>
        <p:txBody>
          <a:bodyPr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lang="en-US" sz="1700" b="1"/>
              <a:t>What is the purpose of an article?</a:t>
            </a:r>
          </a:p>
          <a:p>
            <a:pPr lvl="0"/>
            <a:r>
              <a:rPr lang="en-US" sz="1700"/>
              <a:t>An article makes an </a:t>
            </a:r>
            <a:r>
              <a:rPr lang="en-US" sz="1700" b="1"/>
              <a:t>argument</a:t>
            </a:r>
          </a:p>
          <a:p>
            <a:pPr lvl="0"/>
            <a:r>
              <a:rPr lang="en-US" sz="1700"/>
              <a:t>As such, it is a form of </a:t>
            </a:r>
            <a:r>
              <a:rPr lang="en-US" sz="1700" b="1"/>
              <a:t>persuasive</a:t>
            </a:r>
            <a:r>
              <a:rPr lang="en-US" sz="1700"/>
              <a:t> writing</a:t>
            </a:r>
          </a:p>
          <a:p>
            <a:pPr lvl="1"/>
            <a:r>
              <a:rPr lang="en-US" sz="1700"/>
              <a:t>It aims to </a:t>
            </a:r>
            <a:r>
              <a:rPr lang="en-US" sz="1700" b="1"/>
              <a:t>change the mind</a:t>
            </a:r>
            <a:r>
              <a:rPr lang="en-US" sz="1700"/>
              <a:t> of a reader</a:t>
            </a:r>
          </a:p>
          <a:p>
            <a:pPr lvl="1"/>
            <a:r>
              <a:rPr lang="en-US" sz="1700"/>
              <a:t>But to do so, it must use </a:t>
            </a:r>
            <a:r>
              <a:rPr lang="en-US" sz="1700" b="1"/>
              <a:t>evidence</a:t>
            </a:r>
            <a:r>
              <a:rPr lang="en-US" sz="1700"/>
              <a:t> (and other things)</a:t>
            </a:r>
          </a:p>
          <a:p>
            <a:pPr lvl="0"/>
            <a:r>
              <a:rPr lang="en-US" sz="1700"/>
              <a:t>All the parts of an article should contribute to this aim: </a:t>
            </a:r>
            <a:r>
              <a:rPr lang="en-US" sz="1700" b="1"/>
              <a:t>persuasion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Another aside: AI Authorship of Journals</a:t>
            </a:r>
          </a:p>
          <a:p>
            <a:pPr lvl="0"/>
            <a:r>
              <a:rPr/>
              <a:t>Would you read an article by a </a:t>
            </a:r>
            <a:r>
              <a:rPr b="1"/>
              <a:t>bot</a:t>
            </a:r>
            <a:r>
              <a:rPr/>
              <a:t>? Under what circumstances?</a:t>
            </a:r>
          </a:p>
          <a:p>
            <a:pPr lvl="0"/>
            <a:r>
              <a:rPr/>
              <a:t>What about a math paper?</a:t>
            </a:r>
          </a:p>
        </p:txBody>
      </p:sp>
      <p:pic>
        <p:nvPicPr>
          <p:cNvPr id="2" name="Picture 1" descr="images/pasted-image-2025-10-24T14-24-09-631Z-f69f72d5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04900"/>
            <a:ext cx="5105400" cy="2057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3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/>
              <a:t>Image</a:t>
            </a:r>
          </a:p>
        </p:txBody>
      </p:sp>
      <p:pic>
        <p:nvPicPr>
          <p:cNvPr id="5" name="Picture 1" descr="images/pasted-image-2025-10-24T14-25-57-365Z-f250bc31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568700" y="292100"/>
            <a:ext cx="5105400" cy="3695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/>
              <a:t>Image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Typical structure of an Article</a:t>
            </a:r>
          </a:p>
          <a:p>
            <a:pPr lvl="0"/>
            <a:r>
              <a:rPr/>
              <a:t>Introduction</a:t>
            </a:r>
          </a:p>
          <a:p>
            <a:pPr lvl="0"/>
            <a:r>
              <a:rPr/>
              <a:t>Literature Review</a:t>
            </a:r>
          </a:p>
          <a:p>
            <a:pPr lvl="0"/>
            <a:r>
              <a:rPr/>
              <a:t>Methodology</a:t>
            </a:r>
          </a:p>
          <a:p>
            <a:pPr lvl="0"/>
            <a:r>
              <a:rPr/>
              <a:t>Findings</a:t>
            </a:r>
          </a:p>
          <a:p>
            <a:pPr lvl="0"/>
            <a:r>
              <a:rPr/>
              <a:t>Results</a:t>
            </a:r>
          </a:p>
          <a:p>
            <a:pPr lvl="0"/>
            <a:r>
              <a:rPr/>
              <a:t>Conclusion</a:t>
            </a:r>
          </a:p>
          <a:p>
            <a:pPr lvl="0"/>
            <a:r>
              <a:rPr/>
              <a:t>But </a:t>
            </a:r>
            <a:r>
              <a:rPr b="1"/>
              <a:t>why</a:t>
            </a:r>
            <a:r>
              <a:rPr/>
              <a:t>? Why these parts?</a:t>
            </a:r>
          </a:p>
          <a:p>
            <a:pPr marL="0" lvl="0" indent="0">
              <a:buNone/>
            </a:pPr>
            <a:r>
              <a:rPr/>
              <a:t>Let’s answer this collaboratively:</a:t>
            </a:r>
          </a:p>
          <a:p>
            <a:pPr marL="0" lvl="0" indent="0">
              <a:buNone/>
            </a:pPr>
            <a:r>
              <a:rPr>
                <a:hlinkClick r:id="rId2"/>
              </a:rPr>
              <a:t>EPOL 590 Fall 2026 class document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What is a literature review?</a:t>
            </a:r>
          </a:p>
          <a:p>
            <a:pPr marL="0" lvl="0" indent="0">
              <a:buNone/>
            </a:pPr>
            <a:r>
              <a:rPr/>
              <a:t>Lots of answers, lots of guidance…</a:t>
            </a:r>
          </a:p>
          <a:p>
            <a:pPr marL="0" lvl="0" indent="0">
              <a:buNone/>
            </a:pPr>
            <a:r>
              <a:rPr>
                <a:hlinkClick r:id="rId2"/>
              </a:rPr>
              <a:t>Literature Review Guidelines – Learning Design and Leadership (LDL) Program</a:t>
            </a:r>
          </a:p>
          <a:p>
            <a:pPr marL="0" lvl="0" indent="0">
              <a:buNone/>
            </a:pPr>
            <a:r>
              <a:rPr>
                <a:hlinkClick r:id="rId3"/>
              </a:rPr>
              <a:t>Writing a Literature Review - Purdue OWL® - Purdue University</a:t>
            </a:r>
          </a:p>
          <a:p>
            <a:pPr marL="0" lvl="0" indent="0">
              <a:buNone/>
            </a:pPr>
            <a:r>
              <a:rPr>
                <a:hlinkClick r:id="rId4"/>
              </a:rPr>
              <a:t>Literature Reviews – The Writing Center • University of North Carolina at Chapel Hill</a:t>
            </a:r>
          </a:p>
        </p:txBody>
      </p:sp>
      <p:pic>
        <p:nvPicPr>
          <p:cNvPr id="2" name="Picture 1" descr="images/pasted-image-2025-10-24T12-44-52-384Z-eb86c677.png"/>
          <p:cNvPicPr>
            <a:picLocks noGrp="1"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3670300" y="203200"/>
            <a:ext cx="49022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3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/>
              <a:t>Image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Designing a Literature Review</a:t>
            </a:r>
          </a:p>
          <a:p>
            <a:pPr lvl="0"/>
            <a:r>
              <a:rPr/>
              <a:t>We have a Research Question / Topic</a:t>
            </a:r>
          </a:p>
          <a:p>
            <a:pPr lvl="0"/>
            <a:r>
              <a:rPr/>
              <a:t>What’s next? Just blast out a search on Google Scholar / University Website? Build a list of references, annotate, summarize, organize? Find the gap?</a:t>
            </a:r>
          </a:p>
          <a:p>
            <a:pPr lvl="1"/>
            <a:r>
              <a:rPr/>
              <a:t>But can come across as arbitrary</a:t>
            </a:r>
          </a:p>
          <a:p>
            <a:pPr lvl="0"/>
            <a:r>
              <a:rPr b="1"/>
              <a:t>Or</a:t>
            </a:r>
            <a:r>
              <a:rPr/>
              <a:t>: think of the Literature Review as a mini-research project within the project ( / article / dissertation)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/>
              <a:t>Learn from Marx?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Order of </a:t>
            </a:r>
            <a:r>
              <a:rPr b="1"/>
              <a:t>analysis</a:t>
            </a:r>
            <a:r>
              <a:rPr/>
              <a:t> is different from order of </a:t>
            </a:r>
            <a:r>
              <a:rPr b="1"/>
              <a:t>presentation</a:t>
            </a:r>
          </a:p>
          <a:p>
            <a:pPr lvl="1"/>
            <a:r>
              <a:rPr/>
              <a:t>In analysis we go from concrete (stuff we see) to abstract (concepts of thought)</a:t>
            </a:r>
          </a:p>
          <a:p>
            <a:pPr lvl="1"/>
            <a:r>
              <a:rPr/>
              <a:t>In presentation, we go from abstract (concepts) to concrete (the world of experience) - </a:t>
            </a:r>
            <a:r>
              <a:rPr b="1"/>
              <a:t>explaining</a:t>
            </a:r>
            <a:r>
              <a:rPr/>
              <a:t> the world of experience</a:t>
            </a:r>
          </a:p>
        </p:txBody>
      </p:sp>
      <p:pic>
        <p:nvPicPr>
          <p:cNvPr id="3" name="Picture 1" descr="images/pasted-image-2025-10-27T20-32-03-568Z-232d5b70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191000" y="203200"/>
            <a:ext cx="38735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/>
              <a:t>Image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Google Gemini’s view</a:t>
            </a:r>
          </a:p>
          <a:p>
            <a:pPr marL="0" lvl="0" indent="0">
              <a:buNone/>
            </a:pPr>
            <a:r>
              <a:rPr/>
              <a:t>“create an image showing how a literature review is a mini-argument embedded within the larger argument of an article or dissertation”</a:t>
            </a:r>
          </a:p>
        </p:txBody>
      </p:sp>
      <p:pic>
        <p:nvPicPr>
          <p:cNvPr id="2" name="Picture 1" descr="images/pasted-image-2025-10-24T16-22-25-539Z-312a91eb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191000" y="203200"/>
            <a:ext cx="38735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3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/>
              <a:t>Image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/>
              <a:t>Hour 2 (might get here early)…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Mapping Fields and Minding Gaps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What’s the “research question” of the Literature Review</a:t>
            </a:r>
          </a:p>
          <a:p>
            <a:pPr lvl="0"/>
            <a:r>
              <a:rPr/>
              <a:t>What’s the gap in the literature? (should eventually coincide with the research question)</a:t>
            </a:r>
          </a:p>
          <a:p>
            <a:pPr lvl="1"/>
            <a:r>
              <a:rPr/>
              <a:t>What are you </a:t>
            </a:r>
            <a:r>
              <a:rPr i="1"/>
              <a:t>arguing</a:t>
            </a:r>
            <a:r>
              <a:rPr/>
              <a:t>? That this gap exists… (perhaps other things too)</a:t>
            </a:r>
          </a:p>
          <a:p>
            <a:pPr lvl="0"/>
            <a:r>
              <a:rPr/>
              <a:t>Develop a </a:t>
            </a:r>
            <a:r>
              <a:rPr i="1"/>
              <a:t>Methodology</a:t>
            </a:r>
            <a:r>
              <a:rPr/>
              <a:t>:</a:t>
            </a:r>
          </a:p>
          <a:p>
            <a:pPr lvl="1"/>
            <a:r>
              <a:rPr/>
              <a:t>Choose relevant search terms (think about AI’s ability to translate the terms you think of to the ones you don’t)</a:t>
            </a:r>
          </a:p>
          <a:p>
            <a:pPr lvl="2"/>
            <a:r>
              <a:rPr/>
              <a:t>Pick a couple of relevant articles and read the references</a:t>
            </a:r>
          </a:p>
          <a:p>
            <a:pPr lvl="1"/>
            <a:r>
              <a:rPr/>
              <a:t>Choose an organization principles:</a:t>
            </a:r>
          </a:p>
          <a:p>
            <a:pPr lvl="2"/>
            <a:r>
              <a:rPr/>
              <a:t>Organize by theme? What are the themes?</a:t>
            </a:r>
          </a:p>
          <a:p>
            <a:pPr lvl="2"/>
            <a:r>
              <a:rPr/>
              <a:t>Organize by time? How have debates on topic X </a:t>
            </a:r>
            <a:r>
              <a:rPr i="1"/>
              <a:t>evolved</a:t>
            </a:r>
            <a:r>
              <a:rPr/>
              <a:t>?</a:t>
            </a:r>
          </a:p>
          <a:p>
            <a:pPr lvl="0"/>
            <a:r>
              <a:rPr/>
              <a:t>Construct an </a:t>
            </a:r>
            <a:r>
              <a:rPr i="1"/>
              <a:t>Introduction</a:t>
            </a:r>
            <a:r>
              <a:rPr/>
              <a:t> and </a:t>
            </a:r>
            <a:r>
              <a:rPr i="1"/>
              <a:t>Conclusion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Metaphors of Knowledge: Navigating fields and finding gaps</a:t>
            </a:r>
          </a:p>
          <a:p>
            <a:pPr lvl="0"/>
            <a:r>
              <a:rPr/>
              <a:t>What is the </a:t>
            </a:r>
            <a:r>
              <a:rPr b="1"/>
              <a:t>field</a:t>
            </a:r>
            <a:r>
              <a:rPr/>
              <a:t>? Talk your reader through it…</a:t>
            </a:r>
          </a:p>
          <a:p>
            <a:pPr lvl="0"/>
            <a:r>
              <a:rPr/>
              <a:t>What is the </a:t>
            </a:r>
            <a:r>
              <a:rPr b="1"/>
              <a:t>gap</a:t>
            </a:r>
            <a:r>
              <a:rPr/>
              <a:t>? Tell your reader how you get there…</a:t>
            </a:r>
          </a:p>
          <a:p>
            <a:pPr lvl="1"/>
            <a:r>
              <a:rPr/>
              <a:t>work backwards - find the gap, </a:t>
            </a:r>
            <a:r>
              <a:rPr i="1"/>
              <a:t>then</a:t>
            </a:r>
            <a:r>
              <a:rPr/>
              <a:t> organize the steps…</a:t>
            </a:r>
          </a:p>
          <a:p>
            <a:pPr lvl="0"/>
            <a:r>
              <a:rPr/>
              <a:t>Use the language of </a:t>
            </a:r>
            <a:r>
              <a:rPr i="1"/>
              <a:t>argument</a:t>
            </a:r>
            <a:r>
              <a:rPr/>
              <a:t> / </a:t>
            </a:r>
            <a:r>
              <a:rPr i="1"/>
              <a:t>metadiscourse</a:t>
            </a:r>
            <a:r>
              <a:rPr/>
              <a:t>:</a:t>
            </a:r>
          </a:p>
          <a:p>
            <a:pPr lvl="1"/>
            <a:r>
              <a:rPr/>
              <a:t>If we are on a “path” through the “field”, join the dots:</a:t>
            </a:r>
          </a:p>
          <a:p>
            <a:pPr lvl="2"/>
            <a:r>
              <a:rPr/>
              <a:t>Move up / down: general - specific</a:t>
            </a:r>
          </a:p>
          <a:p>
            <a:pPr lvl="3"/>
            <a:r>
              <a:rPr/>
              <a:t>“More generally…”, “At an abstract level”, “Theoretically…”, “Globally / Nationally…”</a:t>
            </a:r>
          </a:p>
          <a:p>
            <a:pPr lvl="3"/>
            <a:r>
              <a:rPr/>
              <a:t>“More specifically…”, “At an concrete level”, “Pratically”, “Locally</a:t>
            </a:r>
          </a:p>
          <a:p>
            <a:pPr lvl="2"/>
            <a:r>
              <a:rPr/>
              <a:t>Move side to side: similar - different</a:t>
            </a:r>
          </a:p>
          <a:p>
            <a:pPr lvl="3"/>
            <a:r>
              <a:rPr/>
              <a:t>“Similarly…”, “Along the same lines…”,</a:t>
            </a:r>
          </a:p>
          <a:p>
            <a:pPr lvl="3"/>
            <a:r>
              <a:rPr/>
              <a:t>“However…”, “Conversely…”, “On the other hand…”, “In contrast…”</a:t>
            </a:r>
          </a:p>
          <a:p>
            <a:pPr lvl="1"/>
            <a:r>
              <a:rPr/>
              <a:t>“Control” your navigation:</a:t>
            </a:r>
          </a:p>
          <a:p>
            <a:pPr lvl="2"/>
            <a:r>
              <a:rPr/>
              <a:t>“This review </a:t>
            </a:r>
            <a:r>
              <a:rPr i="1"/>
              <a:t>will</a:t>
            </a:r>
            <a:r>
              <a:rPr/>
              <a:t> cover…”, “The literature describes several facets of…”</a:t>
            </a:r>
          </a:p>
          <a:p>
            <a:pPr lvl="2"/>
            <a:r>
              <a:rPr/>
              <a:t>Add some drama: “Meanwhile…”, “Despite…”, “X has dispute Y’s findings…”</a:t>
            </a:r>
          </a:p>
          <a:p>
            <a:pPr lvl="2"/>
            <a:r>
              <a:rPr/>
              <a:t>“This review </a:t>
            </a:r>
            <a:r>
              <a:rPr i="1"/>
              <a:t>has</a:t>
            </a:r>
            <a:r>
              <a:rPr/>
              <a:t> covered…”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Work it like a Puzzle</a:t>
            </a:r>
          </a:p>
          <a:p>
            <a:pPr lvl="0"/>
            <a:r>
              <a:rPr/>
              <a:t>Look at the whole picture - does it make sense?</a:t>
            </a:r>
          </a:p>
          <a:p>
            <a:pPr lvl="0"/>
            <a:r>
              <a:rPr/>
              <a:t>Fill it in piece by piece</a:t>
            </a:r>
          </a:p>
          <a:p>
            <a:pPr lvl="0"/>
            <a:r>
              <a:rPr/>
              <a:t>Iterate - whole to part, part to whole</a:t>
            </a:r>
          </a:p>
          <a:p>
            <a:pPr lvl="0"/>
            <a:r>
              <a:rPr/>
              <a:t>More vocabularly: the </a:t>
            </a:r>
            <a:r>
              <a:rPr i="1"/>
              <a:t>Hermeneutic Circle</a:t>
            </a:r>
          </a:p>
          <a:p>
            <a:pPr lvl="1"/>
            <a:r>
              <a:rPr/>
              <a:t>Understand the Whole (in order to Interpret the Path)</a:t>
            </a:r>
          </a:p>
          <a:p>
            <a:pPr lvl="1"/>
            <a:r>
              <a:rPr/>
              <a:t>Interpret the Path (in order to Understanding the Whole)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Common Pitfalls</a:t>
            </a:r>
          </a:p>
          <a:p>
            <a:pPr lvl="0"/>
            <a:r>
              <a:rPr/>
              <a:t>The Annotated Bibliography and the Literature Review</a:t>
            </a:r>
          </a:p>
          <a:p>
            <a:pPr lvl="0"/>
            <a:r>
              <a:rPr/>
              <a:t>Tone: Navigating The Two Cultures (see Snow 1959)</a:t>
            </a:r>
          </a:p>
          <a:p>
            <a:pPr lvl="0"/>
            <a:r>
              <a:rPr/>
              <a:t>Lack of Signposting / metadiscourse / discourse markers / rhetorical statements</a:t>
            </a:r>
          </a:p>
          <a:p>
            <a:pPr lvl="0"/>
            <a:r>
              <a:rPr/>
              <a:t>Lack of persuasive purpose</a:t>
            </a:r>
          </a:p>
          <a:p>
            <a:pPr lvl="0"/>
            <a:r>
              <a:rPr/>
              <a:t>Laundry list of gaps -&gt; Narrow down on the one / two that you are likely to follow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More on tone…</a:t>
            </a:r>
          </a:p>
          <a:p>
            <a:pPr lvl="0"/>
            <a:r>
              <a:rPr/>
              <a:t>Tone: Navigating The Two Cultures (see Snow 1959)</a:t>
            </a:r>
          </a:p>
          <a:p>
            <a:pPr lvl="0"/>
            <a:r>
              <a:rPr/>
              <a:t>Scientist / Quantitative / Positivist</a:t>
            </a:r>
          </a:p>
          <a:p>
            <a:pPr lvl="1"/>
            <a:r>
              <a:rPr/>
              <a:t>Lots of 3rd person / passive voice (“It was observed that…”) - But note, this is changing</a:t>
            </a:r>
          </a:p>
          <a:p>
            <a:pPr lvl="0"/>
            <a:r>
              <a:rPr/>
              <a:t>Humanist / Qualitative / Post-positivist or Interpretivist or Constuctivist</a:t>
            </a:r>
          </a:p>
          <a:p>
            <a:pPr lvl="1"/>
            <a:r>
              <a:rPr/>
              <a:t>More 1st person / active voice (“We noticed that”)</a:t>
            </a:r>
          </a:p>
          <a:p>
            <a:pPr lvl="0"/>
            <a:r>
              <a:rPr/>
              <a:t>In the field of education, both “cultures” co-exist (sometimes even peacefully)</a:t>
            </a:r>
          </a:p>
          <a:p>
            <a:pPr lvl="0"/>
            <a:r>
              <a:rPr/>
              <a:t>How do you decide on your tone?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Two (or Three) (Pseudo-)Random Articles</a:t>
            </a:r>
          </a:p>
          <a:p>
            <a:pPr marL="342900" lvl="0" indent="-342900">
              <a:buAutoNum type="arabicPeriod"/>
            </a:pPr>
            <a:r>
              <a:rPr/>
              <a:t>Keerthiraj, &amp; Misra, A. (2025). Who owns the future? AI, digital sovereignty, and the politics of knowledge. AI &amp; SOCIETY, 1-13. https://link.springer.com/article/10.1007/s00146-025-02641-y</a:t>
            </a:r>
            <a:br/>
            <a:endParaRPr/>
          </a:p>
          <a:p>
            <a:pPr marL="342900" lvl="0" indent="-342900">
              <a:buAutoNum type="arabicPeriod"/>
            </a:pPr>
            <a:r>
              <a:rPr/>
              <a:t>Liu, J., Zhang, Y., Li, W., Wang, Q., Niu, P., &amp; Zhang, X. (2025). Adaptive vs. Planned Metacognitive Scaffolding for Computational Thinking: Evidence from Generative AI-Supported Programming in Elementary Education. Computers &amp; Education, 105473. https://www.sciencedirect.com/science/article/pii/S0360131525002416?casa_token=cBNpQ0r7f4oAAAAA:THnluE0eVY1uTJ3bnp1V6j-fsLEXobOB6QqoszFx_hsNacpAVPMmIe61gO70IXtFPiT2vIRcGPk</a:t>
            </a:r>
          </a:p>
          <a:p>
            <a:pPr marL="342900" lvl="0" indent="-342900">
              <a:buAutoNum type="arabicPeriod"/>
            </a:pPr>
            <a:r>
              <a:rPr/>
              <a:t>Spivak, G. C. (2023). Can the subaltern speak?. In Imperialism (pp. 171-219). Routledge. http://users.uoa.gr/~cdokou/TheoryCriticismTexts/Spivak-Subaltern.pdf</a:t>
            </a:r>
          </a:p>
          <a:p>
            <a:pPr lvl="0"/>
            <a:r>
              <a:rPr/>
              <a:t>Why these two (three) examples? Contrasting methods, yes - but more than this, these articles reflect different orientations towards </a:t>
            </a:r>
            <a:r>
              <a:rPr i="1"/>
              <a:t>scholarly techniques of persuasion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First: What do we do when we open an article?</a:t>
            </a:r>
          </a:p>
          <a:p>
            <a:pPr lvl="0"/>
            <a:r>
              <a:rPr/>
              <a:t>What are the different ways of reading?</a:t>
            </a:r>
          </a:p>
          <a:p>
            <a:pPr lvl="0"/>
            <a:r>
              <a:rPr/>
              <a:t>2 Common Strategies:</a:t>
            </a:r>
          </a:p>
          <a:p>
            <a:pPr lvl="1"/>
            <a:r>
              <a:rPr/>
              <a:t>Top to bottom</a:t>
            </a:r>
          </a:p>
          <a:p>
            <a:pPr lvl="1"/>
            <a:r>
              <a:rPr/>
              <a:t>Abstract, Introduction, Conclusion - then the rest</a:t>
            </a:r>
          </a:p>
          <a:p>
            <a:pPr lvl="0"/>
            <a:r>
              <a:rPr/>
              <a:t>Sometimes:</a:t>
            </a:r>
          </a:p>
          <a:p>
            <a:pPr lvl="1"/>
            <a:r>
              <a:rPr/>
              <a:t>Literature Review first</a:t>
            </a:r>
          </a:p>
          <a:p>
            <a:pPr lvl="1"/>
            <a:r>
              <a:rPr/>
              <a:t>Methodology first (what did the researchers do?)</a:t>
            </a:r>
          </a:p>
          <a:p>
            <a:pPr lvl="1"/>
            <a:r>
              <a:rPr/>
              <a:t>References first (what “space” of academia does this belong in?)</a:t>
            </a:r>
          </a:p>
          <a:p>
            <a:pPr marL="0" lvl="0" indent="0">
              <a:buNone/>
            </a:pPr>
            <a:r>
              <a:rPr/>
              <a:t>Other ideas?</a:t>
            </a:r>
          </a:p>
          <a:p>
            <a:pPr marL="0" lvl="0" indent="0">
              <a:buNone/>
            </a:pPr>
            <a:r>
              <a:rPr>
                <a:hlinkClick r:id="rId2"/>
              </a:rPr>
              <a:t>EPOL 590 Fall 2026 class document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Who owns the future? AI, digital sovereignty, and the politics of knowledge </a:t>
            </a:r>
            <a:r>
              <a:rPr b="1" i="1"/>
              <a:t>Keerthiraj, &amp; Misra, A. (2025)</a:t>
            </a:r>
          </a:p>
          <a:p>
            <a:pPr marL="0" lvl="0" indent="0">
              <a:buNone/>
            </a:pPr>
            <a:r>
              <a:rPr/>
              <a:t>Keerthiraj, &amp; Misra, A. (2025). Who owns the future? AI, digital sovereignty, and the politics of knowledge. AI &amp; SOCIETY, 1-13. https://link.springer.com/article/10.1007/s00146-025-02641-y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Adaptive vs. Planned Metacognitive Scaffolding for Computational Thinking</a:t>
            </a:r>
          </a:p>
          <a:p>
            <a:pPr marL="0" lvl="0" indent="0">
              <a:buNone/>
            </a:pPr>
            <a:r>
              <a:rPr/>
              <a:t>Liu, J., Zhang, Y., Li, W., Wang, Q., Niu, P., &amp; Zhang, X. (2025). Adaptive vs. Planned Metacognitive Scaffolding for Computational Thinking: Evidence from Generative AI-Supported Programming in Elementary Education. Computers &amp; Education, 105473. https://www.sciencedirect.com/science/article/pii/S0360131525002416?casa_token=cBNpQ0r7f4oAAAAA:THnluE0eVY1uTJ3bnp1V6j-fsLEXobOB6QqoszFx_hsNacpAVPMmIe61gO70IXtFPiT2vIRcGPk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Can the subaltern speak?</a:t>
            </a:r>
          </a:p>
          <a:p>
            <a:pPr marL="0" lvl="0" indent="0">
              <a:buNone/>
            </a:pPr>
            <a:r>
              <a:rPr/>
              <a:t>Spivak, G. C. (2023). Can the subaltern speak?. In Imperialism (pp. 171-219). Routledge. http://users.uoa.gr/~cdokou/TheoryCriticismTexts/Spivak-Subaltern.pdf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/>
              <a:t>Hour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Designing a Literature Review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Checklist:</a:t>
            </a:r>
          </a:p>
          <a:p>
            <a:pPr marL="342900" lvl="0" indent="-342900">
              <a:buAutoNum type="arabicPeriod"/>
            </a:pPr>
            <a:r>
              <a:rPr/>
              <a:t>What are the key terms of the (draft) research question? List them…</a:t>
            </a:r>
          </a:p>
          <a:p>
            <a:pPr marL="342900" lvl="0" indent="-342900">
              <a:buAutoNum type="arabicPeriod"/>
            </a:pPr>
            <a:r>
              <a:rPr/>
              <a:t>What are the </a:t>
            </a:r>
            <a:r>
              <a:rPr i="1"/>
              <a:t>norms</a:t>
            </a:r>
            <a:r>
              <a:rPr/>
              <a:t> of your field? And what </a:t>
            </a:r>
            <a:r>
              <a:rPr i="1"/>
              <a:t>is</a:t>
            </a:r>
            <a:r>
              <a:rPr/>
              <a:t> your field?</a:t>
            </a:r>
          </a:p>
          <a:p>
            <a:pPr marL="342900" lvl="0" indent="-342900">
              <a:buAutoNum type="arabicPeriod"/>
            </a:pPr>
            <a:r>
              <a:rPr/>
              <a:t>What is a reasonable </a:t>
            </a:r>
            <a:r>
              <a:rPr i="1"/>
              <a:t>method</a:t>
            </a:r>
            <a:r>
              <a:rPr/>
              <a:t> or </a:t>
            </a:r>
            <a:r>
              <a:rPr i="1"/>
              <a:t>recipe</a:t>
            </a:r>
            <a:r>
              <a:rPr/>
              <a:t> for your literature review?</a:t>
            </a:r>
          </a:p>
          <a:p>
            <a:pPr marL="342900" lvl="0" indent="-342900">
              <a:buAutoNum type="arabicPeriod"/>
            </a:pPr>
            <a:r>
              <a:rPr/>
              <a:t>What are </a:t>
            </a:r>
            <a:r>
              <a:rPr i="1"/>
              <a:t>related terms</a:t>
            </a:r>
            <a:r>
              <a:rPr/>
              <a:t> (can AI find reasonable synonyms)?</a:t>
            </a:r>
          </a:p>
          <a:p>
            <a:pPr marL="342900" lvl="0" indent="-342900">
              <a:buAutoNum type="arabicPeriod"/>
            </a:pPr>
            <a:r>
              <a:rPr/>
              <a:t>What do you get when you search </a:t>
            </a:r>
            <a:r>
              <a:rPr i="1"/>
              <a:t>Google Scholar</a:t>
            </a:r>
            <a:r>
              <a:rPr/>
              <a:t> / </a:t>
            </a:r>
            <a:r>
              <a:rPr i="1"/>
              <a:t>library databases</a:t>
            </a:r>
            <a:r>
              <a:rPr/>
              <a:t> for these terms?</a:t>
            </a:r>
          </a:p>
          <a:p>
            <a:pPr marL="342900" lvl="0" indent="-342900">
              <a:buAutoNum type="arabicPeriod"/>
            </a:pPr>
            <a:r>
              <a:rPr/>
              <a:t>Do you have </a:t>
            </a:r>
            <a:r>
              <a:rPr i="1"/>
              <a:t>existing articles</a:t>
            </a:r>
            <a:r>
              <a:rPr/>
              <a:t> / authors to draw from?</a:t>
            </a:r>
          </a:p>
          <a:p>
            <a:pPr marL="342900" lvl="0" indent="-342900">
              <a:buAutoNum type="arabicPeriod"/>
            </a:pPr>
            <a:r>
              <a:rPr/>
              <a:t>What </a:t>
            </a:r>
            <a:r>
              <a:rPr i="1"/>
              <a:t>citation system</a:t>
            </a:r>
            <a:r>
              <a:rPr/>
              <a:t> are you using? Can you code / organize literature in the way you’d like?</a:t>
            </a:r>
          </a:p>
          <a:p>
            <a:pPr marL="342900" lvl="0" indent="-342900">
              <a:buAutoNum type="arabicPeriod"/>
            </a:pPr>
            <a:r>
              <a:rPr/>
              <a:t>What is the best </a:t>
            </a:r>
            <a:r>
              <a:rPr i="1"/>
              <a:t>organization</a:t>
            </a:r>
            <a:r>
              <a:rPr/>
              <a:t> of the literature? Thematic, field (for multi-/interdisciplinary work), chronological, spatial, general / special?</a:t>
            </a:r>
          </a:p>
          <a:p>
            <a:pPr marL="342900" lvl="0" indent="-342900">
              <a:buAutoNum type="arabicPeriod"/>
            </a:pPr>
            <a:r>
              <a:rPr/>
              <a:t>Are there </a:t>
            </a:r>
            <a:r>
              <a:rPr i="1"/>
              <a:t>classics</a:t>
            </a:r>
            <a:r>
              <a:rPr/>
              <a:t> you are expected to cite? References with very large number of citations (e.g. Braun &amp; Clarke 2006; Vaswani et al. 2017; Bender et al. 2021)?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Do some sketches: “fast” review</a:t>
            </a:r>
          </a:p>
          <a:p>
            <a:pPr lvl="0"/>
            <a:r>
              <a:rPr b="1"/>
              <a:t>Time</a:t>
            </a:r>
            <a:r>
              <a:rPr/>
              <a:t>, followed by </a:t>
            </a:r>
            <a:r>
              <a:rPr b="1"/>
              <a:t>theme</a:t>
            </a:r>
            <a:r>
              <a:rPr/>
              <a:t>, followed by </a:t>
            </a:r>
            <a:r>
              <a:rPr b="1"/>
              <a:t>space</a:t>
            </a:r>
          </a:p>
          <a:p>
            <a:pPr lvl="0"/>
            <a:r>
              <a:rPr/>
              <a:t>Just be approximate</a:t>
            </a:r>
          </a:p>
          <a:p>
            <a:pPr marL="0" lvl="0" indent="0">
              <a:buNone/>
            </a:pPr>
            <a:r>
              <a:rPr/>
              <a:t>“Criticism of AI </a:t>
            </a:r>
            <a:r>
              <a:rPr b="1"/>
              <a:t>dates back</a:t>
            </a:r>
            <a:r>
              <a:rPr/>
              <a:t> to the inception of the field itself. For example, Dreyfus (1966 - or thereabouts) discussed the brittleness of (etc)… By the early 1980s, scepticism voiced by philosophers such as Searle (1981) in his famous”Chinese room” experiment, contributed to the emergence of an AI winter. </a:t>
            </a:r>
            <a:r>
              <a:rPr b="1"/>
              <a:t>More recently</a:t>
            </a:r>
            <a:r>
              <a:rPr/>
              <a:t>, as generative AI has largely revived the field, criticism has been directed toward both issues of </a:t>
            </a:r>
            <a:r>
              <a:rPr b="1"/>
              <a:t>social justice and bias</a:t>
            </a:r>
            <a:r>
              <a:rPr/>
              <a:t> (e.g. Bender et al. 2021) and potential </a:t>
            </a:r>
            <a:r>
              <a:rPr b="1"/>
              <a:t>existential risk</a:t>
            </a:r>
            <a:r>
              <a:rPr/>
              <a:t> (e.g. lesswrong blog). In some cases, critical AI scholars have also argued the existential case is a convenient disguise that obscures more immediate negative social effects (Gebru and Torres 2024). Moreover scholars from </a:t>
            </a:r>
            <a:r>
              <a:rPr b="1"/>
              <a:t>outside the US</a:t>
            </a:r>
            <a:r>
              <a:rPr/>
              <a:t> - particularly in the Global South – have begun to argue AI constitutes a form of </a:t>
            </a:r>
            <a:r>
              <a:rPr b="1"/>
              <a:t>neocolonialism</a:t>
            </a:r>
            <a:r>
              <a:rPr/>
              <a:t>, impacting digital sovereignty (Keerthiraj, &amp; Misra 2025)”</a:t>
            </a:r>
          </a:p>
          <a:p>
            <a:pPr lvl="0"/>
            <a:r>
              <a:rPr/>
              <a:t>Can work with or without AI - useful just to test how this or that understanding helps make your case (about gaps)</a:t>
            </a:r>
          </a:p>
          <a:p>
            <a:pPr lvl="0"/>
            <a:r>
              <a:rPr/>
              <a:t>Don’t commit to this structure just yet!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Then develop a plan…</a:t>
            </a:r>
          </a:p>
          <a:p>
            <a:pPr marL="342900" lvl="0" indent="-342900">
              <a:buAutoNum type="arabicPeriod"/>
            </a:pPr>
            <a:r>
              <a:rPr/>
              <a:t>Tentative gap - what do you think it is?</a:t>
            </a:r>
          </a:p>
          <a:p>
            <a:pPr marL="342900" lvl="0" indent="-342900">
              <a:buAutoNum type="arabicPeriod"/>
            </a:pPr>
            <a:r>
              <a:rPr/>
              <a:t>Scaffold your review - how many sections? do you need subsections? Add preliminary citations</a:t>
            </a:r>
          </a:p>
          <a:p>
            <a:pPr marL="342900" lvl="0" indent="-342900">
              <a:buAutoNum type="arabicPeriod"/>
            </a:pPr>
            <a:r>
              <a:rPr/>
              <a:t>Develop a sense of key transitions - what’s the drama in the review? “also argued”, “moreover” etc</a:t>
            </a:r>
          </a:p>
          <a:p>
            <a:pPr marL="342900" lvl="0" indent="-342900">
              <a:buAutoNum type="arabicPeriod"/>
            </a:pPr>
            <a:r>
              <a:rPr/>
              <a:t>Be light, noncommital - prepared to cut/paste</a:t>
            </a:r>
          </a:p>
          <a:p>
            <a:pPr marL="342900" lvl="0" indent="-342900">
              <a:buAutoNum type="arabicPeriod"/>
            </a:pPr>
            <a:r>
              <a:rPr/>
              <a:t>As your literature grows, you might need to </a:t>
            </a:r>
            <a:r>
              <a:rPr i="1"/>
              <a:t>qualify</a:t>
            </a:r>
            <a:r>
              <a:rPr/>
              <a:t> the statement of the gap. Maybe there </a:t>
            </a:r>
            <a:r>
              <a:rPr b="1"/>
              <a:t>are</a:t>
            </a:r>
            <a:r>
              <a:rPr/>
              <a:t> studies of the general topic X - but you can add </a:t>
            </a:r>
            <a:r>
              <a:rPr i="1"/>
              <a:t>adjectives</a:t>
            </a:r>
            <a:r>
              <a:rPr/>
              <a:t> to the gap (research question) to narrow it down… Go back to Step 1, rinse and repeat…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Also consider</a:t>
            </a:r>
          </a:p>
          <a:p>
            <a:pPr lvl="0"/>
            <a:r>
              <a:rPr/>
              <a:t>Different perspectives - outside the ordinary frame of discipline, time</a:t>
            </a:r>
          </a:p>
          <a:p>
            <a:pPr lvl="1"/>
            <a:r>
              <a:rPr/>
              <a:t>e.g. “heteroscopia” (“many visions”) - concept by Jaireth (2001) to describe Indian cinema</a:t>
            </a:r>
          </a:p>
          <a:p>
            <a:pPr lvl="1"/>
            <a:r>
              <a:rPr/>
              <a:t>But also a useful term for thinking about machinic vision, generative AI</a:t>
            </a:r>
          </a:p>
          <a:p>
            <a:pPr lvl="0"/>
            <a:r>
              <a:rPr/>
              <a:t>Less-known authors (especially not widely cited) - this can enrich a review, demonstrating greater awareness beyond the same few authors / studies…</a:t>
            </a:r>
          </a:p>
          <a:p>
            <a:pPr lvl="1"/>
            <a:r>
              <a:rPr/>
              <a:t>e.g. History of AI - typically focussed on US developments. But Schmidhuber (1922) argues the importance of developments in Ukraine (USSR), Japan, Finland in the 1960s/70s. Who knew?</a:t>
            </a:r>
          </a:p>
          <a:p>
            <a:pPr lvl="0"/>
            <a:r>
              <a:rPr b="1"/>
              <a:t>In short: surprise us!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Growing your database</a:t>
            </a:r>
          </a:p>
          <a:p>
            <a:pPr marL="0" lvl="0" indent="0">
              <a:buNone/>
            </a:pPr>
            <a:r>
              <a:rPr/>
              <a:t>Different techniques for expanding your database:</a:t>
            </a:r>
          </a:p>
          <a:p>
            <a:pPr lvl="0"/>
            <a:r>
              <a:rPr/>
              <a:t>Search (Google Scholar / library databases)</a:t>
            </a:r>
          </a:p>
          <a:p>
            <a:pPr lvl="0"/>
            <a:r>
              <a:rPr/>
              <a:t>With existing articles:</a:t>
            </a:r>
          </a:p>
          <a:p>
            <a:pPr lvl="1"/>
            <a:r>
              <a:rPr b="1"/>
              <a:t>Go back</a:t>
            </a:r>
            <a:r>
              <a:rPr/>
              <a:t>: Scan </a:t>
            </a:r>
            <a:r>
              <a:rPr i="1"/>
              <a:t>references</a:t>
            </a:r>
            <a:r>
              <a:rPr/>
              <a:t> of this article</a:t>
            </a:r>
          </a:p>
          <a:p>
            <a:pPr lvl="1"/>
            <a:r>
              <a:rPr b="1"/>
              <a:t>Go forward</a:t>
            </a:r>
            <a:r>
              <a:rPr/>
              <a:t>: Search for </a:t>
            </a:r>
            <a:r>
              <a:rPr i="1"/>
              <a:t>citations</a:t>
            </a:r>
            <a:r>
              <a:rPr/>
              <a:t> of this article</a:t>
            </a:r>
          </a:p>
          <a:p>
            <a:pPr lvl="1"/>
            <a:r>
              <a:rPr b="1"/>
              <a:t>Go sideways</a:t>
            </a:r>
            <a:r>
              <a:rPr/>
              <a:t>: What else was published in the same journal / issue</a:t>
            </a:r>
          </a:p>
          <a:p>
            <a:pPr lvl="0"/>
            <a:r>
              <a:rPr/>
              <a:t>Check common “authorities”: Wikipedia, syllabi, AI</a:t>
            </a:r>
          </a:p>
          <a:p>
            <a:pPr lvl="1"/>
            <a:r>
              <a:rPr/>
              <a:t>e.g. “Critical AI” - people will be citing Bender et al. (2021) stochastic parrots paper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This Week’s Activity</a:t>
            </a:r>
          </a:p>
          <a:p>
            <a:pPr marL="342900" lvl="0" indent="-342900">
              <a:buAutoNum type="arabicPeriod"/>
            </a:pPr>
            <a:r>
              <a:rPr/>
              <a:t>Write down the gap (should be close to your research question)</a:t>
            </a:r>
          </a:p>
          <a:p>
            <a:pPr marL="342900" lvl="0" indent="-342900">
              <a:buAutoNum type="arabicPeriod"/>
            </a:pPr>
            <a:r>
              <a:rPr/>
              <a:t>Write down your assumed audience / field. What do you know about them? Do they prefer lots of recent citations (science)? Or fewer, with more emphasis on the classics (philosophy, theory, some qual studies)?</a:t>
            </a:r>
          </a:p>
          <a:p>
            <a:pPr marL="342900" lvl="0" indent="-342900">
              <a:buAutoNum type="arabicPeriod"/>
            </a:pPr>
            <a:r>
              <a:rPr/>
              <a:t>Create a short plan / recipe method:</a:t>
            </a:r>
          </a:p>
          <a:p>
            <a:pPr lvl="1"/>
            <a:r>
              <a:rPr/>
              <a:t>“Search for these terms / filters”</a:t>
            </a:r>
          </a:p>
          <a:p>
            <a:pPr lvl="1"/>
            <a:r>
              <a:rPr/>
              <a:t>“Create a database of 10 articles”</a:t>
            </a:r>
          </a:p>
          <a:p>
            <a:pPr lvl="1"/>
            <a:r>
              <a:rPr/>
              <a:t>“Scan the articles for relevance - discard those that are not relevant”</a:t>
            </a:r>
          </a:p>
          <a:p>
            <a:pPr lvl="1"/>
            <a:r>
              <a:rPr/>
              <a:t>“With remaining articles: review references, search for more recent citations”</a:t>
            </a:r>
          </a:p>
          <a:p>
            <a:pPr lvl="1"/>
            <a:r>
              <a:rPr/>
              <a:t>“Once I have 50 articles: code / annototate for relevance”</a:t>
            </a:r>
          </a:p>
          <a:p>
            <a:pPr lvl="1"/>
            <a:r>
              <a:rPr/>
              <a:t>“Map out review structure; add citations, continue to search under subheadings”</a:t>
            </a:r>
          </a:p>
          <a:p>
            <a:pPr lvl="1"/>
            <a:r>
              <a:rPr/>
              <a:t>“Supply list of refs to AI and ask if I’m missing anything crucial” &lt;!–</a:t>
            </a:r>
          </a:p>
          <a:p>
            <a:pPr marL="342900" lvl="0" indent="-342900">
              <a:buAutoNum type="arabicPeriod"/>
            </a:pPr>
            <a:r>
              <a:rPr/>
              <a:t>Develop a rough structure of headings / subheadings</a:t>
            </a:r>
          </a:p>
          <a:p>
            <a:pPr marL="342900" lvl="0" indent="-342900">
              <a:buAutoNum type="arabicPeriod"/>
            </a:pPr>
            <a:r>
              <a:rPr/>
              <a:t>Lay in some initial citations (if you know them), with indicative transitional language (“also”, “however” etc) –&gt;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Next Week’s Readings</a:t>
            </a:r>
          </a:p>
          <a:p>
            <a:pPr marL="0" lvl="0" indent="0">
              <a:buNone/>
            </a:pPr>
            <a:r>
              <a:rPr>
                <a:hlinkClick r:id="rId2"/>
              </a:rPr>
              <a:t>sciencepolicy.colorado.edu</a:t>
            </a:r>
          </a:p>
          <a:p>
            <a:pPr marL="0" lvl="0" indent="0">
              <a:buNone/>
            </a:pPr>
            <a:r>
              <a:rPr/>
              <a:t>Aarseth, E. J. (1997). Cybertext: Perspectives on ergodic literature. JHU Press. </a:t>
            </a:r>
            <a:r>
              <a:rPr>
                <a:hlinkClick r:id="rId3"/>
              </a:rPr>
              <a:t>williamwolff.org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2900</Words>
  <Application>Microsoft Macintosh PowerPoint</Application>
  <PresentationFormat>On-screen Show (16:9)</PresentationFormat>
  <Paragraphs>235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Aptos</vt:lpstr>
      <vt:lpstr>Aptos Display</vt:lpstr>
      <vt:lpstr>Arial</vt:lpstr>
      <vt:lpstr>Calibri</vt:lpstr>
      <vt:lpstr>Office Theme</vt:lpstr>
      <vt:lpstr>590 Lecture 2</vt:lpstr>
      <vt:lpstr>Recap on Week 1</vt:lpstr>
      <vt:lpstr>Recap on Week 1</vt:lpstr>
      <vt:lpstr>Anatomy of a Journal Article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Learn from Marx?</vt:lpstr>
      <vt:lpstr>PowerPoint Presentation</vt:lpstr>
      <vt:lpstr>Hour 2 (might get here early)…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Hour 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Magee, Liam</cp:lastModifiedBy>
  <cp:revision>1</cp:revision>
  <dcterms:created xsi:type="dcterms:W3CDTF">2025-10-27T21:13:55Z</dcterms:created>
  <dcterms:modified xsi:type="dcterms:W3CDTF">2025-11-04T20:54:52Z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graphy">
    <vt:lpwstr/>
  </property>
</Properties>
</file>