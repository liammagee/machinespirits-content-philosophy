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package/2006/relationships/metadata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590 Lecture 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We’ve Covered</a:t>
            </a:r>
          </a:p>
          <a:p>
            <a:pPr lvl="0"/>
            <a:r>
              <a:rPr/>
              <a:t>Week 1: Research Topic &amp; Question</a:t>
            </a:r>
          </a:p>
          <a:p>
            <a:pPr lvl="0"/>
            <a:r>
              <a:rPr/>
              <a:t>Week 2: Method &amp; Recipe for the Literature Review</a:t>
            </a:r>
          </a:p>
          <a:p>
            <a:pPr lvl="0"/>
            <a:r>
              <a:rPr/>
              <a:t>Week 3: Vibe Scholarship - Applying AI to Close &amp; Distant Reading</a:t>
            </a:r>
          </a:p>
          <a:p>
            <a:pPr lvl="0"/>
            <a:r>
              <a:rPr/>
              <a:t>Week 4: Reading Spivak with AI &amp; Writing for Humanities and the Sciences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This week</a:t>
            </a:r>
          </a:p>
          <a:p>
            <a:pPr lvl="0"/>
            <a:r>
              <a:rPr/>
              <a:t>What I had planned, and what we’ll do</a:t>
            </a:r>
          </a:p>
          <a:p>
            <a:pPr lvl="1"/>
            <a:r>
              <a:rPr/>
              <a:t>Conceptual Discussion: “What Do I Know?” Towards A Sociology of Knowledge</a:t>
            </a:r>
          </a:p>
          <a:p>
            <a:pPr lvl="1"/>
            <a:r>
              <a:rPr/>
              <a:t>Framing Language: “Carry” Your Reader</a:t>
            </a:r>
          </a:p>
          <a:p>
            <a:pPr lvl="1"/>
            <a:r>
              <a:rPr/>
              <a:t>Frame up your Literature Review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Pitfalls of Literature Reviews</a:t>
            </a:r>
          </a:p>
          <a:p>
            <a:pPr lvl="0" indent="-342900" marL="342900">
              <a:buAutoNum type="arabicPeriod"/>
            </a:pPr>
            <a:r>
              <a:rPr/>
              <a:t>Length - some reviews extend to 15k, 25k, 30k words. This is too long!</a:t>
            </a:r>
          </a:p>
          <a:p>
            <a:pPr lvl="0" indent="-342900" marL="342900">
              <a:buAutoNum type="arabicPeriod"/>
            </a:pPr>
            <a:r>
              <a:rPr/>
              <a:t>Conversely, no signposting - straight into “X said this, Y said that”</a:t>
            </a:r>
          </a:p>
          <a:p>
            <a:pPr lvl="1"/>
            <a:r>
              <a:rPr/>
              <a:t>Issue of the “so what” question. Why does the reader care, or need to know this?</a:t>
            </a:r>
          </a:p>
          <a:p>
            <a:pPr lvl="1"/>
            <a:r>
              <a:rPr/>
              <a:t>Having sympathy for the reader / reviewer / examiner…</a:t>
            </a:r>
          </a:p>
          <a:p>
            <a:pPr lvl="0" indent="-342900" marL="342900">
              <a:buAutoNum type="arabicPeriod"/>
            </a:pPr>
            <a:r>
              <a:rPr/>
              <a:t>“Gap” not justified by the preceding review. The review must read like a (legal?) dossier of </a:t>
            </a:r>
            <a:r>
              <a:rPr b="1"/>
              <a:t>evidence</a:t>
            </a:r>
            <a:r>
              <a:rPr/>
              <a:t> about the claim of gaps</a:t>
            </a:r>
          </a:p>
          <a:p>
            <a:pPr lvl="1"/>
            <a:r>
              <a:rPr/>
              <a:t>Styles may differ (e.g. Spivak (1988) and Liu et al. (2025))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We’ll continue to focus on…</a:t>
            </a:r>
          </a:p>
          <a:p>
            <a:pPr lvl="0" indent="-342900" marL="342900">
              <a:buAutoNum type="arabicPeriod"/>
            </a:pPr>
            <a:r>
              <a:rPr b="1"/>
              <a:t>Concise</a:t>
            </a:r>
            <a:r>
              <a:rPr/>
              <a:t> writing (AI as concise writer – from prose to (prosaic) poetry)</a:t>
            </a:r>
          </a:p>
          <a:p>
            <a:pPr lvl="0" indent="-342900" marL="342900">
              <a:buAutoNum type="arabicPeriod"/>
            </a:pPr>
            <a:r>
              <a:rPr b="1"/>
              <a:t>Structure</a:t>
            </a:r>
            <a:r>
              <a:rPr/>
              <a:t> and </a:t>
            </a:r>
            <a:r>
              <a:rPr b="1"/>
              <a:t>metadiscourse</a:t>
            </a:r>
            <a:r>
              <a:rPr/>
              <a:t> - guide your reader through the evidence (AI as roleplay - lawyer?)</a:t>
            </a:r>
          </a:p>
          <a:p>
            <a:pPr lvl="0" indent="-342900" marL="342900">
              <a:buAutoNum type="arabicPeriod"/>
            </a:pPr>
            <a:r>
              <a:rPr b="1"/>
              <a:t>Evidence-based</a:t>
            </a:r>
            <a:r>
              <a:rPr/>
              <a:t> argument: gaps must be discovered (AI as lawyer)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If it helps…</a:t>
            </a:r>
          </a:p>
          <a:p>
            <a:pPr lvl="0"/>
            <a:r>
              <a:rPr/>
              <a:t>A literature review concludes with an </a:t>
            </a:r>
            <a:r>
              <a:rPr b="1"/>
              <a:t>argument</a:t>
            </a:r>
            <a:r>
              <a:rPr/>
              <a:t> for existence of gaps</a:t>
            </a:r>
          </a:p>
          <a:p>
            <a:pPr lvl="0"/>
            <a:r>
              <a:rPr/>
              <a:t>This argument must be </a:t>
            </a:r>
            <a:r>
              <a:rPr b="1"/>
              <a:t>proved</a:t>
            </a:r>
            <a:r>
              <a:rPr/>
              <a:t>: corroborated by the evidence supplied in the review</a:t>
            </a:r>
          </a:p>
          <a:p>
            <a:pPr lvl="0"/>
            <a:r>
              <a:rPr/>
              <a:t>This is hard to do and difficult to learn!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Structuring Your Literature Review</a:t>
            </a:r>
          </a:p>
          <a:p>
            <a:pPr lvl="0" indent="0" marL="0">
              <a:buNone/>
            </a:pPr>
            <a:r>
              <a:rPr/>
              <a:t>Pick a </a:t>
            </a:r>
            <a:r>
              <a:rPr b="1"/>
              <a:t>principle</a:t>
            </a:r>
            <a:r>
              <a:rPr/>
              <a:t>: - General &gt; Specific – can confirm but also </a:t>
            </a:r>
            <a:r>
              <a:rPr b="1"/>
              <a:t>contrast</a:t>
            </a:r>
            <a:r>
              <a:rPr/>
              <a:t> (“General theories of pedagogy suggest… </a:t>
            </a:r>
            <a:r>
              <a:rPr i="1"/>
              <a:t>However</a:t>
            </a:r>
            <a:r>
              <a:rPr/>
              <a:t> studies of adult language learners also show…”) - Chronological (“By the 1960s, discussions of AI had already become more muted…”) - Thematic (“The concept of ‘attention’ is used in roughly similar ways in machine and human learning…”) - Spatial (“Studies in Asian universities show that …; in contrast, findings from North American universities suggest…”) - Developmental (“First I will present an outline of the mind/body problem. I then move on to look at critiques of the very distinction itself…”) - Other models? - Nested Categories (chronology then thematic, etc)?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Some Guiding Notes</a:t>
            </a:r>
          </a:p>
          <a:p>
            <a:pPr lvl="0"/>
            <a:r>
              <a:rPr i="1"/>
              <a:t>Specialization</a:t>
            </a:r>
            <a:r>
              <a:rPr/>
              <a:t>: Can work well when you want to convey a sense of </a:t>
            </a:r>
            <a:r>
              <a:rPr b="1"/>
              <a:t>narrowing</a:t>
            </a:r>
            <a:r>
              <a:rPr/>
              <a:t> down a focus: Education &gt; K12 &gt; Math learning &gt; Algebra &gt; in rural Mid-west schools</a:t>
            </a:r>
          </a:p>
          <a:p>
            <a:pPr lvl="0"/>
            <a:r>
              <a:rPr i="1"/>
              <a:t>Chronological</a:t>
            </a:r>
            <a:r>
              <a:rPr/>
              <a:t>: Can work well when you want to convey a sense of </a:t>
            </a:r>
            <a:r>
              <a:rPr b="1"/>
              <a:t>progress</a:t>
            </a:r>
          </a:p>
          <a:p>
            <a:pPr lvl="1"/>
            <a:r>
              <a:rPr/>
              <a:t>And how your work </a:t>
            </a:r>
            <a:r>
              <a:rPr b="1"/>
              <a:t>extends</a:t>
            </a:r>
            <a:r>
              <a:rPr/>
              <a:t> that progress</a:t>
            </a:r>
          </a:p>
          <a:p>
            <a:pPr lvl="0"/>
            <a:r>
              <a:rPr i="1"/>
              <a:t>Thematic</a:t>
            </a:r>
            <a:r>
              <a:rPr/>
              <a:t>: Can work well when you want to convey a sense of </a:t>
            </a:r>
            <a:r>
              <a:rPr b="1"/>
              <a:t>overlaps</a:t>
            </a:r>
            <a:r>
              <a:rPr/>
              <a:t>, </a:t>
            </a:r>
            <a:r>
              <a:rPr b="1"/>
              <a:t>intersection</a:t>
            </a:r>
            <a:r>
              <a:rPr/>
              <a:t> and </a:t>
            </a:r>
            <a:r>
              <a:rPr b="1"/>
              <a:t>gaps</a:t>
            </a:r>
          </a:p>
          <a:p>
            <a:pPr lvl="1"/>
            <a:r>
              <a:rPr/>
              <a:t>And how your work discovers and fills one of these gaps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Some Guiding Notes (2)</a:t>
            </a:r>
          </a:p>
          <a:p>
            <a:pPr lvl="0"/>
            <a:r>
              <a:rPr i="1"/>
              <a:t>Spatial</a:t>
            </a:r>
            <a:r>
              <a:rPr/>
              <a:t>: Works well when you want to convey a sense of cultural, spatial or geographic difference</a:t>
            </a:r>
          </a:p>
          <a:p>
            <a:pPr lvl="1"/>
            <a:r>
              <a:rPr/>
              <a:t>And how your study attends to a location or zone not previously studied</a:t>
            </a:r>
          </a:p>
          <a:p>
            <a:pPr lvl="0"/>
            <a:r>
              <a:rPr i="1"/>
              <a:t>Developmental</a:t>
            </a:r>
            <a:r>
              <a:rPr/>
              <a:t>: Works well when you plan to build your argument through a sequence of positions / thinkers / ideas</a:t>
            </a:r>
          </a:p>
          <a:p>
            <a:pPr lvl="1"/>
            <a:r>
              <a:rPr/>
              <a:t>And show how you will blend, contrast or critique all of these positions / thinkers / ideas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Nested categories</a:t>
            </a:r>
          </a:p>
          <a:p>
            <a:pPr lvl="0"/>
            <a:r>
              <a:rPr/>
              <a:t>3 themes - each with their own history</a:t>
            </a:r>
          </a:p>
          <a:p>
            <a:pPr lvl="0"/>
            <a:r>
              <a:rPr/>
              <a:t>Or: General &gt; Special - special might involve </a:t>
            </a:r>
            <a:r>
              <a:rPr i="1"/>
              <a:t>chronological</a:t>
            </a:r>
            <a:r>
              <a:rPr/>
              <a:t> and </a:t>
            </a:r>
            <a:r>
              <a:rPr i="1"/>
              <a:t>spatial</a:t>
            </a:r>
            <a:r>
              <a:rPr/>
              <a:t> differences. “General pedagogy theories developed in the early/mid-twentieth century of pedagogy suggest… More recent studies suggest national and local cultures play a greater role. For instance, Indian scholars of K12 learning have shown…”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do I Decide?</a:t>
            </a:r>
          </a:p>
          <a:p>
            <a:pPr lvl="0"/>
            <a:r>
              <a:rPr/>
              <a:t>Often iterative:</a:t>
            </a:r>
          </a:p>
          <a:p>
            <a:pPr lvl="1"/>
            <a:r>
              <a:rPr/>
              <a:t>Go </a:t>
            </a:r>
            <a:r>
              <a:rPr b="1"/>
              <a:t>forward</a:t>
            </a:r>
            <a:r>
              <a:rPr/>
              <a:t> to discover the gap</a:t>
            </a:r>
          </a:p>
          <a:p>
            <a:pPr lvl="1"/>
            <a:r>
              <a:rPr/>
              <a:t>Move </a:t>
            </a:r>
            <a:r>
              <a:rPr b="1"/>
              <a:t>back</a:t>
            </a:r>
            <a:r>
              <a:rPr/>
              <a:t> from the gap to discover the structure</a:t>
            </a:r>
          </a:p>
          <a:p>
            <a:pPr lvl="0"/>
            <a:r>
              <a:rPr/>
              <a:t>Experiment with different structures</a:t>
            </a:r>
          </a:p>
          <a:p>
            <a:pPr lvl="1"/>
            <a:r>
              <a:rPr/>
              <a:t>Mock up your structure (more on this soon)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Metadiscourse / Signposting</a:t>
            </a:r>
          </a:p>
          <a:p>
            <a:pPr lvl="0"/>
            <a:r>
              <a:rPr/>
              <a:t>Assume your reader does </a:t>
            </a:r>
            <a:r>
              <a:rPr b="1"/>
              <a:t>not know</a:t>
            </a:r>
            <a:r>
              <a:rPr/>
              <a:t> the literature</a:t>
            </a:r>
          </a:p>
          <a:p>
            <a:pPr lvl="0"/>
            <a:r>
              <a:rPr/>
              <a:t>A literature review is often </a:t>
            </a:r>
            <a:r>
              <a:rPr b="1"/>
              <a:t>pedagogical</a:t>
            </a:r>
            <a:r>
              <a:rPr/>
              <a:t> - teaching the reader about a field, in order to persuade them about the gap your research fills</a:t>
            </a:r>
          </a:p>
          <a:p>
            <a:pPr lvl="0"/>
            <a:r>
              <a:rPr/>
              <a:t>Helps </a:t>
            </a:r>
            <a:r>
              <a:rPr b="1"/>
              <a:t>you</a:t>
            </a:r>
            <a:r>
              <a:rPr/>
              <a:t> in authoring - does Y really follow from X?</a:t>
            </a:r>
          </a:p>
          <a:p>
            <a:pPr lvl="0"/>
            <a:r>
              <a:rPr/>
              <a:t>Be prepared to write / re-write this metadiscursive text often - especially early, as you experiment with structural principles (chronological etc)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Making It Explicit</a:t>
            </a:r>
          </a:p>
          <a:p>
            <a:pPr lvl="0"/>
            <a:r>
              <a:rPr/>
              <a:t>Cannot be too explicit about your structure:</a:t>
            </a:r>
          </a:p>
          <a:p>
            <a:pPr lvl="1"/>
            <a:r>
              <a:rPr/>
              <a:t>Introduction (future tense):</a:t>
            </a:r>
          </a:p>
          <a:p>
            <a:pPr lvl="2"/>
            <a:r>
              <a:rPr/>
              <a:t>“In this literature review I will…”</a:t>
            </a:r>
          </a:p>
          <a:p>
            <a:pPr lvl="2"/>
            <a:r>
              <a:rPr/>
              <a:t>(or if you prefer) “This review will…”</a:t>
            </a:r>
          </a:p>
          <a:p>
            <a:pPr lvl="1"/>
            <a:r>
              <a:rPr/>
              <a:t>Conclusion (past tense):</a:t>
            </a:r>
          </a:p>
          <a:p>
            <a:pPr lvl="2"/>
            <a:r>
              <a:rPr/>
              <a:t>“In this review, I have discussed literature relating to…”</a:t>
            </a:r>
          </a:p>
          <a:p>
            <a:pPr lvl="2"/>
            <a:r>
              <a:rPr/>
              <a:t>(or if you prefer) “This review has…”</a:t>
            </a:r>
          </a:p>
          <a:p>
            <a:pPr lvl="1"/>
            <a:r>
              <a:rPr/>
              <a:t>Along the way:</a:t>
            </a:r>
          </a:p>
          <a:p>
            <a:pPr lvl="2"/>
            <a:r>
              <a:rPr/>
              <a:t>“In the last section, I discussed…. In the next, I will…”</a:t>
            </a:r>
          </a:p>
          <a:p>
            <a:pPr lvl="2"/>
            <a:r>
              <a:rPr/>
              <a:t>Can be blended through connective language. “While the </a:t>
            </a:r>
            <a:r>
              <a:rPr i="1"/>
              <a:t>preceding studies</a:t>
            </a:r>
            <a:r>
              <a:rPr/>
              <a:t> illustrated how use of AI in education has been studied extensively, less has been said about how AI contributes to the student/teacher relationship. Some exceptions include studies by X, Y and Z…”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Develop a Repertoire of Metadiscourse</a:t>
            </a:r>
          </a:p>
          <a:p>
            <a:pPr lvl="0"/>
            <a:r>
              <a:rPr/>
              <a:t>Ask AI for suggestions…</a:t>
            </a:r>
          </a:p>
          <a:p>
            <a:pPr lvl="1"/>
            <a:r>
              <a:rPr/>
              <a:t>“Give me examples of metadiscourse for a literature review”</a:t>
            </a:r>
          </a:p>
          <a:p>
            <a:pPr lvl="1"/>
            <a:r>
              <a:rPr/>
              <a:t>Or “Give me a table and distinguish between metadiscourse used in (a) scientific and (b) humanities discussions of literature”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Play as “Metadiscourse Detective”</a:t>
            </a:r>
          </a:p>
          <a:p>
            <a:pPr lvl="0" indent="-342900" marL="342900">
              <a:buAutoNum type="arabicPeriod"/>
            </a:pPr>
            <a:r>
              <a:rPr/>
              <a:t>Go to: https://ai.studio/apps/drive/1rKenX37bOW6E6u8xri1H1giuVqvoNi45</a:t>
            </a:r>
          </a:p>
          <a:p>
            <a:pPr lvl="0" indent="-342900" marL="342900">
              <a:buAutoNum type="arabicPeriod"/>
            </a:pPr>
            <a:r>
              <a:rPr/>
              <a:t>Play “Identify Metadiscourse”.</a:t>
            </a:r>
          </a:p>
          <a:p>
            <a:pPr lvl="0" indent="-342900" marL="342900">
              <a:buAutoNum type="arabicPeriod"/>
            </a:pPr>
            <a:r>
              <a:rPr/>
              <a:t>“Change Mode”, then play “Add Metadiscourse”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Group work: Make Your Own Literature Review Game</a:t>
            </a:r>
          </a:p>
          <a:p>
            <a:pPr lvl="0" indent="-342900" marL="342900">
              <a:buAutoNum type="arabicPeriod"/>
            </a:pPr>
            <a:r>
              <a:rPr/>
              <a:t>Discuss and develop one key challenge with developing a literature review. Could relate to structuring, metadiscourse / signposting, or anything else.</a:t>
            </a:r>
          </a:p>
          <a:p>
            <a:pPr lvl="0" indent="-342900" marL="342900">
              <a:buAutoNum type="arabicPeriod"/>
            </a:pPr>
            <a:r>
              <a:rPr/>
              <a:t>Go to: https://ai.studio/apps/drive/1rKenX37bOW6E6u8xri1H1giuVqvoNi45</a:t>
            </a:r>
          </a:p>
          <a:p>
            <a:pPr lvl="0" indent="-342900" marL="342900">
              <a:buAutoNum type="arabicPeriod"/>
            </a:pPr>
            <a:r>
              <a:rPr/>
              <a:t>Write a prompt that builds a game or app that helps practice or address the key challenge.</a:t>
            </a:r>
          </a:p>
          <a:p>
            <a:pPr lvl="0" indent="-342900" marL="342900">
              <a:buAutoNum type="arabicPeriod"/>
            </a:pPr>
            <a:r>
              <a:rPr/>
              <a:t>Test and iterate!</a:t>
            </a:r>
          </a:p>
          <a:p>
            <a:pPr lvl="0" indent="-342900" marL="342900">
              <a:buAutoNum type="arabicPeriod"/>
            </a:pPr>
            <a:r>
              <a:rPr/>
              <a:t>Share and write-up results…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Sociology of Knowledge</a:t>
            </a:r>
          </a:p>
          <a:p>
            <a:pPr lvl="0"/>
            <a:r>
              <a:rPr/>
              <a:t>Study of academic / scholarly societies</a:t>
            </a:r>
          </a:p>
          <a:p>
            <a:pPr lvl="0"/>
            <a:r>
              <a:rPr/>
              <a:t>Navel gazing? Perhaps. But relevant for all academia because it helps us calibrate our writing (tone / citations )</a:t>
            </a:r>
          </a:p>
          <a:p>
            <a:pPr lvl="0"/>
            <a:r>
              <a:rPr/>
              <a:t>We’ve already touched on this</a:t>
            </a:r>
          </a:p>
          <a:p>
            <a:pPr lvl="1"/>
            <a:r>
              <a:rPr/>
              <a:t>Two Cultures (Snow) – Humanities and the Sciences)</a:t>
            </a:r>
          </a:p>
          <a:p>
            <a:pPr lvl="0"/>
            <a:r>
              <a:rPr/>
              <a:t>But also: what are </a:t>
            </a:r>
            <a:r>
              <a:rPr b="1"/>
              <a:t>financial</a:t>
            </a:r>
            <a:r>
              <a:rPr/>
              <a:t> / </a:t>
            </a:r>
            <a:r>
              <a:rPr b="1"/>
              <a:t>political</a:t>
            </a:r>
            <a:r>
              <a:rPr/>
              <a:t> drivers of research? What are the conceptual or ideological </a:t>
            </a:r>
            <a:r>
              <a:rPr b="1"/>
              <a:t>frames</a:t>
            </a:r>
            <a:r>
              <a:rPr/>
              <a:t>? What are the standards for </a:t>
            </a:r>
            <a:r>
              <a:rPr b="1"/>
              <a:t>evidence</a:t>
            </a:r>
            <a:r>
              <a:rPr/>
              <a:t> or </a:t>
            </a:r>
            <a:r>
              <a:rPr b="1"/>
              <a:t>truth</a:t>
            </a:r>
            <a:r>
              <a:rPr/>
              <a:t>? Compare Spivak (1988) to Liu et al. (2025)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Sociology of Knowledge: Key figures</a:t>
            </a:r>
          </a:p>
          <a:p>
            <a:pPr lvl="0"/>
            <a:r>
              <a:rPr/>
              <a:t>Karl Marx (19th century): How do </a:t>
            </a:r>
            <a:r>
              <a:rPr i="1"/>
              <a:t>material conditions</a:t>
            </a:r>
            <a:r>
              <a:rPr/>
              <a:t> influence </a:t>
            </a:r>
            <a:r>
              <a:rPr i="1"/>
              <a:t>thought</a:t>
            </a:r>
            <a:r>
              <a:rPr/>
              <a:t>?</a:t>
            </a:r>
          </a:p>
          <a:p>
            <a:pPr lvl="0"/>
            <a:r>
              <a:rPr/>
              <a:t>Emile Durkheim (1912): </a:t>
            </a:r>
            <a:r>
              <a:rPr i="1"/>
              <a:t>The Elementary Forms of Religious Life</a:t>
            </a:r>
          </a:p>
          <a:p>
            <a:pPr lvl="0"/>
            <a:r>
              <a:rPr/>
              <a:t>Sigmund Freud (1930): </a:t>
            </a:r>
            <a:r>
              <a:rPr i="1"/>
              <a:t>Civilization and its Discontents</a:t>
            </a:r>
          </a:p>
          <a:p>
            <a:pPr lvl="0"/>
            <a:r>
              <a:rPr/>
              <a:t>Karl Mannheim (1929): </a:t>
            </a:r>
            <a:r>
              <a:rPr i="1"/>
              <a:t>Ideology and Utopia</a:t>
            </a:r>
          </a:p>
          <a:p>
            <a:pPr lvl="0"/>
            <a:r>
              <a:rPr/>
              <a:t>Thomas Kuhn (1962): </a:t>
            </a:r>
            <a:r>
              <a:rPr i="1"/>
              <a:t>The Structure of Scientific Revolutions</a:t>
            </a:r>
          </a:p>
          <a:p>
            <a:pPr lvl="0"/>
            <a:r>
              <a:rPr/>
              <a:t>Berger, Luckmann (1966): </a:t>
            </a:r>
            <a:r>
              <a:rPr i="1"/>
              <a:t>The Social Construction of Reality</a:t>
            </a:r>
          </a:p>
          <a:p>
            <a:pPr lvl="0"/>
            <a:r>
              <a:rPr/>
              <a:t>Bourdieu (1977): </a:t>
            </a:r>
            <a:r>
              <a:rPr i="1"/>
              <a:t>Outline of a Theory of Practice</a:t>
            </a:r>
          </a:p>
          <a:p>
            <a:pPr lvl="0"/>
            <a:r>
              <a:rPr/>
              <a:t>Michel Foucault (1966, 1969): </a:t>
            </a:r>
            <a:r>
              <a:rPr i="1"/>
              <a:t>The Order of Things</a:t>
            </a:r>
            <a:r>
              <a:rPr/>
              <a:t>, </a:t>
            </a:r>
            <a:r>
              <a:rPr i="1"/>
              <a:t>The Archaeology of Knowledge</a:t>
            </a:r>
          </a:p>
          <a:p>
            <a:pPr lvl="0"/>
            <a:r>
              <a:rPr/>
              <a:t>David Bloor (1976), </a:t>
            </a:r>
            <a:r>
              <a:rPr i="1"/>
              <a:t>Knowledge and social imagery</a:t>
            </a:r>
          </a:p>
          <a:p>
            <a:pPr lvl="0"/>
            <a:r>
              <a:rPr/>
              <a:t>Bruno Latour, Steve Woolgar (1979), </a:t>
            </a:r>
            <a:r>
              <a:rPr i="1"/>
              <a:t>Laboratory Life</a:t>
            </a:r>
          </a:p>
          <a:p>
            <a:pPr lvl="0"/>
            <a:r>
              <a:rPr/>
              <a:t>Edward Said (1976), </a:t>
            </a:r>
            <a:r>
              <a:rPr i="1"/>
              <a:t>Orientalism</a:t>
            </a:r>
          </a:p>
          <a:p>
            <a:pPr lvl="0"/>
            <a:r>
              <a:rPr/>
              <a:t>Gayatri Spivak (1987), </a:t>
            </a:r>
            <a:r>
              <a:rPr i="1"/>
              <a:t>In Other Words</a:t>
            </a:r>
          </a:p>
          <a:p>
            <a:pPr lvl="0"/>
            <a:r>
              <a:rPr/>
              <a:t>Judith Butler (1990), </a:t>
            </a:r>
            <a:r>
              <a:rPr i="1"/>
              <a:t>Gender Trouble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Sociology of Knowledge: Common Points?</a:t>
            </a:r>
          </a:p>
          <a:p>
            <a:pPr lvl="0"/>
            <a:r>
              <a:rPr/>
              <a:t>Thinking is not independent of </a:t>
            </a:r>
            <a:r>
              <a:rPr b="1"/>
              <a:t>conditions</a:t>
            </a:r>
            <a:r>
              <a:rPr/>
              <a:t> of life</a:t>
            </a:r>
          </a:p>
          <a:p>
            <a:pPr lvl="0"/>
            <a:r>
              <a:rPr/>
              <a:t>What are “conditions”?</a:t>
            </a:r>
          </a:p>
          <a:p>
            <a:pPr lvl="1"/>
            <a:r>
              <a:rPr/>
              <a:t>Class (Marx), race, gender (Said, Butler, Spivak)</a:t>
            </a:r>
          </a:p>
          <a:p>
            <a:pPr lvl="1"/>
            <a:r>
              <a:rPr/>
              <a:t>Social facts - fads &amp; fashions (Durkheim)</a:t>
            </a:r>
          </a:p>
          <a:p>
            <a:pPr lvl="1"/>
            <a:r>
              <a:rPr/>
              <a:t>Ideology - what fundamental beliefs structure or make possible our thinking (Mannheim)</a:t>
            </a:r>
          </a:p>
          <a:p>
            <a:pPr lvl="1"/>
            <a:r>
              <a:rPr/>
              <a:t>Paradigms (Kuhn), epistemes (Foucault), habitus (Bourdieu): background forms of knowing and being</a:t>
            </a:r>
          </a:p>
          <a:p>
            <a:pPr lvl="0"/>
            <a:r>
              <a:rPr/>
              <a:t>Related to unconscious bias (Freud)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does this matter?</a:t>
            </a:r>
          </a:p>
          <a:p>
            <a:pPr lvl="0"/>
            <a:r>
              <a:rPr/>
              <a:t>Often asked to account for your </a:t>
            </a:r>
            <a:r>
              <a:rPr b="1"/>
              <a:t>positionality</a:t>
            </a:r>
          </a:p>
          <a:p>
            <a:pPr lvl="0"/>
            <a:r>
              <a:rPr/>
              <a:t>Hard to do! What is your </a:t>
            </a:r>
            <a:r>
              <a:rPr i="1"/>
              <a:t>unconscious bias</a:t>
            </a:r>
            <a:r>
              <a:rPr/>
              <a:t>? What are you </a:t>
            </a:r>
            <a:r>
              <a:rPr i="1"/>
              <a:t>conscious of being unconscious of</a:t>
            </a:r>
            <a:r>
              <a:rPr/>
              <a:t>?</a:t>
            </a:r>
          </a:p>
          <a:p>
            <a:pPr lvl="1"/>
            <a:r>
              <a:rPr/>
              <a:t>If you knew, it wouldn’t be unconscious!</a:t>
            </a:r>
          </a:p>
          <a:p>
            <a:pPr lvl="0"/>
            <a:r>
              <a:rPr/>
              <a:t>Irregular verbs:</a:t>
            </a:r>
          </a:p>
          <a:p>
            <a:pPr lvl="1"/>
            <a:r>
              <a:rPr/>
              <a:t>“</a:t>
            </a:r>
            <a:r>
              <a:rPr b="1"/>
              <a:t>I think</a:t>
            </a:r>
            <a:r>
              <a:rPr/>
              <a:t> critically and independently”</a:t>
            </a:r>
          </a:p>
          <a:p>
            <a:pPr lvl="1"/>
            <a:r>
              <a:rPr/>
              <a:t>“</a:t>
            </a:r>
            <a:r>
              <a:rPr b="1"/>
              <a:t>You think</a:t>
            </a:r>
            <a:r>
              <a:rPr/>
              <a:t> according to the influences of your economic class and upbringing”</a:t>
            </a:r>
          </a:p>
          <a:p>
            <a:pPr lvl="1"/>
            <a:r>
              <a:rPr/>
              <a:t>“</a:t>
            </a:r>
            <a:r>
              <a:rPr b="1"/>
              <a:t>She / He / They think</a:t>
            </a:r>
            <a:r>
              <a:rPr/>
              <a:t> as unaware and naive victims of ideology”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about an academic community:</a:t>
            </a:r>
          </a:p>
          <a:p>
            <a:pPr lvl="0"/>
            <a:r>
              <a:rPr/>
              <a:t>What is its </a:t>
            </a:r>
            <a:r>
              <a:rPr b="1"/>
              <a:t>jargon</a:t>
            </a:r>
            <a:r>
              <a:rPr/>
              <a:t>? Do you want to reproduce, challenge or modify this jargon?</a:t>
            </a:r>
          </a:p>
          <a:p>
            <a:pPr lvl="0"/>
            <a:r>
              <a:rPr/>
              <a:t>What are its </a:t>
            </a:r>
            <a:r>
              <a:rPr b="1"/>
              <a:t>standards of evidence</a:t>
            </a:r>
            <a:r>
              <a:rPr/>
              <a:t>? What does it </a:t>
            </a:r>
            <a:r>
              <a:rPr b="1"/>
              <a:t>find persuasive</a:t>
            </a:r>
            <a:r>
              <a:rPr/>
              <a:t>? What are the </a:t>
            </a:r>
            <a:r>
              <a:rPr b="1"/>
              <a:t>key questions</a:t>
            </a:r>
            <a:r>
              <a:rPr/>
              <a:t> it is asking?</a:t>
            </a:r>
          </a:p>
          <a:p>
            <a:pPr lvl="0"/>
            <a:r>
              <a:rPr/>
              <a:t>How stringent are its expectations about </a:t>
            </a:r>
            <a:r>
              <a:rPr b="1"/>
              <a:t>method</a:t>
            </a:r>
            <a:r>
              <a:rPr/>
              <a:t>, </a:t>
            </a:r>
            <a:r>
              <a:rPr b="1"/>
              <a:t>citation</a:t>
            </a:r>
            <a:r>
              <a:rPr/>
              <a:t>, </a:t>
            </a:r>
            <a:r>
              <a:rPr b="1"/>
              <a:t>formatting</a:t>
            </a:r>
            <a:r>
              <a:rPr/>
              <a:t>?</a:t>
            </a:r>
          </a:p>
          <a:p>
            <a:pPr lvl="0"/>
            <a:r>
              <a:rPr/>
              <a:t>What are its markers of </a:t>
            </a:r>
            <a:r>
              <a:rPr b="1"/>
              <a:t>distinction</a:t>
            </a:r>
            <a:r>
              <a:rPr/>
              <a:t> and </a:t>
            </a:r>
            <a:r>
              <a:rPr b="1"/>
              <a:t>discernment</a:t>
            </a:r>
            <a:r>
              <a:rPr/>
              <a:t> – “tickets to the game”?</a:t>
            </a:r>
          </a:p>
          <a:p>
            <a:pPr lvl="0"/>
            <a:r>
              <a:rPr/>
              <a:t>Conversely: what seem to be the things </a:t>
            </a:r>
            <a:r>
              <a:rPr b="1"/>
              <a:t>not to say</a:t>
            </a:r>
            <a:r>
              <a:rPr/>
              <a:t>?</a:t>
            </a:r>
          </a:p>
        </p:txBody>
      </p:sp>
      <p:pic>
        <p:nvPicPr>
          <p:cNvPr descr="images/pasted-image-2025-11-17T14-35-30-763Z-2f11122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203200"/>
            <a:ext cx="25273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Image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can you develop this tacit sense? Options:</a:t>
            </a:r>
          </a:p>
          <a:p>
            <a:pPr lvl="0"/>
            <a:r>
              <a:rPr/>
              <a:t>Treat it like a research project - study academics like an community</a:t>
            </a:r>
          </a:p>
          <a:p>
            <a:pPr lvl="1"/>
            <a:r>
              <a:rPr/>
              <a:t>Read journals</a:t>
            </a:r>
          </a:p>
          <a:p>
            <a:pPr lvl="1"/>
            <a:r>
              <a:rPr/>
              <a:t>Attend conferences</a:t>
            </a:r>
          </a:p>
          <a:p>
            <a:pPr lvl="1"/>
            <a:r>
              <a:rPr/>
              <a:t>Observe faculty</a:t>
            </a:r>
          </a:p>
          <a:p>
            <a:pPr lvl="1"/>
            <a:r>
              <a:rPr/>
              <a:t>Join committees</a:t>
            </a:r>
          </a:p>
          <a:p>
            <a:pPr lvl="1"/>
            <a:r>
              <a:rPr/>
              <a:t>Read or scan ‘campus’ novels &amp; drama</a:t>
            </a:r>
          </a:p>
          <a:p>
            <a:pPr lvl="1"/>
            <a:r>
              <a:rPr/>
              <a:t>Maintain a reflective journal</a:t>
            </a:r>
          </a:p>
          <a:p>
            <a:pPr lvl="1"/>
            <a:r>
              <a:rPr/>
              <a:t>Share your own research, ask for feedback</a:t>
            </a:r>
          </a:p>
          <a:p>
            <a:pPr lvl="1"/>
            <a:r>
              <a:rPr/>
              <a:t>Ask AI to play the role of an academic in a field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Relationship to Literature Review</a:t>
            </a:r>
          </a:p>
          <a:p>
            <a:pPr lvl="0"/>
            <a:r>
              <a:rPr/>
              <a:t>Write with your audience in mind</a:t>
            </a:r>
          </a:p>
          <a:p>
            <a:pPr lvl="0"/>
            <a:r>
              <a:rPr/>
              <a:t>But - very important! – not as though you are already “in the club”</a:t>
            </a:r>
          </a:p>
          <a:p>
            <a:pPr lvl="0"/>
            <a:r>
              <a:rPr/>
              <a:t>Take a reference to Spivak. You might know your audience is likely familiar with Spivak’s work. But of course you don’t say:</a:t>
            </a:r>
          </a:p>
          <a:p>
            <a:pPr lvl="1"/>
            <a:r>
              <a:rPr/>
              <a:t>“</a:t>
            </a:r>
            <a:r>
              <a:rPr i="1"/>
              <a:t>As we all know</a:t>
            </a:r>
            <a:r>
              <a:rPr/>
              <a:t>, Spivak argued that”</a:t>
            </a:r>
          </a:p>
          <a:p>
            <a:pPr lvl="1"/>
            <a:r>
              <a:rPr/>
              <a:t>Instead it is as though your audience forgot Spivak’s point and you gently remind them: “Spivak argued that…”</a:t>
            </a:r>
          </a:p>
          <a:p>
            <a:pPr lvl="1"/>
            <a:r>
              <a:rPr/>
              <a:t>But then you might twist this familiarity: “In the age of AI, it might seem Spivak’s arguments regarding grammatization have dated. However,…”</a:t>
            </a:r>
          </a:p>
          <a:p>
            <a:pPr lvl="0"/>
            <a:r>
              <a:rPr/>
              <a:t>So a literature review can translate your own sociological research into some careful phrasing that both </a:t>
            </a:r>
            <a:r>
              <a:rPr i="1"/>
              <a:t>reassures</a:t>
            </a:r>
            <a:r>
              <a:rPr/>
              <a:t> and </a:t>
            </a:r>
            <a:r>
              <a:rPr i="1"/>
              <a:t>surprises</a:t>
            </a:r>
            <a:r>
              <a:rPr/>
              <a:t> your community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Homework! Structuring and scaffolding your review</a:t>
            </a:r>
          </a:p>
          <a:p>
            <a:pPr lvl="0"/>
            <a:r>
              <a:rPr/>
              <a:t>Revisit the recipe from week 3</a:t>
            </a:r>
          </a:p>
          <a:p>
            <a:pPr lvl="0"/>
            <a:r>
              <a:rPr/>
              <a:t>Prepare 3 variations of the literature you have collected:</a:t>
            </a:r>
          </a:p>
          <a:p>
            <a:pPr lvl="1"/>
            <a:r>
              <a:rPr/>
              <a:t>Chronological</a:t>
            </a:r>
          </a:p>
          <a:p>
            <a:pPr lvl="1"/>
            <a:r>
              <a:rPr/>
              <a:t>Thematic</a:t>
            </a:r>
          </a:p>
          <a:p>
            <a:pPr lvl="1"/>
            <a:r>
              <a:rPr/>
              <a:t>Nested / Blended (can be any combination of options)</a:t>
            </a:r>
          </a:p>
          <a:p>
            <a:pPr lvl="0"/>
            <a:r>
              <a:rPr/>
              <a:t>For each: develop 3-6 headings that shows how you might organize the literature you have collected so far</a:t>
            </a:r>
          </a:p>
          <a:p>
            <a:pPr lvl="0"/>
            <a:r>
              <a:rPr/>
              <a:t>Add this to Week 5</a:t>
            </a:r>
          </a:p>
          <a:p>
            <a:pPr lvl="0"/>
            <a:r>
              <a:rPr/>
              <a:t>Ask AI to do the same thing with your article collection, and write 3-5 sentences evaluating how useful you thought its results were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2025-11-18T02:01:19Z</dcterms:created>
  <dcterms:modified xsi:type="dcterms:W3CDTF">2025-11-18T02:01:19Z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/>
  </property>
</Properties>
</file>