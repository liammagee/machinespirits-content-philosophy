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590 Lecture 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We’ve Covered</a:t>
            </a:r>
          </a:p>
          <a:p>
            <a:pPr lvl="0"/>
            <a:r>
              <a:rPr/>
              <a:t>Week 1: Research Topic &amp; Question</a:t>
            </a:r>
          </a:p>
          <a:p>
            <a:pPr lvl="0"/>
            <a:r>
              <a:rPr/>
              <a:t>Week 2: Method &amp; Recipe for the Literature Review</a:t>
            </a:r>
          </a:p>
          <a:p>
            <a:pPr lvl="0"/>
            <a:r>
              <a:rPr/>
              <a:t>Week 3: Vibe Scholarship - Applying AI to Close &amp; Distant Reading</a:t>
            </a:r>
          </a:p>
          <a:p>
            <a:pPr lvl="0"/>
            <a:r>
              <a:rPr/>
              <a:t>Week 4: Reading Spivak with AI &amp; Writing for Humanities and the Sciences</a:t>
            </a:r>
          </a:p>
          <a:p>
            <a:pPr lvl="0"/>
            <a:r>
              <a:rPr/>
              <a:t>Week 5: Structuring the Literature Review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This Week</a:t>
            </a:r>
          </a:p>
          <a:p>
            <a:pPr lvl="0"/>
            <a:r>
              <a:rPr/>
              <a:t>Hour 1:</a:t>
            </a:r>
          </a:p>
          <a:p>
            <a:pPr lvl="1"/>
            <a:r>
              <a:rPr/>
              <a:t>Sociology of Knowledge and Applications to your Literature Review</a:t>
            </a:r>
          </a:p>
          <a:p>
            <a:pPr lvl="1"/>
            <a:r>
              <a:rPr/>
              <a:t>Reflexivity and Positionality: how do we interpret other scholarship?</a:t>
            </a:r>
          </a:p>
          <a:p>
            <a:pPr lvl="0"/>
            <a:r>
              <a:rPr/>
              <a:t>Hour 2: Group work - write a literature review summary</a:t>
            </a:r>
          </a:p>
          <a:p>
            <a:pPr lvl="0"/>
            <a:r>
              <a:rPr/>
              <a:t>Hour 3: How Do You Acknowledge AI in Literature Review?</a:t>
            </a:r>
          </a:p>
          <a:p>
            <a:pPr lvl="1"/>
            <a:r>
              <a:rPr/>
              <a:t>And What is AI doing to Academia and the state of Knowledge?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Next Week</a:t>
            </a:r>
          </a:p>
          <a:p>
            <a:pPr lvl="0"/>
            <a:r>
              <a:rPr/>
              <a:t>Synthesizing the course into a draft review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</a:t>
            </a:r>
          </a:p>
          <a:p>
            <a:pPr lvl="0"/>
            <a:r>
              <a:rPr/>
              <a:t>Study of academic / scholarly societies</a:t>
            </a:r>
          </a:p>
          <a:p>
            <a:pPr lvl="0"/>
            <a:r>
              <a:rPr/>
              <a:t>Navel gazing? Perhaps. But relevant for all academia because it helps us calibrate our writing (tone / citations )</a:t>
            </a:r>
          </a:p>
          <a:p>
            <a:pPr lvl="0"/>
            <a:r>
              <a:rPr/>
              <a:t>We’ve already touched on this</a:t>
            </a:r>
          </a:p>
          <a:p>
            <a:pPr lvl="1"/>
            <a:r>
              <a:rPr/>
              <a:t>Two Cultures (Snow (1959) – Humanities and the Sciences)</a:t>
            </a:r>
          </a:p>
          <a:p>
            <a:pPr lvl="0"/>
            <a:r>
              <a:rPr/>
              <a:t>But also: what are </a:t>
            </a:r>
            <a:r>
              <a:rPr b="1"/>
              <a:t>financial</a:t>
            </a:r>
            <a:r>
              <a:rPr/>
              <a:t> / </a:t>
            </a:r>
            <a:r>
              <a:rPr b="1"/>
              <a:t>political</a:t>
            </a:r>
            <a:r>
              <a:rPr/>
              <a:t> drivers of research? What are the conceptual or ideological </a:t>
            </a:r>
            <a:r>
              <a:rPr b="1"/>
              <a:t>frames</a:t>
            </a:r>
            <a:r>
              <a:rPr/>
              <a:t>? What are the standards for </a:t>
            </a:r>
            <a:r>
              <a:rPr b="1"/>
              <a:t>evidence</a:t>
            </a:r>
            <a:r>
              <a:rPr/>
              <a:t> or </a:t>
            </a:r>
            <a:r>
              <a:rPr b="1"/>
              <a:t>truth</a:t>
            </a:r>
            <a:r>
              <a:rPr/>
              <a:t>? Compare Spivak (1988) to Liu et al. (2025)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Knowledge: Key figures &amp; developments</a:t>
            </a:r>
          </a:p>
          <a:p>
            <a:pPr lvl="0"/>
            <a:r>
              <a:rPr/>
              <a:t>Karl Marx (19th century): How do </a:t>
            </a:r>
            <a:r>
              <a:rPr i="1"/>
              <a:t>material conditions</a:t>
            </a:r>
            <a:r>
              <a:rPr/>
              <a:t> influence </a:t>
            </a:r>
            <a:r>
              <a:rPr i="1"/>
              <a:t>thought</a:t>
            </a:r>
            <a:r>
              <a:rPr/>
              <a:t>?</a:t>
            </a:r>
          </a:p>
          <a:p>
            <a:pPr lvl="0"/>
            <a:r>
              <a:rPr/>
              <a:t>Emile Durkheim (1912): </a:t>
            </a:r>
            <a:r>
              <a:rPr i="1"/>
              <a:t>The Elementary Forms of Religious Life</a:t>
            </a:r>
          </a:p>
          <a:p>
            <a:pPr lvl="0"/>
            <a:r>
              <a:rPr/>
              <a:t>Max Weber (1917): </a:t>
            </a:r>
            <a:r>
              <a:rPr i="1"/>
              <a:t>Science as a Vocation</a:t>
            </a:r>
          </a:p>
          <a:p>
            <a:pPr lvl="0"/>
            <a:r>
              <a:rPr/>
              <a:t>Karl Mannheim (1929): </a:t>
            </a:r>
            <a:r>
              <a:rPr i="1"/>
              <a:t>Ideology and Utopia</a:t>
            </a:r>
          </a:p>
          <a:p>
            <a:pPr lvl="0"/>
            <a:r>
              <a:rPr/>
              <a:t>Sigmund Freud (1930): </a:t>
            </a:r>
            <a:r>
              <a:rPr i="1"/>
              <a:t>Civilization and its Discontents</a:t>
            </a:r>
          </a:p>
          <a:p>
            <a:pPr lvl="0"/>
            <a:r>
              <a:rPr/>
              <a:t>Thomas Kuhn (1962): </a:t>
            </a:r>
            <a:r>
              <a:rPr i="1"/>
              <a:t>The Structure of Scientific Revolutions</a:t>
            </a:r>
          </a:p>
          <a:p>
            <a:pPr lvl="0"/>
            <a:r>
              <a:rPr/>
              <a:t>Berger, Luckmann (1966): </a:t>
            </a:r>
            <a:r>
              <a:rPr i="1"/>
              <a:t>The Social Construction of Reality</a:t>
            </a:r>
          </a:p>
          <a:p>
            <a:pPr lvl="0"/>
            <a:r>
              <a:rPr/>
              <a:t>Michel Foucault (1966): </a:t>
            </a:r>
            <a:r>
              <a:rPr i="1"/>
              <a:t>The Order of Things</a:t>
            </a:r>
          </a:p>
          <a:p>
            <a:pPr lvl="0"/>
            <a:r>
              <a:rPr/>
              <a:t>Michel Foucault (1966, 1969): </a:t>
            </a:r>
            <a:r>
              <a:rPr i="1"/>
              <a:t>The Archaeology of Knowledge</a:t>
            </a:r>
          </a:p>
          <a:p>
            <a:pPr lvl="0"/>
            <a:r>
              <a:rPr/>
              <a:t>David Bloor (1976), </a:t>
            </a:r>
            <a:r>
              <a:rPr i="1"/>
              <a:t>Knowledge and social imagery</a:t>
            </a:r>
          </a:p>
          <a:p>
            <a:pPr lvl="0"/>
            <a:r>
              <a:rPr/>
              <a:t>Bourdieu (1977): </a:t>
            </a:r>
            <a:r>
              <a:rPr i="1"/>
              <a:t>Outline of a Theory of Practice</a:t>
            </a:r>
          </a:p>
          <a:p>
            <a:pPr lvl="0"/>
            <a:r>
              <a:rPr/>
              <a:t>Bruno Latour, Steve Woolgar (1979), </a:t>
            </a:r>
            <a:r>
              <a:rPr i="1"/>
              <a:t>Laboratory Life</a:t>
            </a:r>
          </a:p>
          <a:p>
            <a:pPr lvl="0"/>
            <a:r>
              <a:rPr/>
              <a:t>Edward Said (1976), </a:t>
            </a:r>
            <a:r>
              <a:rPr i="1"/>
              <a:t>Orientalism</a:t>
            </a:r>
          </a:p>
          <a:p>
            <a:pPr lvl="0"/>
            <a:r>
              <a:rPr/>
              <a:t>Gayatri Spivak (1987), </a:t>
            </a:r>
            <a:r>
              <a:rPr i="1"/>
              <a:t>In Other Words</a:t>
            </a:r>
          </a:p>
          <a:p>
            <a:pPr lvl="0"/>
            <a:r>
              <a:rPr/>
              <a:t>Judith Butler (1990), </a:t>
            </a:r>
            <a:r>
              <a:rPr i="1"/>
              <a:t>Gender Trouble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Knowledge: Key figures &amp; developments</a:t>
            </a:r>
          </a:p>
          <a:p>
            <a:pPr lvl="0" indent="0" marL="0">
              <a:buNone/>
            </a:pPr>
            <a:r>
              <a:rPr/>
              <a:t>Courtesy of Google’s Nano Banana Pro. Not quite right, but thanks anyway!</a:t>
            </a:r>
          </a:p>
        </p:txBody>
      </p:sp>
      <p:pic>
        <p:nvPicPr>
          <p:cNvPr descr="images/pasted-image-2025-12-01T05-37-53-195Z-7683733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11200"/>
            <a:ext cx="51054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Knowledge: Common Points?</a:t>
            </a:r>
          </a:p>
          <a:p>
            <a:pPr lvl="0"/>
            <a:r>
              <a:rPr/>
              <a:t>Thinking is not independent of </a:t>
            </a:r>
            <a:r>
              <a:rPr b="1"/>
              <a:t>conditions</a:t>
            </a:r>
            <a:r>
              <a:rPr/>
              <a:t> of life</a:t>
            </a:r>
          </a:p>
          <a:p>
            <a:pPr lvl="0"/>
            <a:r>
              <a:rPr/>
              <a:t>What are “conditions”?</a:t>
            </a:r>
          </a:p>
          <a:p>
            <a:pPr lvl="1"/>
            <a:r>
              <a:rPr/>
              <a:t>Class (Marx), race, gender (Said, Butler, Spivak)</a:t>
            </a:r>
          </a:p>
          <a:p>
            <a:pPr lvl="1"/>
            <a:r>
              <a:rPr/>
              <a:t>Social facts - fads &amp; fashions (Durkheim)</a:t>
            </a:r>
          </a:p>
          <a:p>
            <a:pPr lvl="1"/>
            <a:r>
              <a:rPr/>
              <a:t>Ideology - what fundamental beliefs structure or make possible our thinking (Mannheim)</a:t>
            </a:r>
          </a:p>
          <a:p>
            <a:pPr lvl="1"/>
            <a:r>
              <a:rPr/>
              <a:t>Paradigms (Kuhn), epistemes (Foucault), habitus (Bourdieu): background forms of knowing and being</a:t>
            </a:r>
          </a:p>
          <a:p>
            <a:pPr lvl="0"/>
            <a:r>
              <a:rPr/>
              <a:t>Related to unconscious bias (Freud)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does this matter?</a:t>
            </a:r>
          </a:p>
          <a:p>
            <a:pPr lvl="0"/>
            <a:r>
              <a:rPr/>
              <a:t>Often asked to account for your </a:t>
            </a:r>
            <a:r>
              <a:rPr b="1"/>
              <a:t>positionality</a:t>
            </a:r>
          </a:p>
          <a:p>
            <a:pPr lvl="0"/>
            <a:r>
              <a:rPr/>
              <a:t>Hard to do! What is your </a:t>
            </a:r>
            <a:r>
              <a:rPr i="1"/>
              <a:t>unconscious bias</a:t>
            </a:r>
            <a:r>
              <a:rPr/>
              <a:t>? What are you </a:t>
            </a:r>
            <a:r>
              <a:rPr i="1"/>
              <a:t>conscious of being unconscious of</a:t>
            </a:r>
            <a:r>
              <a:rPr/>
              <a:t>?</a:t>
            </a:r>
          </a:p>
          <a:p>
            <a:pPr lvl="1"/>
            <a:r>
              <a:rPr/>
              <a:t>If you knew, it wouldn’t be unconscious!</a:t>
            </a:r>
          </a:p>
          <a:p>
            <a:pPr lvl="0"/>
            <a:r>
              <a:rPr/>
              <a:t>Critique of critique - mobilized in the problem of “irregular verbs”:</a:t>
            </a:r>
          </a:p>
          <a:p>
            <a:pPr lvl="1"/>
            <a:r>
              <a:rPr/>
              <a:t>“</a:t>
            </a:r>
            <a:r>
              <a:rPr b="1"/>
              <a:t>I think</a:t>
            </a:r>
            <a:r>
              <a:rPr/>
              <a:t> critically and independently”</a:t>
            </a:r>
          </a:p>
          <a:p>
            <a:pPr lvl="1"/>
            <a:r>
              <a:rPr/>
              <a:t>“</a:t>
            </a:r>
            <a:r>
              <a:rPr b="1"/>
              <a:t>You think</a:t>
            </a:r>
            <a:r>
              <a:rPr/>
              <a:t> according to the influences of your economic class and upbringing”</a:t>
            </a:r>
          </a:p>
          <a:p>
            <a:pPr lvl="1"/>
            <a:r>
              <a:rPr/>
              <a:t>“</a:t>
            </a:r>
            <a:r>
              <a:rPr b="1"/>
              <a:t>She / He / They think</a:t>
            </a:r>
            <a:r>
              <a:rPr/>
              <a:t> as unaware and naive victims of ideology”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about an academic community:</a:t>
            </a:r>
          </a:p>
          <a:p>
            <a:pPr lvl="0"/>
            <a:r>
              <a:rPr/>
              <a:t>What is its </a:t>
            </a:r>
            <a:r>
              <a:rPr b="1"/>
              <a:t>jargon</a:t>
            </a:r>
            <a:r>
              <a:rPr/>
              <a:t>? Do you want to reproduce, challenge or modify this jargon?</a:t>
            </a:r>
          </a:p>
          <a:p>
            <a:pPr lvl="1"/>
            <a:r>
              <a:rPr/>
              <a:t>“Jargon” itself can be used as a piece of dismissive or pejorative jargon. All disciplines have and need their vocabulary…</a:t>
            </a:r>
          </a:p>
          <a:p>
            <a:pPr lvl="0"/>
            <a:r>
              <a:rPr/>
              <a:t>What are its </a:t>
            </a:r>
            <a:r>
              <a:rPr b="1"/>
              <a:t>standards of evidence</a:t>
            </a:r>
            <a:r>
              <a:rPr/>
              <a:t>? What does it </a:t>
            </a:r>
            <a:r>
              <a:rPr b="1"/>
              <a:t>find persuasive</a:t>
            </a:r>
            <a:r>
              <a:rPr/>
              <a:t>? What are the </a:t>
            </a:r>
            <a:r>
              <a:rPr b="1"/>
              <a:t>key questions</a:t>
            </a:r>
            <a:r>
              <a:rPr/>
              <a:t> it is asking?</a:t>
            </a:r>
          </a:p>
          <a:p>
            <a:pPr lvl="0"/>
            <a:r>
              <a:rPr/>
              <a:t>How stringent are its expectations about </a:t>
            </a:r>
            <a:r>
              <a:rPr b="1"/>
              <a:t>method</a:t>
            </a:r>
            <a:r>
              <a:rPr/>
              <a:t>, </a:t>
            </a:r>
            <a:r>
              <a:rPr b="1"/>
              <a:t>citation</a:t>
            </a:r>
            <a:r>
              <a:rPr/>
              <a:t>, </a:t>
            </a:r>
            <a:r>
              <a:rPr b="1"/>
              <a:t>formatting</a:t>
            </a:r>
            <a:r>
              <a:rPr/>
              <a:t>?</a:t>
            </a:r>
          </a:p>
          <a:p>
            <a:pPr lvl="0"/>
            <a:r>
              <a:rPr/>
              <a:t>What are its markers of </a:t>
            </a:r>
            <a:r>
              <a:rPr b="1"/>
              <a:t>distinction</a:t>
            </a:r>
            <a:r>
              <a:rPr/>
              <a:t> and </a:t>
            </a:r>
            <a:r>
              <a:rPr b="1"/>
              <a:t>discernment</a:t>
            </a:r>
            <a:r>
              <a:rPr/>
              <a:t> – “tickets to the game”?</a:t>
            </a:r>
          </a:p>
          <a:p>
            <a:pPr lvl="0"/>
            <a:r>
              <a:rPr/>
              <a:t>Conversely: what seem to be the things </a:t>
            </a:r>
            <a:r>
              <a:rPr b="1"/>
              <a:t>not to say</a:t>
            </a:r>
            <a:r>
              <a:rPr/>
              <a:t>?</a:t>
            </a:r>
          </a:p>
        </p:txBody>
      </p:sp>
      <p:pic>
        <p:nvPicPr>
          <p:cNvPr descr="images/pasted-image-2025-11-17T14-35-30-763Z-2f11122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can you develop this tacit sense? Possibilities:</a:t>
            </a:r>
          </a:p>
          <a:p>
            <a:pPr lvl="0"/>
            <a:r>
              <a:rPr/>
              <a:t>Treat it like a research project - </a:t>
            </a:r>
            <a:r>
              <a:rPr i="1"/>
              <a:t>study academics</a:t>
            </a:r>
            <a:r>
              <a:rPr/>
              <a:t> like an community</a:t>
            </a:r>
          </a:p>
          <a:p>
            <a:pPr lvl="1"/>
            <a:r>
              <a:rPr/>
              <a:t>Read journals</a:t>
            </a:r>
          </a:p>
          <a:p>
            <a:pPr lvl="1"/>
            <a:r>
              <a:rPr/>
              <a:t>Attend conferences</a:t>
            </a:r>
          </a:p>
          <a:p>
            <a:pPr lvl="1"/>
            <a:r>
              <a:rPr/>
              <a:t>Observe faculty</a:t>
            </a:r>
          </a:p>
          <a:p>
            <a:pPr lvl="1"/>
            <a:r>
              <a:rPr/>
              <a:t>Join committees</a:t>
            </a:r>
          </a:p>
          <a:p>
            <a:pPr lvl="1"/>
            <a:r>
              <a:rPr/>
              <a:t>Read or scan ‘campus’ novels &amp; drama</a:t>
            </a:r>
          </a:p>
          <a:p>
            <a:pPr lvl="1"/>
            <a:r>
              <a:rPr/>
              <a:t>Maintain a reflective journal</a:t>
            </a:r>
          </a:p>
          <a:p>
            <a:pPr lvl="1"/>
            <a:r>
              <a:rPr/>
              <a:t>Share your own research, ask for feedback</a:t>
            </a:r>
          </a:p>
          <a:p>
            <a:pPr lvl="1"/>
            <a:r>
              <a:rPr/>
              <a:t>Ask AI to play the role of an academic in a field</a:t>
            </a:r>
          </a:p>
          <a:p>
            <a:pPr lvl="0"/>
            <a:r>
              <a:rPr/>
              <a:t>All of this can be input into a </a:t>
            </a:r>
            <a:r>
              <a:rPr i="1"/>
              <a:t>discourse analysis</a:t>
            </a:r>
            <a:r>
              <a:rPr/>
              <a:t> or </a:t>
            </a:r>
            <a:r>
              <a:rPr i="1"/>
              <a:t>thematic analysis</a:t>
            </a:r>
            <a:r>
              <a:rPr/>
              <a:t> of a field</a:t>
            </a:r>
          </a:p>
          <a:p>
            <a:pPr lvl="0"/>
            <a:r>
              <a:rPr/>
              <a:t>Is it over-thinking?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Relationship to Literature Review</a:t>
            </a:r>
          </a:p>
          <a:p>
            <a:pPr lvl="0"/>
            <a:r>
              <a:rPr/>
              <a:t>Write with your audience in mind</a:t>
            </a:r>
          </a:p>
          <a:p>
            <a:pPr lvl="0"/>
            <a:r>
              <a:rPr/>
              <a:t>But - very important! – not as though you are already “in the club”</a:t>
            </a:r>
          </a:p>
          <a:p>
            <a:pPr lvl="0"/>
            <a:r>
              <a:rPr/>
              <a:t>Take a reference to Spivak. You might know your audience is likely familiar with Spivak’s work. But of course you don’t say:</a:t>
            </a:r>
          </a:p>
          <a:p>
            <a:pPr lvl="1"/>
            <a:r>
              <a:rPr/>
              <a:t>“</a:t>
            </a:r>
            <a:r>
              <a:rPr i="1"/>
              <a:t>As we all know</a:t>
            </a:r>
            <a:r>
              <a:rPr/>
              <a:t>, Spivak argued that”</a:t>
            </a:r>
          </a:p>
          <a:p>
            <a:pPr lvl="1"/>
            <a:r>
              <a:rPr/>
              <a:t>Instead it is as though your audience forgot Spivak’s point and you gently remind them: “Spivak argued that…”</a:t>
            </a:r>
          </a:p>
          <a:p>
            <a:pPr lvl="1"/>
            <a:r>
              <a:rPr/>
              <a:t>But then you might twist this familiarity: “In the age of AI, it might seem Spivak’s arguments regarding grammatization have dated. However,…”</a:t>
            </a:r>
          </a:p>
          <a:p>
            <a:pPr lvl="0"/>
            <a:r>
              <a:rPr/>
              <a:t>So a literature review can translate your own sociological research into some careful phrasing that both </a:t>
            </a:r>
            <a:r>
              <a:rPr i="1"/>
              <a:t>reassures</a:t>
            </a:r>
            <a:r>
              <a:rPr/>
              <a:t> and </a:t>
            </a:r>
            <a:r>
              <a:rPr i="1"/>
              <a:t>surprises</a:t>
            </a:r>
            <a:r>
              <a:rPr/>
              <a:t> your community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Reflexivity and Positionality</a:t>
            </a:r>
          </a:p>
          <a:p>
            <a:pPr lvl="0"/>
            <a:r>
              <a:rPr/>
              <a:t>Most people are familiar with ideas of reflexivity and positionality</a:t>
            </a:r>
          </a:p>
          <a:p>
            <a:pPr lvl="1"/>
            <a:r>
              <a:rPr/>
              <a:t>As we have seen, can be difficult to describe in relation to our own position</a:t>
            </a:r>
          </a:p>
          <a:p>
            <a:pPr lvl="0"/>
            <a:r>
              <a:rPr/>
              <a:t>Discussed in a lot of literature and traditions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Reflexivity and Positionality: Example of Bourdieu</a:t>
            </a:r>
          </a:p>
          <a:p>
            <a:pPr lvl="0"/>
            <a:r>
              <a:rPr/>
              <a:t>What reflexive positionality is </a:t>
            </a:r>
            <a:r>
              <a:rPr b="1"/>
              <a:t>not</a:t>
            </a:r>
            <a:r>
              <a:rPr/>
              <a:t>:</a:t>
            </a:r>
          </a:p>
          <a:p>
            <a:pPr lvl="1"/>
            <a:r>
              <a:rPr/>
              <a:t>autobiography or identity (“as an Australian white male…”)</a:t>
            </a:r>
          </a:p>
          <a:p>
            <a:pPr lvl="1"/>
            <a:r>
              <a:rPr/>
              <a:t>radical self-doubt (“given my positionality, all truth claims I make are necessarily flawed…”)</a:t>
            </a:r>
          </a:p>
          <a:p>
            <a:pPr lvl="0"/>
            <a:r>
              <a:rPr/>
              <a:t>instead it aims to understand the academic self who speaks…</a:t>
            </a:r>
          </a:p>
          <a:p>
            <a:pPr lvl="1"/>
            <a:r>
              <a:rPr/>
              <a:t>part of a liberal settler/colonial academic tradition</a:t>
            </a:r>
          </a:p>
          <a:p>
            <a:pPr lvl="1"/>
            <a:r>
              <a:rPr/>
              <a:t>informed by history, syllabus, academic canons, experience of teacher influence (inner critical voice) - Bourdieusian concept of </a:t>
            </a:r>
            <a:r>
              <a:rPr i="1"/>
              <a:t>habitus</a:t>
            </a:r>
          </a:p>
          <a:p>
            <a:pPr lvl="1"/>
            <a:r>
              <a:rPr/>
              <a:t>these </a:t>
            </a:r>
            <a:r>
              <a:rPr i="1"/>
              <a:t>influence</a:t>
            </a:r>
            <a:r>
              <a:rPr/>
              <a:t> (not necessarily determine) what it is that I say, how I interpret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Reflexivity and Positionality: Example of Bourdieu</a:t>
            </a:r>
          </a:p>
          <a:p>
            <a:pPr lvl="0"/>
            <a:r>
              <a:rPr/>
              <a:t>Strangely a Bourdieusian sene of positionality is everything that is </a:t>
            </a:r>
            <a:r>
              <a:rPr b="1"/>
              <a:t>not me</a:t>
            </a:r>
            <a:r>
              <a:rPr/>
              <a:t> - but rather the structural conditions under which</a:t>
            </a:r>
          </a:p>
          <a:p>
            <a:pPr lvl="1"/>
            <a:r>
              <a:rPr/>
              <a:t>I find such-and-such to be problem (e.g. why do I perceive it to be unethical - where does my sense of ethics come from?)</a:t>
            </a:r>
          </a:p>
          <a:p>
            <a:pPr lvl="1"/>
            <a:r>
              <a:rPr/>
              <a:t>I find this or that theory appealing</a:t>
            </a:r>
          </a:p>
          <a:p>
            <a:pPr lvl="1"/>
            <a:r>
              <a:rPr/>
              <a:t>I prefer scientific / humanities writing prerrable</a:t>
            </a:r>
          </a:p>
          <a:p>
            <a:pPr lvl="0"/>
            <a:r>
              <a:rPr/>
              <a:t>For Bourdieu, reflexivity is like the holding up a mirror - but then paying attention to everything in the </a:t>
            </a:r>
            <a:r>
              <a:rPr i="1"/>
              <a:t>background of the self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Reflexivity and Positionality (2)</a:t>
            </a:r>
          </a:p>
          <a:p>
            <a:pPr lvl="0"/>
            <a:r>
              <a:rPr/>
              <a:t>Generally discussed in relation to methods and data analysis</a:t>
            </a:r>
          </a:p>
          <a:p>
            <a:pPr lvl="0"/>
            <a:r>
              <a:rPr/>
              <a:t>How does it affect the literature review? What is it that we bring to the table when we read academic writing?</a:t>
            </a:r>
          </a:p>
          <a:p>
            <a:pPr lvl="1"/>
            <a:r>
              <a:rPr/>
              <a:t>Discuss!</a:t>
            </a:r>
          </a:p>
        </p:txBody>
      </p:sp>
      <p:pic>
        <p:nvPicPr>
          <p:cNvPr descr="images/pasted-image-2025-12-01T22-49-06-943Z-ca3dc56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49300"/>
            <a:ext cx="51054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Breaking the rules: From gap to structure</a:t>
            </a:r>
          </a:p>
          <a:p>
            <a:pPr lvl="0"/>
            <a:r>
              <a:rPr/>
              <a:t>Sometimes you </a:t>
            </a:r>
            <a:r>
              <a:rPr i="1"/>
              <a:t>know</a:t>
            </a:r>
            <a:r>
              <a:rPr/>
              <a:t> what the gap is. The structure of a review feels like </a:t>
            </a:r>
            <a:r>
              <a:rPr i="1"/>
              <a:t>fraudulent</a:t>
            </a:r>
            <a:r>
              <a:rPr/>
              <a:t> - as though you are pretending to explain to the reader this and that about the literature review, only to arrive at some kind of magical </a:t>
            </a:r>
            <a:r>
              <a:rPr i="1"/>
              <a:t>gap</a:t>
            </a:r>
            <a:r>
              <a:rPr/>
              <a:t>.</a:t>
            </a:r>
          </a:p>
          <a:p>
            <a:pPr lvl="0"/>
            <a:r>
              <a:rPr/>
              <a:t>Remember Marx: order of </a:t>
            </a:r>
            <a:r>
              <a:rPr b="1"/>
              <a:t>presentation</a:t>
            </a:r>
            <a:r>
              <a:rPr/>
              <a:t> not always the order of </a:t>
            </a:r>
            <a:r>
              <a:rPr b="1"/>
              <a:t>analysis</a:t>
            </a:r>
            <a:r>
              <a:rPr/>
              <a:t> (not a statement about Marx’ politics!)</a:t>
            </a:r>
          </a:p>
          <a:p>
            <a:pPr lvl="0"/>
            <a:r>
              <a:rPr/>
              <a:t>Can we learn from this? Can we work </a:t>
            </a:r>
            <a:r>
              <a:rPr i="1"/>
              <a:t>backwards</a:t>
            </a:r>
            <a:r>
              <a:rPr/>
              <a:t>? From example, from gap to special field to general field?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Detective Novel: Start with ‘whodunnit’, work backwards</a:t>
            </a:r>
          </a:p>
          <a:p>
            <a:pPr lvl="0"/>
            <a:r>
              <a:rPr/>
              <a:t>Start with a statement of the gap (solution to the crime)</a:t>
            </a:r>
          </a:p>
          <a:p>
            <a:pPr lvl="0"/>
            <a:r>
              <a:rPr/>
              <a:t>Surround the gap with the narrative - the key actors, the setting, the clues…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Collaborating with Others (including AI) on the Literature Review</a:t>
            </a:r>
          </a:p>
          <a:p>
            <a:pPr lvl="0" indent="-342900" marL="342900">
              <a:buAutoNum type="arabicPeriod"/>
            </a:pPr>
            <a:r>
              <a:rPr/>
              <a:t>Review Week 5 - Structuring the Literature Review</a:t>
            </a:r>
          </a:p>
          <a:p>
            <a:pPr lvl="1"/>
            <a:r>
              <a:rPr/>
              <a:t>Discuss: what worked? what didn’t?</a:t>
            </a:r>
          </a:p>
          <a:p>
            <a:pPr lvl="0" indent="-342900" marL="342900">
              <a:buAutoNum type="arabicPeriod"/>
            </a:pPr>
            <a:r>
              <a:rPr/>
              <a:t>Now </a:t>
            </a:r>
            <a:r>
              <a:rPr i="1"/>
              <a:t>imagine</a:t>
            </a:r>
            <a:r>
              <a:rPr/>
              <a:t> you have discovered the gap in the literature</a:t>
            </a:r>
          </a:p>
          <a:p>
            <a:pPr lvl="1"/>
            <a:r>
              <a:rPr/>
              <a:t>Develop it as a statement, and write it down under “Week 6”</a:t>
            </a:r>
          </a:p>
          <a:p>
            <a:pPr lvl="0" indent="-342900" marL="342900">
              <a:buAutoNum type="arabicPeriod"/>
            </a:pPr>
            <a:r>
              <a:rPr/>
              <a:t>Write a </a:t>
            </a:r>
            <a:r>
              <a:rPr i="1"/>
              <a:t>non-existent summary</a:t>
            </a:r>
            <a:r>
              <a:rPr/>
              <a:t> of your literature review</a:t>
            </a:r>
          </a:p>
          <a:p>
            <a:pPr lvl="1"/>
            <a:r>
              <a:rPr/>
              <a:t>Purpose: introduce a reader to your topic</a:t>
            </a:r>
          </a:p>
          <a:p>
            <a:pPr lvl="1"/>
            <a:r>
              <a:rPr/>
              <a:t>4-5 sentences</a:t>
            </a:r>
          </a:p>
          <a:p>
            <a:pPr lvl="1"/>
            <a:r>
              <a:rPr/>
              <a:t>Use signposting / metadiscourse heavily</a:t>
            </a:r>
          </a:p>
          <a:p>
            <a:pPr lvl="1"/>
            <a:r>
              <a:rPr/>
              <a:t>If you have a preferred structure from week 5, use that</a:t>
            </a:r>
          </a:p>
          <a:p>
            <a:pPr lvl="1"/>
            <a:r>
              <a:rPr/>
              <a:t>Sample: “In this review, I start by discussing A… I then examine research on B… I further consider C… Finally I show how none of A, B or C address the issue of D.”</a:t>
            </a:r>
          </a:p>
          <a:p>
            <a:pPr lvl="0" indent="-342900" marL="342900">
              <a:buAutoNum type="arabicPeriod"/>
            </a:pPr>
            <a:r>
              <a:rPr/>
              <a:t>Review each other’s statement of a gap</a:t>
            </a:r>
          </a:p>
          <a:p>
            <a:pPr lvl="1"/>
            <a:r>
              <a:rPr/>
              <a:t>Write a single sentence about each other person’s summary. Assess what you found (a) clear (or unclear); and (b) whether - just from the summary – you thought the claim about the gap could be </a:t>
            </a:r>
            <a:r>
              <a:rPr i="1"/>
              <a:t>persuasive</a:t>
            </a:r>
          </a:p>
          <a:p>
            <a:pPr lvl="1"/>
            <a:r>
              <a:rPr/>
              <a:t>Take notes on your own tab of what others say</a:t>
            </a:r>
          </a:p>
          <a:p>
            <a:pPr lvl="0" indent="-342900" marL="342900">
              <a:buAutoNum type="arabicPeriod"/>
            </a:pPr>
            <a:r>
              <a:rPr/>
              <a:t>Then ask an AI of your choice to review your summary paragraph on the same criteria: clarity, likelihood of a gap</a:t>
            </a:r>
          </a:p>
          <a:p>
            <a:pPr lvl="0" indent="-342900" marL="342900">
              <a:buAutoNum type="arabicPeriod"/>
            </a:pPr>
            <a:r>
              <a:rPr/>
              <a:t>Finally refine the summary paragraph yourself and add </a:t>
            </a:r>
            <a:r>
              <a:rPr i="1"/>
              <a:t>that</a:t>
            </a:r>
            <a:r>
              <a:rPr/>
              <a:t> to week 6.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Homework: AI in Scholarship</a:t>
            </a:r>
          </a:p>
          <a:p>
            <a:pPr lvl="0"/>
            <a:r>
              <a:rPr/>
              <a:t>What do you say?</a:t>
            </a:r>
          </a:p>
          <a:p>
            <a:pPr lvl="0"/>
            <a:r>
              <a:rPr/>
              <a:t>Let’s take the group exercise, and write one or two sentences about how you thought AI contributed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2025-12-10T11:14:21Z</dcterms:created>
  <dcterms:modified xsi:type="dcterms:W3CDTF">2025-12-10T11:14:21Z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