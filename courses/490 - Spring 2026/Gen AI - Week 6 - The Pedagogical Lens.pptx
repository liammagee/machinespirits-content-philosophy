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313" r:id="rId2"/>
    <p:sldId id="256" r:id="rId3"/>
    <p:sldId id="257" r:id="rId4"/>
    <p:sldId id="309" r:id="rId5"/>
    <p:sldId id="288" r:id="rId6"/>
    <p:sldId id="287" r:id="rId7"/>
    <p:sldId id="258" r:id="rId8"/>
    <p:sldId id="307" r:id="rId9"/>
    <p:sldId id="289" r:id="rId10"/>
    <p:sldId id="298" r:id="rId11"/>
    <p:sldId id="259" r:id="rId12"/>
    <p:sldId id="302" r:id="rId13"/>
    <p:sldId id="303" r:id="rId14"/>
    <p:sldId id="304" r:id="rId15"/>
    <p:sldId id="305" r:id="rId16"/>
    <p:sldId id="306" r:id="rId17"/>
    <p:sldId id="308" r:id="rId18"/>
  </p:sldIdLst>
  <p:sldSz cx="9144000" cy="5143500" type="screen16x9"/>
  <p:notesSz cx="6858000" cy="9144000"/>
  <p:embeddedFontLst>
    <p:embeddedFont>
      <p:font typeface="DM Sans" pitchFamily="2" charset="77"/>
      <p:regular r:id="rId20"/>
      <p:bold r:id="rId21"/>
      <p:italic r:id="rId22"/>
      <p:boldItalic r:id="rId23"/>
    </p:embeddedFont>
    <p:embeddedFont>
      <p:font typeface="DM Serif Display" pitchFamily="2" charset="0"/>
      <p:regular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32" d="100"/>
          <a:sy n="132" d="100"/>
        </p:scale>
        <p:origin x="176" y="624"/>
      </p:cViewPr>
      <p:guideLst>
        <p:guide orient="horz" pos="15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slide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slide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BF2B116-055E-72F2-C946-F9C7A4D21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slide_1:notes">
            <a:extLst>
              <a:ext uri="{FF2B5EF4-FFF2-40B4-BE49-F238E27FC236}">
                <a16:creationId xmlns:a16="http://schemas.microsoft.com/office/drawing/2014/main" id="{8EB75DBD-5DFC-64C4-9956-308C28735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slide_1:notes">
            <a:extLst>
              <a:ext uri="{FF2B5EF4-FFF2-40B4-BE49-F238E27FC236}">
                <a16:creationId xmlns:a16="http://schemas.microsoft.com/office/drawing/2014/main" id="{1AE8E79C-C048-8A1C-8ACA-AE10834EF6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71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slide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slide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slide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slide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slide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slide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>
          <a:extLst>
            <a:ext uri="{FF2B5EF4-FFF2-40B4-BE49-F238E27FC236}">
              <a16:creationId xmlns:a16="http://schemas.microsoft.com/office/drawing/2014/main" id="{4905CE0A-53F9-9737-F2BF-EC67A6AEA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slide_2:notes">
            <a:extLst>
              <a:ext uri="{FF2B5EF4-FFF2-40B4-BE49-F238E27FC236}">
                <a16:creationId xmlns:a16="http://schemas.microsoft.com/office/drawing/2014/main" id="{0A750ECE-3FD5-6A70-9111-2F1548984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slide_2:notes">
            <a:extLst>
              <a:ext uri="{FF2B5EF4-FFF2-40B4-BE49-F238E27FC236}">
                <a16:creationId xmlns:a16="http://schemas.microsoft.com/office/drawing/2014/main" id="{6447F715-48CF-9AA2-2E25-31AF3FB114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7375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slide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slide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D642141E-CFF9-205B-06D5-E6A4C7EB7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slide_31:notes">
            <a:extLst>
              <a:ext uri="{FF2B5EF4-FFF2-40B4-BE49-F238E27FC236}">
                <a16:creationId xmlns:a16="http://schemas.microsoft.com/office/drawing/2014/main" id="{D94E5F0F-15E8-F775-A531-285D7CB40F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slide_31:notes">
            <a:extLst>
              <a:ext uri="{FF2B5EF4-FFF2-40B4-BE49-F238E27FC236}">
                <a16:creationId xmlns:a16="http://schemas.microsoft.com/office/drawing/2014/main" id="{F7265FA1-86EE-1B63-5651-897DDCFC67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01571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64c5b3b0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64c5b3b0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5E1AF0CF-0B48-0A63-1242-7F3E1B756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slide_32:notes">
            <a:extLst>
              <a:ext uri="{FF2B5EF4-FFF2-40B4-BE49-F238E27FC236}">
                <a16:creationId xmlns:a16="http://schemas.microsoft.com/office/drawing/2014/main" id="{DFE5CFE9-5D2F-4621-6897-AE7BD6F374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slide_32:notes">
            <a:extLst>
              <a:ext uri="{FF2B5EF4-FFF2-40B4-BE49-F238E27FC236}">
                <a16:creationId xmlns:a16="http://schemas.microsoft.com/office/drawing/2014/main" id="{28FDA15C-16F6-77CC-CE55-DFC14532B1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9550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E985F7CF-244E-DDAE-E349-D021D036A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slide_31:notes">
            <a:extLst>
              <a:ext uri="{FF2B5EF4-FFF2-40B4-BE49-F238E27FC236}">
                <a16:creationId xmlns:a16="http://schemas.microsoft.com/office/drawing/2014/main" id="{25EAA2D5-CE13-0DCF-C07D-968C335885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slide_31:notes">
            <a:extLst>
              <a:ext uri="{FF2B5EF4-FFF2-40B4-BE49-F238E27FC236}">
                <a16:creationId xmlns:a16="http://schemas.microsoft.com/office/drawing/2014/main" id="{2E5C7730-2134-D1D9-CBAD-6CCE85F35D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6011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DEA61B1B-1E22-3B33-E09A-3D40FE159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slide_31:notes">
            <a:extLst>
              <a:ext uri="{FF2B5EF4-FFF2-40B4-BE49-F238E27FC236}">
                <a16:creationId xmlns:a16="http://schemas.microsoft.com/office/drawing/2014/main" id="{2469F16D-994F-8F9E-9579-8B9D9D49B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slide_31:notes">
            <a:extLst>
              <a:ext uri="{FF2B5EF4-FFF2-40B4-BE49-F238E27FC236}">
                <a16:creationId xmlns:a16="http://schemas.microsoft.com/office/drawing/2014/main" id="{91854779-3536-CAE0-D7CE-04BFF279C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32774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E0E93B30-419F-801A-98D8-32E3D9067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slide_31:notes">
            <a:extLst>
              <a:ext uri="{FF2B5EF4-FFF2-40B4-BE49-F238E27FC236}">
                <a16:creationId xmlns:a16="http://schemas.microsoft.com/office/drawing/2014/main" id="{B3C3C735-6672-01F2-7372-9631B1F5C6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slide_31:notes">
            <a:extLst>
              <a:ext uri="{FF2B5EF4-FFF2-40B4-BE49-F238E27FC236}">
                <a16:creationId xmlns:a16="http://schemas.microsoft.com/office/drawing/2014/main" id="{A7B9BC73-5AA0-BCBF-0902-011F64444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20054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>
          <a:extLst>
            <a:ext uri="{FF2B5EF4-FFF2-40B4-BE49-F238E27FC236}">
              <a16:creationId xmlns:a16="http://schemas.microsoft.com/office/drawing/2014/main" id="{77D06D6C-835E-21CD-F993-11748565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slide_31:notes">
            <a:extLst>
              <a:ext uri="{FF2B5EF4-FFF2-40B4-BE49-F238E27FC236}">
                <a16:creationId xmlns:a16="http://schemas.microsoft.com/office/drawing/2014/main" id="{6E0ECA94-3A41-7798-92E1-1289A2D72D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slide_31:notes">
            <a:extLst>
              <a:ext uri="{FF2B5EF4-FFF2-40B4-BE49-F238E27FC236}">
                <a16:creationId xmlns:a16="http://schemas.microsoft.com/office/drawing/2014/main" id="{C3CBF0F1-8354-6CEE-600C-60DB19A650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4630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01C0F46F-671C-BFB5-A36D-0E18F96E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slide_32:notes">
            <a:extLst>
              <a:ext uri="{FF2B5EF4-FFF2-40B4-BE49-F238E27FC236}">
                <a16:creationId xmlns:a16="http://schemas.microsoft.com/office/drawing/2014/main" id="{893FB292-C98D-8810-CE83-8518DFF6F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slide_32:notes">
            <a:extLst>
              <a:ext uri="{FF2B5EF4-FFF2-40B4-BE49-F238E27FC236}">
                <a16:creationId xmlns:a16="http://schemas.microsoft.com/office/drawing/2014/main" id="{F4F8902B-3378-8917-6482-3B61613AD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3411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00131857.2022.2033213" TargetMode="External"/><Relationship Id="rId7" Type="http://schemas.openxmlformats.org/officeDocument/2006/relationships/hyperlink" Target="https://www.media.mit.edu/publications/your-brain-on-chatgp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tandfonline.com/doi/full/10.1080/03004279.2024.2332469" TargetMode="External"/><Relationship Id="rId5" Type="http://schemas.openxmlformats.org/officeDocument/2006/relationships/hyperlink" Target="https://arxiv.org/abs/2401.08659" TargetMode="External"/><Relationship Id="rId4" Type="http://schemas.openxmlformats.org/officeDocument/2006/relationships/hyperlink" Target="https://mitsloan.mit.edu/ideas-made-to-matter/what-2-mit-experts-are-thinking-about-ai-and-wor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ndfonline.com/doi/full/10.1080/00131857.2022.203321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gscholar.com/posts/1208?communityId=14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spirits.org/games/warpstrike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C5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BDA820-08A2-4545-B85A-2FAB2B5D817E}"/>
              </a:ext>
            </a:extLst>
          </p:cNvPr>
          <p:cNvSpPr/>
          <p:nvPr/>
        </p:nvSpPr>
        <p:spPr>
          <a:xfrm>
            <a:off x="5588000" y="749300"/>
            <a:ext cx="2184400" cy="12700"/>
          </a:xfrm>
          <a:prstGeom prst="rect">
            <a:avLst/>
          </a:prstGeom>
          <a:solidFill>
            <a:srgbClr val="1A1A2E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BE9974-454A-814F-901F-E5AA7AA60086}"/>
              </a:ext>
            </a:extLst>
          </p:cNvPr>
          <p:cNvSpPr txBox="1"/>
          <p:nvPr/>
        </p:nvSpPr>
        <p:spPr>
          <a:xfrm>
            <a:off x="4000500" y="0"/>
            <a:ext cx="51435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… and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32D03-06AE-B443-99A0-DAEC37BDDFFA}"/>
              </a:ext>
            </a:extLst>
          </p:cNvPr>
          <p:cNvSpPr txBox="1"/>
          <p:nvPr/>
        </p:nvSpPr>
        <p:spPr>
          <a:xfrm>
            <a:off x="292100" y="914400"/>
            <a:ext cx="83947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Q1. </a:t>
            </a:r>
            <a:r>
              <a:rPr lang="en-GB" sz="11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Cope, B., &amp; Kalantzis, M. : “‘</a:t>
            </a:r>
            <a:r>
              <a:rPr lang="en-GB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Fuck the System</a:t>
            </a:r>
            <a:r>
              <a:rPr lang="en-GB" sz="11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’ (‘the University of Illinois is a dehumanizing, anti-intellectual knowledge factory, a nursery for the infant adults of this great society’) (von Foerster 1969)”. </a:t>
            </a:r>
            <a:r>
              <a:rPr lang="en-GB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In 2026 and beyond, will AI humanize – or instead worsen – the factory-like state of education?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Q2. </a:t>
            </a:r>
            <a:r>
              <a:rPr lang="en-GB" sz="11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Eastwood, B. (2026). “is this technology going to automate your kind of supporting tasks, </a:t>
            </a:r>
            <a:r>
              <a:rPr lang="en-GB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(A) allow you to work more efficiently on things that you’re really good at</a:t>
            </a:r>
            <a:r>
              <a:rPr lang="en-GB" sz="11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or is it going to </a:t>
            </a:r>
            <a:r>
              <a:rPr lang="en-GB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(B) take your expert tasks and commoditize them so anyone can do them without you?</a:t>
            </a:r>
            <a:r>
              <a:rPr lang="en-GB" sz="11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”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Q3. </a:t>
            </a:r>
            <a:r>
              <a:rPr lang="en-GB" sz="11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Łodzikowski, K., Foltz, P. W., &amp; Behrens, J. T. (2024). Personalized interaction and assessment – vs the “collaboration boundary”. </a:t>
            </a:r>
            <a:r>
              <a:rPr lang="en-GB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How can we distinguish “‘what I have done’ and ‘what the computer has done’”, as both instruction and assessment become hyper-personalized?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Q4. </a:t>
            </a:r>
            <a:r>
              <a:rPr lang="en-GB" sz="11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Elim, E. H. S. Y. (2026). </a:t>
            </a:r>
            <a:r>
              <a:rPr lang="en-US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Where exactly do we want to add AI to education? </a:t>
            </a:r>
            <a:r>
              <a:rPr lang="en-US" sz="11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At which phase(s)? At what levels of Bloom’s / Pappas’ taxonomies? Many want AI focused on lower-order tasks (applying, understanding, and remembering) but paradoxically it excels at higher-order tasks (creating, evaluating, and analyzing). </a:t>
            </a:r>
            <a:r>
              <a:rPr lang="en-US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But are we ready to offload these tasks?</a:t>
            </a: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Q5. </a:t>
            </a:r>
            <a:r>
              <a:rPr lang="en-GB" sz="11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Kosmyna, N., Hauptmann, E., Yuan, Y. T., Situ, J., Liao, X. H., Beresnitzky, A. V., Braunstein, I., &amp; Maes, P. (2025). “Over four months, LLM users consistently underperformed at neural, linguistic, and behavioral levels.” </a:t>
            </a:r>
            <a:r>
              <a:rPr lang="en-US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How do we respond to this – do we need to place stronger guardrails on LLM use?</a:t>
            </a:r>
            <a:r>
              <a:rPr lang="en-US" sz="11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However this study has had its critics. </a:t>
            </a:r>
            <a:r>
              <a:rPr lang="en-US" sz="11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So also: how should we respond to studies of AI in classrooms?</a:t>
            </a:r>
          </a:p>
        </p:txBody>
      </p:sp>
    </p:spTree>
    <p:extLst>
      <p:ext uri="{BB962C8B-B14F-4D97-AF65-F5344CB8AC3E}">
        <p14:creationId xmlns:p14="http://schemas.microsoft.com/office/powerpoint/2010/main" val="3079819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505651" y="3218002"/>
            <a:ext cx="1906200" cy="146820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007059" y="1943786"/>
            <a:ext cx="21810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007059" y="775754"/>
            <a:ext cx="27309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C4553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Gen AI - Week 6</a:t>
            </a:r>
            <a:endParaRPr sz="1200" b="1">
              <a:solidFill>
                <a:srgbClr val="C4553A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007059" y="2156155"/>
            <a:ext cx="6030300" cy="10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0EBE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Applying a Pedagogical Lens</a:t>
            </a:r>
            <a:endParaRPr sz="3600">
              <a:solidFill>
                <a:srgbClr val="F0EBE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0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1007050" y="1943775"/>
            <a:ext cx="7676700" cy="23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Week 1: Introduction</a:t>
            </a:r>
            <a:endParaRPr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Week 2: Historical Lens</a:t>
            </a:r>
            <a:endParaRPr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Week 3: Technical Lens</a:t>
            </a:r>
            <a:endParaRPr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Week 4: Practical Lens</a:t>
            </a:r>
            <a:endParaRPr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Week 5: Critical Lens</a:t>
            </a:r>
            <a:endParaRPr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Week 6 / </a:t>
            </a:r>
            <a:r>
              <a:rPr lang="en-GB" sz="15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Today</a:t>
            </a:r>
            <a:r>
              <a:rPr lang="en-GB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GB" sz="15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Pedagogical</a:t>
            </a:r>
            <a:r>
              <a:rPr lang="en-GB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Lens</a:t>
            </a:r>
            <a:endParaRPr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Week 7: Futurological Lens</a:t>
            </a:r>
            <a:endParaRPr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1007059" y="1731416"/>
            <a:ext cx="27309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1007059" y="775754"/>
            <a:ext cx="27309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C4553A"/>
                </a:solidFill>
                <a:latin typeface="DM Sans"/>
                <a:ea typeface="DM Sans"/>
                <a:cs typeface="DM Sans"/>
                <a:sym typeface="DM Sans"/>
              </a:rPr>
              <a:t>SECTION 01 / FRAMING</a:t>
            </a:r>
            <a:endParaRPr sz="1200" b="1">
              <a:solidFill>
                <a:srgbClr val="C4553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007045" y="988125"/>
            <a:ext cx="68154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The Course So Far…</a:t>
            </a:r>
            <a:endParaRPr sz="3600" b="1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0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61B7B219-65FB-AFDD-7749-A395BCA1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B16849AB-5852-FA9F-6085-5815CFB1FB29}"/>
              </a:ext>
            </a:extLst>
          </p:cNvPr>
          <p:cNvSpPr txBox="1"/>
          <p:nvPr/>
        </p:nvSpPr>
        <p:spPr>
          <a:xfrm>
            <a:off x="1007050" y="1943775"/>
            <a:ext cx="7676700" cy="23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Discussion on </a:t>
            </a:r>
            <a:r>
              <a:rPr lang="en-US" sz="15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Key Questions facing Education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Breakout rooms / Vibe Slide -&gt; Moving towards Final Project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Interlude: Cong Wang on Charismatic AI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Break?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Breakout rooms: workshopping Final Project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Final (and Optional) Session: Liam (&amp; Others) on the “Hidden Side” of AI deployment – tips &amp; tricks from the field…</a:t>
            </a:r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BE0F3CF2-1901-6E3A-7007-75CA460B159C}"/>
              </a:ext>
            </a:extLst>
          </p:cNvPr>
          <p:cNvSpPr/>
          <p:nvPr/>
        </p:nvSpPr>
        <p:spPr>
          <a:xfrm>
            <a:off x="1007059" y="1731416"/>
            <a:ext cx="27309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9CCEEF1B-B552-2A1F-ECC9-D13FFD52C3F5}"/>
              </a:ext>
            </a:extLst>
          </p:cNvPr>
          <p:cNvSpPr txBox="1"/>
          <p:nvPr/>
        </p:nvSpPr>
        <p:spPr>
          <a:xfrm>
            <a:off x="1007059" y="775754"/>
            <a:ext cx="27309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C4553A"/>
                </a:solidFill>
                <a:latin typeface="DM Sans"/>
                <a:ea typeface="DM Sans"/>
                <a:cs typeface="DM Sans"/>
                <a:sym typeface="DM Sans"/>
              </a:rPr>
              <a:t>SECTION 01 / FRAMING</a:t>
            </a:r>
            <a:endParaRPr sz="1200" b="1">
              <a:solidFill>
                <a:srgbClr val="C4553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C6673301-5746-90BB-AB13-25F14E396DC2}"/>
              </a:ext>
            </a:extLst>
          </p:cNvPr>
          <p:cNvSpPr txBox="1"/>
          <p:nvPr/>
        </p:nvSpPr>
        <p:spPr>
          <a:xfrm>
            <a:off x="1007045" y="988125"/>
            <a:ext cx="68154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Today</a:t>
            </a:r>
            <a:endParaRPr sz="3600" b="1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928734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0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/>
          <p:nvPr/>
        </p:nvSpPr>
        <p:spPr>
          <a:xfrm>
            <a:off x="6317285" y="607124"/>
            <a:ext cx="119100" cy="33795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45"/>
          <p:cNvSpPr/>
          <p:nvPr/>
        </p:nvSpPr>
        <p:spPr>
          <a:xfrm>
            <a:off x="6592214" y="1456601"/>
            <a:ext cx="21810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5"/>
          <p:cNvSpPr txBox="1"/>
          <p:nvPr/>
        </p:nvSpPr>
        <p:spPr>
          <a:xfrm>
            <a:off x="6592214" y="394754"/>
            <a:ext cx="383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C4553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RECAP / WEEK 5</a:t>
            </a:r>
            <a:endParaRPr sz="1200" b="1" dirty="0">
              <a:solidFill>
                <a:srgbClr val="C4553A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36" name="Google Shape;336;p45"/>
          <p:cNvSpPr txBox="1"/>
          <p:nvPr/>
        </p:nvSpPr>
        <p:spPr>
          <a:xfrm>
            <a:off x="6592214" y="607124"/>
            <a:ext cx="3830700" cy="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1A1A2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Recap…</a:t>
            </a:r>
            <a:endParaRPr sz="3600">
              <a:solidFill>
                <a:srgbClr val="1A1A2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37" name="Google Shape;337;p45"/>
          <p:cNvSpPr txBox="1"/>
          <p:nvPr/>
        </p:nvSpPr>
        <p:spPr>
          <a:xfrm>
            <a:off x="429000" y="695050"/>
            <a:ext cx="5340900" cy="3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Bias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Hallucination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Homogenization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of knowledge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Environmental effects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local &amp; global: energy, water, real estate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Alignment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and its Discontents 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Data </a:t>
            </a:r>
            <a:r>
              <a:rPr lang="en-GB" sz="1300" b="1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extractivism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digital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neocolonialism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surveillance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capitalism</a:t>
            </a:r>
            <a:endParaRPr sz="1300" b="1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Geopolitical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contestation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Cult-like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nature of AI visionaries, ideologies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Concentration of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wealth, power, control, culture</a:t>
            </a:r>
            <a:endParaRPr sz="1300" b="1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Automation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of </a:t>
            </a:r>
            <a:r>
              <a:rPr lang="en-GB" sz="13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labor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the economy, thinking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“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Greenwashing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” AI ethics -&gt; From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Criticism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to </a:t>
            </a:r>
            <a:r>
              <a:rPr lang="en-GB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Critique</a:t>
            </a:r>
            <a:endParaRPr sz="1300" b="1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C5A9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/>
          <p:nvPr/>
        </p:nvSpPr>
        <p:spPr>
          <a:xfrm>
            <a:off x="397459" y="1121816"/>
            <a:ext cx="24561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44"/>
          <p:cNvSpPr/>
          <p:nvPr/>
        </p:nvSpPr>
        <p:spPr>
          <a:xfrm>
            <a:off x="6720840" y="378524"/>
            <a:ext cx="806400" cy="512700"/>
          </a:xfrm>
          <a:prstGeom prst="ellipse">
            <a:avLst/>
          </a:prstGeom>
          <a:solidFill>
            <a:srgbClr val="E8B9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44"/>
          <p:cNvSpPr txBox="1"/>
          <p:nvPr/>
        </p:nvSpPr>
        <p:spPr>
          <a:xfrm>
            <a:off x="397459" y="166154"/>
            <a:ext cx="41058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C4553A"/>
                </a:solidFill>
                <a:latin typeface="DM Sans"/>
                <a:ea typeface="DM Sans"/>
                <a:cs typeface="DM Sans"/>
                <a:sym typeface="DM Sans"/>
              </a:rPr>
              <a:t>CODA / PEDAGOGY</a:t>
            </a:r>
            <a:endParaRPr sz="1200" b="1">
              <a:solidFill>
                <a:srgbClr val="C4553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7" name="Google Shape;327;p44"/>
          <p:cNvSpPr txBox="1"/>
          <p:nvPr/>
        </p:nvSpPr>
        <p:spPr>
          <a:xfrm>
            <a:off x="397459" y="378524"/>
            <a:ext cx="4930500" cy="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AI for Education</a:t>
            </a:r>
            <a:endParaRPr sz="3600" b="1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8" name="Google Shape;328;p44"/>
          <p:cNvSpPr txBox="1"/>
          <p:nvPr/>
        </p:nvSpPr>
        <p:spPr>
          <a:xfrm>
            <a:off x="397450" y="1334175"/>
            <a:ext cx="8663700" cy="3606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Plagiarism; Cognitive offloading; “thin” or ephemeral learning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Biased; No or insufficient safeguards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Automated loops: students auto-write essays, teachers auto-grade them…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Robot tutors, taking over teacher’s role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Too much personalization, fragmentation of knowledge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Education for what? Threats to future of work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Futility of AI “work” – acceptance clicking, editing over writing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School administration / management: assume AI leads to greater productivity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• Student apathy – why study hard? What’s the point of joining a rat race that has just a few real winners? (wider problem of declining middle class – Eubanks, </a:t>
            </a:r>
            <a:r>
              <a:rPr lang="en-GB" sz="1300" i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Programmed Inequality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(2019))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C5A9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5588105" y="743291"/>
            <a:ext cx="21810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5588105" y="-1"/>
            <a:ext cx="35559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Readings</a:t>
            </a:r>
            <a:endParaRPr sz="3600" b="1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36884" y="916000"/>
            <a:ext cx="8360391" cy="405780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Cope, B., &amp; Kalantzis, M. (2022). The Cybernetics of Learning. </a:t>
            </a:r>
            <a:r>
              <a:rPr lang="en-GB" sz="1300" i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Educational Philosophy and Theory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54(14), 2352-2388. </a:t>
            </a:r>
            <a:r>
              <a:rPr lang="en-GB" sz="1300" u="sng" dirty="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https://doi.org/10.1080/00131857.2022.2033213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Eastwood, B. (2026). "What 2 MIT experts are thinking about AI and work". MIT Management. </a:t>
            </a:r>
            <a:r>
              <a:rPr lang="en-GB" sz="1300" u="sng" dirty="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https://mitsloan.mit.edu/ideas-made-to-matter/what-2-mit-experts-are-thinking-about-ai-and-work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? 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Łodzikowski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K., Foltz, P. W., &amp; Behrens, J. T. (2024). Generative AI and Its Educational Implications. In T. </a:t>
            </a:r>
            <a:r>
              <a:rPr lang="en-GB" sz="13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Kourkoulou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A. O. </a:t>
            </a:r>
            <a:r>
              <a:rPr lang="en-GB" sz="13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Tzirides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B. Cope, &amp; M. Kalantzis (Eds.), Trust and Inclusion in AI-Mediated Education: Where Human Learning Meets Learning Machines. Springer. </a:t>
            </a:r>
            <a:r>
              <a:rPr lang="en-GB" sz="1300" u="sng" dirty="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https://arxiv.org/abs/2401.08659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Elim, E. H. S. Y. (2026). Promoting Cognitive Skills in AI-supported Learning Environments: The Integration of Bloom’s Taxonomy. Education 3-13, 54(3), 612-622. </a:t>
            </a:r>
            <a:r>
              <a:rPr lang="en-GB" sz="1300" u="sng" dirty="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6"/>
              </a:rPr>
              <a:t>https://www.tandfonline.com/doi/full/10.1080/03004279.2024.2332469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Kosmyna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N., Hauptmann, E., Yuan, Y. T., Situ, J., Liao, X. H., </a:t>
            </a:r>
            <a:r>
              <a:rPr lang="en-GB" sz="13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Beresnitzky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A. V., Braunstein, I., &amp; Maes, P. (2025). Your brain on ChatGPT: Accumulation of cognitive debt when using an AI assistant for essay writing task. </a:t>
            </a:r>
            <a:r>
              <a:rPr lang="en-GB" sz="13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arXiv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preprint arXiv:2506.08872, 4. </a:t>
            </a:r>
            <a:r>
              <a:rPr lang="en-GB" sz="1300" u="sng" dirty="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7"/>
              </a:rPr>
              <a:t>https://www.media.mit.edu/publications/your-brain-on-chatgpt/</a:t>
            </a:r>
            <a:r>
              <a:rPr lang="en-GB" sz="13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C5A9"/>
        </a:solidFill>
        <a:effectLst/>
      </p:bgPr>
    </p:bg>
    <p:spTree>
      <p:nvGrpSpPr>
        <p:cNvPr id="1" name="Shape 69">
          <a:extLst>
            <a:ext uri="{FF2B5EF4-FFF2-40B4-BE49-F238E27FC236}">
              <a16:creationId xmlns:a16="http://schemas.microsoft.com/office/drawing/2014/main" id="{B0D8AE75-6AE2-F998-6E6F-59B7F9CB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39577715-D851-B087-DD3C-97CD4FEA69FC}"/>
              </a:ext>
            </a:extLst>
          </p:cNvPr>
          <p:cNvSpPr/>
          <p:nvPr/>
        </p:nvSpPr>
        <p:spPr>
          <a:xfrm>
            <a:off x="5588105" y="743291"/>
            <a:ext cx="21810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E77730FE-C5E3-27F1-924C-442FC2327A77}"/>
              </a:ext>
            </a:extLst>
          </p:cNvPr>
          <p:cNvSpPr txBox="1"/>
          <p:nvPr/>
        </p:nvSpPr>
        <p:spPr>
          <a:xfrm>
            <a:off x="5588105" y="-1"/>
            <a:ext cx="3555900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Readings</a:t>
            </a:r>
            <a:endParaRPr sz="3600" b="1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C88D8253-8CB3-09AA-74B7-D95DB5632D4A}"/>
              </a:ext>
            </a:extLst>
          </p:cNvPr>
          <p:cNvSpPr txBox="1"/>
          <p:nvPr/>
        </p:nvSpPr>
        <p:spPr>
          <a:xfrm>
            <a:off x="336884" y="916000"/>
            <a:ext cx="8360391" cy="405780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Cope, B., &amp; Kalantzis, M. (2022). The Cybernetics of Learning. </a:t>
            </a:r>
            <a:r>
              <a:rPr lang="en-US" sz="1200" dirty="0"/>
              <a:t>(‘the University of Illinois is a dehumanizing, anti-intellectual knowledge factory, a nursery for the infant adults of this great society’) (von Foerster, </a:t>
            </a:r>
            <a:r>
              <a:rPr lang="en-US" sz="1200" u="sng" dirty="0">
                <a:hlinkClick r:id="rId3"/>
              </a:rPr>
              <a:t>Citation1969</a:t>
            </a:r>
            <a:r>
              <a:rPr lang="en-US" sz="1200" dirty="0"/>
              <a:t>). I</a:t>
            </a:r>
            <a:endParaRPr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Eastwood, B. (2026). "What 2 MIT experts are thinking about AI and work". AI focussed on more repetitive tasks = higher wages. AI focussed on more analytical tasks: lower wages. “is this technology going to automate your kind of supporting tasks, </a:t>
            </a:r>
            <a:r>
              <a:rPr lang="en-GB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allow you to work more efficiently on things that you’re really good at</a:t>
            </a:r>
            <a:r>
              <a:rPr lang="en-GB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or is it going to </a:t>
            </a:r>
            <a:r>
              <a:rPr lang="en-GB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take your expert tasks and commoditize them so anyone can do them without you</a:t>
            </a:r>
            <a:r>
              <a:rPr lang="en-GB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?”</a:t>
            </a:r>
            <a:endParaRPr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Łodzikowski</a:t>
            </a:r>
            <a:r>
              <a:rPr lang="en-GB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K., Foltz, P. W., &amp; Behrens, J. T. (2024). Generative AI and Its Educational Implications. </a:t>
            </a:r>
            <a:endParaRPr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Elim, E. H. S. Y. (2026). Promoting Cognitive Skills in AI-supported Learning Environments: The Integration of Bloom’s Taxonomy. Do we see AI taking up the higher order (creative) skills? Or the lower order (remembering) skills? How do we encourage one over the other?</a:t>
            </a:r>
            <a:endParaRPr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Kosmyna</a:t>
            </a:r>
            <a:r>
              <a:rPr lang="en-GB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N., Hauptmann, E., Yuan, Y. T., Situ, J., Liao, X. H., </a:t>
            </a:r>
            <a:r>
              <a:rPr lang="en-GB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Beresnitzky</a:t>
            </a:r>
            <a:r>
              <a:rPr lang="en-GB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A. V., Braunstein, I., &amp; Maes, P. (2025). </a:t>
            </a:r>
            <a:r>
              <a:rPr lang="en-GB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Your brain on ChatGPT</a:t>
            </a:r>
            <a:r>
              <a:rPr lang="en-GB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: Should we be using AI in the classroom? But also: How should we be reading studies of AI on education?</a:t>
            </a:r>
            <a:endParaRPr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331909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/>
          <p:nvPr/>
        </p:nvSpPr>
        <p:spPr>
          <a:xfrm>
            <a:off x="457200" y="457200"/>
            <a:ext cx="119100" cy="42291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6"/>
          <p:cNvSpPr/>
          <p:nvPr/>
        </p:nvSpPr>
        <p:spPr>
          <a:xfrm>
            <a:off x="1007059" y="1715186"/>
            <a:ext cx="27309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46"/>
          <p:cNvSpPr/>
          <p:nvPr/>
        </p:nvSpPr>
        <p:spPr>
          <a:xfrm>
            <a:off x="7460215" y="244741"/>
            <a:ext cx="1081500" cy="83130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6"/>
          <p:cNvSpPr txBox="1"/>
          <p:nvPr/>
        </p:nvSpPr>
        <p:spPr>
          <a:xfrm>
            <a:off x="1007059" y="547154"/>
            <a:ext cx="41058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C4553A"/>
                </a:solidFill>
                <a:latin typeface="DM Sans"/>
                <a:ea typeface="DM Sans"/>
                <a:cs typeface="DM Sans"/>
                <a:sym typeface="DM Sans"/>
              </a:rPr>
              <a:t>CLOSE</a:t>
            </a:r>
            <a:endParaRPr sz="1200" b="1" dirty="0">
              <a:solidFill>
                <a:srgbClr val="C4553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46"/>
          <p:cNvSpPr txBox="1"/>
          <p:nvPr/>
        </p:nvSpPr>
        <p:spPr>
          <a:xfrm>
            <a:off x="1007059" y="865708"/>
            <a:ext cx="60303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Vibe Sliding…</a:t>
            </a:r>
            <a:endParaRPr sz="3600" b="1" dirty="0">
              <a:solidFill>
                <a:srgbClr val="F0EBE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46"/>
          <p:cNvSpPr txBox="1"/>
          <p:nvPr/>
        </p:nvSpPr>
        <p:spPr>
          <a:xfrm>
            <a:off x="1007050" y="1927550"/>
            <a:ext cx="8018700" cy="23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• </a:t>
            </a:r>
            <a:r>
              <a:rPr lang="en-US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Give me your notes, we’ll try to have Claude “vibe slide”…</a:t>
            </a:r>
            <a:endParaRPr sz="1300" dirty="0">
              <a:solidFill>
                <a:srgbClr val="F0EBE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0"/>
        </a:solidFill>
        <a:effectLst/>
      </p:bgPr>
    </p:bg>
    <p:spTree>
      <p:nvGrpSpPr>
        <p:cNvPr id="1" name="Shape 332">
          <a:extLst>
            <a:ext uri="{FF2B5EF4-FFF2-40B4-BE49-F238E27FC236}">
              <a16:creationId xmlns:a16="http://schemas.microsoft.com/office/drawing/2014/main" id="{E29F2C61-6A2E-CE27-66BE-0DAECD8D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>
            <a:extLst>
              <a:ext uri="{FF2B5EF4-FFF2-40B4-BE49-F238E27FC236}">
                <a16:creationId xmlns:a16="http://schemas.microsoft.com/office/drawing/2014/main" id="{2F258B8E-EE4F-25CF-9C9F-7AF4023784BE}"/>
              </a:ext>
            </a:extLst>
          </p:cNvPr>
          <p:cNvSpPr/>
          <p:nvPr/>
        </p:nvSpPr>
        <p:spPr>
          <a:xfrm>
            <a:off x="5288862" y="607124"/>
            <a:ext cx="89482" cy="33795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45">
            <a:extLst>
              <a:ext uri="{FF2B5EF4-FFF2-40B4-BE49-F238E27FC236}">
                <a16:creationId xmlns:a16="http://schemas.microsoft.com/office/drawing/2014/main" id="{2EA29AA9-6B0F-8AB5-6D7D-B21093D06D74}"/>
              </a:ext>
            </a:extLst>
          </p:cNvPr>
          <p:cNvSpPr/>
          <p:nvPr/>
        </p:nvSpPr>
        <p:spPr>
          <a:xfrm>
            <a:off x="5686186" y="1438394"/>
            <a:ext cx="21810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5">
            <a:extLst>
              <a:ext uri="{FF2B5EF4-FFF2-40B4-BE49-F238E27FC236}">
                <a16:creationId xmlns:a16="http://schemas.microsoft.com/office/drawing/2014/main" id="{E8FD1E97-CE52-D375-851A-F97AE7945C89}"/>
              </a:ext>
            </a:extLst>
          </p:cNvPr>
          <p:cNvSpPr txBox="1"/>
          <p:nvPr/>
        </p:nvSpPr>
        <p:spPr>
          <a:xfrm>
            <a:off x="5686186" y="394754"/>
            <a:ext cx="3123859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C4553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ENGAGEMENT? MANIPULATION?</a:t>
            </a:r>
            <a:endParaRPr sz="1200" b="1" dirty="0">
              <a:solidFill>
                <a:srgbClr val="C4553A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36" name="Google Shape;336;p45">
            <a:extLst>
              <a:ext uri="{FF2B5EF4-FFF2-40B4-BE49-F238E27FC236}">
                <a16:creationId xmlns:a16="http://schemas.microsoft.com/office/drawing/2014/main" id="{98312936-8B1B-63D3-0778-FA7EE87BA49C}"/>
              </a:ext>
            </a:extLst>
          </p:cNvPr>
          <p:cNvSpPr txBox="1"/>
          <p:nvPr/>
        </p:nvSpPr>
        <p:spPr>
          <a:xfrm>
            <a:off x="5686186" y="607124"/>
            <a:ext cx="3830700" cy="6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rgbClr val="1A1A2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Charismatic AI</a:t>
            </a:r>
            <a:endParaRPr sz="3600" dirty="0">
              <a:solidFill>
                <a:srgbClr val="1A1A2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8258B6FE-419A-947A-D2A9-4F20E4B0D02F}"/>
              </a:ext>
            </a:extLst>
          </p:cNvPr>
          <p:cNvSpPr txBox="1"/>
          <p:nvPr/>
        </p:nvSpPr>
        <p:spPr>
          <a:xfrm>
            <a:off x="925476" y="544904"/>
            <a:ext cx="3646524" cy="3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458602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C5A9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1232452" y="705200"/>
            <a:ext cx="21810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1232452" y="0"/>
            <a:ext cx="7911446" cy="5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Intervening – Final Assessments</a:t>
            </a:r>
            <a:endParaRPr sz="3600" b="1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98383" y="916000"/>
            <a:ext cx="8398892" cy="4057800"/>
          </a:xfrm>
          <a:prstGeom prst="rect">
            <a:avLst/>
          </a:prstGeom>
          <a:solidFill>
            <a:srgbClr val="F0EBE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What needs to be done? What are </a:t>
            </a:r>
            <a:r>
              <a:rPr lang="en-US" b="1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the key problems</a:t>
            </a: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?</a:t>
            </a:r>
          </a:p>
          <a:p>
            <a:pPr marL="1714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From your words</a:t>
            </a: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: Safety – Anthropomorphism / the “ELIZA Effect” – Manipulation – Hallucinations – Environmental Impacts – Cognitive Offloading / No “Productive Struggle” – Plagiarism – “Noetic </a:t>
            </a:r>
            <a:r>
              <a:rPr lang="en-US" dirty="0" err="1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Proleterianization</a:t>
            </a: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” – Unrealistic </a:t>
            </a:r>
            <a:r>
              <a:rPr lang="en-US" dirty="0" err="1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Expecations</a:t>
            </a: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 (Oracle) – Transhumanist Fantasies – Over-alignment – Sycophancy …</a:t>
            </a:r>
          </a:p>
          <a:p>
            <a:pPr marL="1714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But also: Surprising optimism in your responses. How do we manage </a:t>
            </a:r>
            <a:r>
              <a:rPr lang="en-US" b="1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ambiguity</a:t>
            </a: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?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General discussion: what are people </a:t>
            </a:r>
            <a:r>
              <a:rPr lang="en-US" b="1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thinking of doing</a:t>
            </a: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? Anyone </a:t>
            </a:r>
            <a:r>
              <a:rPr lang="en-US" b="1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stuck </a:t>
            </a: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for ideas? Concerned about </a:t>
            </a:r>
            <a:r>
              <a:rPr lang="en-US" b="1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feasibility</a:t>
            </a: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?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Back to group discussions: workshop ideas…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Review Assessment: </a:t>
            </a: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  <a:hlinkClick r:id="rId3"/>
              </a:rPr>
              <a:t>https://cgscholar.com/posts/1208?communityId=141</a:t>
            </a:r>
            <a:r>
              <a:rPr lang="en-US" dirty="0">
                <a:solidFill>
                  <a:srgbClr val="1A1A2E"/>
                </a:solidFill>
                <a:latin typeface="DM Sans" pitchFamily="2" charset="77"/>
                <a:ea typeface="DM Sans"/>
                <a:cs typeface="DM Sans"/>
                <a:sym typeface="DM Sans"/>
              </a:rPr>
              <a:t> </a:t>
            </a:r>
            <a:endParaRPr dirty="0">
              <a:solidFill>
                <a:srgbClr val="1A1A2E"/>
              </a:solidFill>
              <a:latin typeface="DM Sans" pitchFamily="2" charset="77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A0F2F940-1F20-AABB-06C9-68130A36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>
            <a:extLst>
              <a:ext uri="{FF2B5EF4-FFF2-40B4-BE49-F238E27FC236}">
                <a16:creationId xmlns:a16="http://schemas.microsoft.com/office/drawing/2014/main" id="{93A480A2-B6B0-D063-A272-6CC855EF331F}"/>
              </a:ext>
            </a:extLst>
          </p:cNvPr>
          <p:cNvSpPr/>
          <p:nvPr/>
        </p:nvSpPr>
        <p:spPr>
          <a:xfrm>
            <a:off x="457200" y="457200"/>
            <a:ext cx="119100" cy="42291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6">
            <a:extLst>
              <a:ext uri="{FF2B5EF4-FFF2-40B4-BE49-F238E27FC236}">
                <a16:creationId xmlns:a16="http://schemas.microsoft.com/office/drawing/2014/main" id="{A708DB56-2435-4485-6E26-DD5C41F74902}"/>
              </a:ext>
            </a:extLst>
          </p:cNvPr>
          <p:cNvSpPr/>
          <p:nvPr/>
        </p:nvSpPr>
        <p:spPr>
          <a:xfrm>
            <a:off x="1007059" y="1715186"/>
            <a:ext cx="27309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46">
            <a:extLst>
              <a:ext uri="{FF2B5EF4-FFF2-40B4-BE49-F238E27FC236}">
                <a16:creationId xmlns:a16="http://schemas.microsoft.com/office/drawing/2014/main" id="{0FC38BB8-91A9-CBEF-7DC3-8EE7659C6F0E}"/>
              </a:ext>
            </a:extLst>
          </p:cNvPr>
          <p:cNvSpPr/>
          <p:nvPr/>
        </p:nvSpPr>
        <p:spPr>
          <a:xfrm>
            <a:off x="7460215" y="244741"/>
            <a:ext cx="1081500" cy="83130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6">
            <a:extLst>
              <a:ext uri="{FF2B5EF4-FFF2-40B4-BE49-F238E27FC236}">
                <a16:creationId xmlns:a16="http://schemas.microsoft.com/office/drawing/2014/main" id="{D894F58B-27DE-9025-1D0E-64142E7D6954}"/>
              </a:ext>
            </a:extLst>
          </p:cNvPr>
          <p:cNvSpPr txBox="1"/>
          <p:nvPr/>
        </p:nvSpPr>
        <p:spPr>
          <a:xfrm>
            <a:off x="1007059" y="547154"/>
            <a:ext cx="41058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C4553A"/>
                </a:solidFill>
                <a:latin typeface="DM Sans"/>
                <a:ea typeface="DM Sans"/>
                <a:cs typeface="DM Sans"/>
                <a:sym typeface="DM Sans"/>
              </a:rPr>
              <a:t>CLOSE / HOUSEKEEPING</a:t>
            </a:r>
            <a:endParaRPr sz="1200" b="1">
              <a:solidFill>
                <a:srgbClr val="C4553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46">
            <a:extLst>
              <a:ext uri="{FF2B5EF4-FFF2-40B4-BE49-F238E27FC236}">
                <a16:creationId xmlns:a16="http://schemas.microsoft.com/office/drawing/2014/main" id="{48953699-FCDA-853E-C3B6-33CE23CA9DF6}"/>
              </a:ext>
            </a:extLst>
          </p:cNvPr>
          <p:cNvSpPr txBox="1"/>
          <p:nvPr/>
        </p:nvSpPr>
        <p:spPr>
          <a:xfrm>
            <a:off x="1007059" y="865708"/>
            <a:ext cx="60303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Brainstorming</a:t>
            </a:r>
            <a:endParaRPr sz="3600" b="1" dirty="0">
              <a:solidFill>
                <a:srgbClr val="F0EBE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46">
            <a:extLst>
              <a:ext uri="{FF2B5EF4-FFF2-40B4-BE49-F238E27FC236}">
                <a16:creationId xmlns:a16="http://schemas.microsoft.com/office/drawing/2014/main" id="{3385E67A-B8E9-1BCA-E6A2-2B587304622F}"/>
              </a:ext>
            </a:extLst>
          </p:cNvPr>
          <p:cNvSpPr txBox="1"/>
          <p:nvPr/>
        </p:nvSpPr>
        <p:spPr>
          <a:xfrm>
            <a:off x="1103509" y="1733486"/>
            <a:ext cx="8018700" cy="23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70000"/>
              </a:lnSpc>
            </a:pP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• Discuss ideas for interventions</a:t>
            </a: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 — What is the </a:t>
            </a:r>
            <a:r>
              <a:rPr lang="en-GB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problem</a:t>
            </a: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 — </a:t>
            </a:r>
            <a:r>
              <a:rPr lang="en-GB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Why</a:t>
            </a: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is it a problem - </a:t>
            </a:r>
            <a:r>
              <a:rPr lang="en-GB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who</a:t>
            </a: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is affected, </a:t>
            </a:r>
            <a:r>
              <a:rPr lang="en-GB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what</a:t>
            </a: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are the consequences?</a:t>
            </a:r>
            <a:endParaRPr sz="1300" dirty="0">
              <a:solidFill>
                <a:srgbClr val="F0EBE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 — </a:t>
            </a:r>
            <a:r>
              <a:rPr lang="en-GB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How</a:t>
            </a: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did the problem come to be? </a:t>
            </a:r>
            <a:r>
              <a:rPr lang="en-GB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What</a:t>
            </a: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are its causes?</a:t>
            </a:r>
            <a:endParaRPr sz="1300" dirty="0">
              <a:solidFill>
                <a:srgbClr val="F0EBE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 — How can it be </a:t>
            </a:r>
            <a:r>
              <a:rPr lang="en-GB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fixed</a:t>
            </a: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- if at all? Are you optimistic about </a:t>
            </a:r>
            <a:r>
              <a:rPr lang="en-GB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remedies</a:t>
            </a: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&amp; </a:t>
            </a:r>
            <a:r>
              <a:rPr lang="en-GB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solutions</a:t>
            </a: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1300" dirty="0">
              <a:solidFill>
                <a:srgbClr val="F0EBE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 — What might be the </a:t>
            </a:r>
            <a:r>
              <a:rPr lang="en-GB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second order effects</a:t>
            </a: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or </a:t>
            </a:r>
            <a:r>
              <a:rPr lang="en-GB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unintended consequences</a:t>
            </a: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1300" dirty="0">
              <a:solidFill>
                <a:srgbClr val="F0EBE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• Present back</a:t>
            </a:r>
            <a:endParaRPr sz="1300" dirty="0">
              <a:solidFill>
                <a:srgbClr val="F0EBE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968017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0"/>
        </a:solidFill>
        <a:effectLst/>
      </p:bgPr>
    </p:bg>
    <p:spTree>
      <p:nvGrpSpPr>
        <p:cNvPr id="1" name="Shape 332">
          <a:extLst>
            <a:ext uri="{FF2B5EF4-FFF2-40B4-BE49-F238E27FC236}">
              <a16:creationId xmlns:a16="http://schemas.microsoft.com/office/drawing/2014/main" id="{0025CF80-6FA9-3E75-4BB0-12B01DD48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>
            <a:extLst>
              <a:ext uri="{FF2B5EF4-FFF2-40B4-BE49-F238E27FC236}">
                <a16:creationId xmlns:a16="http://schemas.microsoft.com/office/drawing/2014/main" id="{BEE2B861-111A-515A-1591-2EF8ADF3A230}"/>
              </a:ext>
            </a:extLst>
          </p:cNvPr>
          <p:cNvSpPr/>
          <p:nvPr/>
        </p:nvSpPr>
        <p:spPr>
          <a:xfrm>
            <a:off x="6247218" y="695054"/>
            <a:ext cx="89482" cy="33795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45">
            <a:extLst>
              <a:ext uri="{FF2B5EF4-FFF2-40B4-BE49-F238E27FC236}">
                <a16:creationId xmlns:a16="http://schemas.microsoft.com/office/drawing/2014/main" id="{3783E718-F067-90C3-7DE7-34E9ED0EA618}"/>
              </a:ext>
            </a:extLst>
          </p:cNvPr>
          <p:cNvSpPr/>
          <p:nvPr/>
        </p:nvSpPr>
        <p:spPr>
          <a:xfrm>
            <a:off x="6432128" y="3243340"/>
            <a:ext cx="21810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5">
            <a:extLst>
              <a:ext uri="{FF2B5EF4-FFF2-40B4-BE49-F238E27FC236}">
                <a16:creationId xmlns:a16="http://schemas.microsoft.com/office/drawing/2014/main" id="{D4B5F777-DA8D-DA74-3AB8-2AC0C9A3F245}"/>
              </a:ext>
            </a:extLst>
          </p:cNvPr>
          <p:cNvSpPr txBox="1"/>
          <p:nvPr/>
        </p:nvSpPr>
        <p:spPr>
          <a:xfrm>
            <a:off x="6432128" y="394754"/>
            <a:ext cx="3123859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C4553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TECH TALK / IF THERE’S TIME</a:t>
            </a:r>
            <a:endParaRPr sz="1200" b="1" dirty="0">
              <a:solidFill>
                <a:srgbClr val="C4553A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36" name="Google Shape;336;p45">
            <a:extLst>
              <a:ext uri="{FF2B5EF4-FFF2-40B4-BE49-F238E27FC236}">
                <a16:creationId xmlns:a16="http://schemas.microsoft.com/office/drawing/2014/main" id="{4C9E6C5E-90C2-8528-FD6A-4CD063C2A502}"/>
              </a:ext>
            </a:extLst>
          </p:cNvPr>
          <p:cNvSpPr txBox="1"/>
          <p:nvPr/>
        </p:nvSpPr>
        <p:spPr>
          <a:xfrm>
            <a:off x="6432128" y="607124"/>
            <a:ext cx="2532338" cy="196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rgbClr val="1A1A2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Hidden  Side to Vibe Coding</a:t>
            </a:r>
            <a:endParaRPr sz="3600" dirty="0">
              <a:solidFill>
                <a:srgbClr val="1A1A2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943A3F53-F160-D915-34E0-22715EAB4F1A}"/>
              </a:ext>
            </a:extLst>
          </p:cNvPr>
          <p:cNvSpPr txBox="1"/>
          <p:nvPr/>
        </p:nvSpPr>
        <p:spPr>
          <a:xfrm>
            <a:off x="925476" y="544904"/>
            <a:ext cx="3646524" cy="3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Google Shape;337;p45">
            <a:extLst>
              <a:ext uri="{FF2B5EF4-FFF2-40B4-BE49-F238E27FC236}">
                <a16:creationId xmlns:a16="http://schemas.microsoft.com/office/drawing/2014/main" id="{9E706F09-B961-E33F-2214-19DAAE388C84}"/>
              </a:ext>
            </a:extLst>
          </p:cNvPr>
          <p:cNvSpPr txBox="1"/>
          <p:nvPr/>
        </p:nvSpPr>
        <p:spPr>
          <a:xfrm>
            <a:off x="179237" y="247650"/>
            <a:ext cx="5972553" cy="4155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  <a:buClr>
                <a:schemeClr val="dk1"/>
              </a:buClr>
              <a:buSzPts val="1100"/>
            </a:pPr>
            <a:r>
              <a:rPr lang="en-US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So you’ve built your first AI app / website / interactive HTML / game. Now what?</a:t>
            </a: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Missing part of puzzle: hosting / deployment / maintenance</a:t>
            </a:r>
          </a:p>
          <a:p>
            <a:pPr>
              <a:lnSpc>
                <a:spcPct val="200000"/>
              </a:lnSpc>
              <a:buClr>
                <a:schemeClr val="dk1"/>
              </a:buClr>
              <a:buSzPts val="1100"/>
            </a:pP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Terminology: </a:t>
            </a: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“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devops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” = “development” (write the code) / “operations” (deploy it)</a:t>
            </a: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“Hosting”: a place to host web content – pages or apps</a:t>
            </a: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“Deployment”: move code from your machine to a public location / host</a:t>
            </a: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“Virtual machine” (VM): a machine within the machine, using software – manages many customers on a single computer, each with own memory, disk space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etc</a:t>
            </a:r>
            <a:endParaRPr lang="en-US"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“Cloud computing”: a host who makes a virtual machine + other services available for a fee (Amazon Web Services, Microsoft Azure, Google Cloud)</a:t>
            </a: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84642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0"/>
        </a:solidFill>
        <a:effectLst/>
      </p:bgPr>
    </p:bg>
    <p:spTree>
      <p:nvGrpSpPr>
        <p:cNvPr id="1" name="Shape 332">
          <a:extLst>
            <a:ext uri="{FF2B5EF4-FFF2-40B4-BE49-F238E27FC236}">
              <a16:creationId xmlns:a16="http://schemas.microsoft.com/office/drawing/2014/main" id="{0A51C6F1-F21C-2BA4-834A-A683E6F68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>
            <a:extLst>
              <a:ext uri="{FF2B5EF4-FFF2-40B4-BE49-F238E27FC236}">
                <a16:creationId xmlns:a16="http://schemas.microsoft.com/office/drawing/2014/main" id="{40B661DD-012B-2C1A-CB97-CAD57FF28C02}"/>
              </a:ext>
            </a:extLst>
          </p:cNvPr>
          <p:cNvSpPr/>
          <p:nvPr/>
        </p:nvSpPr>
        <p:spPr>
          <a:xfrm>
            <a:off x="6390350" y="544904"/>
            <a:ext cx="89482" cy="33795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45">
            <a:extLst>
              <a:ext uri="{FF2B5EF4-FFF2-40B4-BE49-F238E27FC236}">
                <a16:creationId xmlns:a16="http://schemas.microsoft.com/office/drawing/2014/main" id="{513F0DEC-2862-5452-D42A-B4E109FD0501}"/>
              </a:ext>
            </a:extLst>
          </p:cNvPr>
          <p:cNvSpPr/>
          <p:nvPr/>
        </p:nvSpPr>
        <p:spPr>
          <a:xfrm>
            <a:off x="6799369" y="3187681"/>
            <a:ext cx="21810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5">
            <a:extLst>
              <a:ext uri="{FF2B5EF4-FFF2-40B4-BE49-F238E27FC236}">
                <a16:creationId xmlns:a16="http://schemas.microsoft.com/office/drawing/2014/main" id="{99B70B25-8AFD-47F2-A255-9B51EAA45AAD}"/>
              </a:ext>
            </a:extLst>
          </p:cNvPr>
          <p:cNvSpPr txBox="1"/>
          <p:nvPr/>
        </p:nvSpPr>
        <p:spPr>
          <a:xfrm>
            <a:off x="6799369" y="394750"/>
            <a:ext cx="3123859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C4553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TECH TALK / IF THERE’S TIME</a:t>
            </a:r>
            <a:endParaRPr sz="1200" b="1" dirty="0">
              <a:solidFill>
                <a:srgbClr val="C4553A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36" name="Google Shape;336;p45">
            <a:extLst>
              <a:ext uri="{FF2B5EF4-FFF2-40B4-BE49-F238E27FC236}">
                <a16:creationId xmlns:a16="http://schemas.microsoft.com/office/drawing/2014/main" id="{1916B2B2-7D76-317C-98D6-E1C9C7464AC7}"/>
              </a:ext>
            </a:extLst>
          </p:cNvPr>
          <p:cNvSpPr txBox="1"/>
          <p:nvPr/>
        </p:nvSpPr>
        <p:spPr>
          <a:xfrm>
            <a:off x="6799370" y="607120"/>
            <a:ext cx="1978870" cy="331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rgbClr val="1A1A2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Static Pages vs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>
                <a:solidFill>
                  <a:srgbClr val="1A1A2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Dynamic Sites</a:t>
            </a:r>
            <a:endParaRPr sz="3600" dirty="0">
              <a:solidFill>
                <a:srgbClr val="1A1A2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B3DBA523-4018-4E2A-37CC-B4BAE92BF8D9}"/>
              </a:ext>
            </a:extLst>
          </p:cNvPr>
          <p:cNvSpPr txBox="1"/>
          <p:nvPr/>
        </p:nvSpPr>
        <p:spPr>
          <a:xfrm>
            <a:off x="925476" y="544904"/>
            <a:ext cx="3646524" cy="3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Google Shape;337;p45">
            <a:extLst>
              <a:ext uri="{FF2B5EF4-FFF2-40B4-BE49-F238E27FC236}">
                <a16:creationId xmlns:a16="http://schemas.microsoft.com/office/drawing/2014/main" id="{1717C081-0D45-0A69-D5B4-C3967529F55C}"/>
              </a:ext>
            </a:extLst>
          </p:cNvPr>
          <p:cNvSpPr txBox="1"/>
          <p:nvPr/>
        </p:nvSpPr>
        <p:spPr>
          <a:xfrm>
            <a:off x="428999" y="247650"/>
            <a:ext cx="5868433" cy="4809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  <a:buClr>
                <a:schemeClr val="dk1"/>
              </a:buClr>
              <a:buSzPts val="1100"/>
            </a:pPr>
            <a:r>
              <a:rPr lang="en-US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Static: </a:t>
            </a: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HTML (Hypertext Markup Language) –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document markup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: paragraphs, bullet points, images, links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etc</a:t>
            </a:r>
            <a:endParaRPr lang="en-US"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CSS (Cascading Style Sheets) –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style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: fonts, layout, colors, spacing, some animations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etc</a:t>
            </a:r>
            <a:endParaRPr lang="en-US"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JavaScript –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code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: how document elements might interact (from validating fields to 3D animations)</a:t>
            </a:r>
          </a:p>
          <a:p>
            <a:pPr>
              <a:lnSpc>
                <a:spcPct val="200000"/>
              </a:lnSpc>
              <a:buClr>
                <a:schemeClr val="dk1"/>
              </a:buClr>
              <a:buSzPts val="1100"/>
            </a:pPr>
            <a:r>
              <a:rPr lang="en-US" sz="13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Dynamic: </a:t>
            </a: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Page changes based on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interaction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: submit a form, get a </a:t>
            </a:r>
            <a:r>
              <a:rPr lang="en-US" sz="1200" i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custom response 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(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Google.com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– search, Gmail – email,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ChatGPT.com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– chat,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etc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</a:p>
          <a:p>
            <a:pPr marL="285750" indent="-2857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Needs some kind of “back end”: hosting on a server (PHP, Python, also JavaScript). Necessary if you want to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save information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: custom surveys, assessments, feedback, multiuser info, personalization, persistence. </a:t>
            </a:r>
          </a:p>
        </p:txBody>
      </p:sp>
    </p:spTree>
    <p:extLst>
      <p:ext uri="{BB962C8B-B14F-4D97-AF65-F5344CB8AC3E}">
        <p14:creationId xmlns:p14="http://schemas.microsoft.com/office/powerpoint/2010/main" val="1429633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0"/>
        </a:solidFill>
        <a:effectLst/>
      </p:bgPr>
    </p:bg>
    <p:spTree>
      <p:nvGrpSpPr>
        <p:cNvPr id="1" name="Shape 332">
          <a:extLst>
            <a:ext uri="{FF2B5EF4-FFF2-40B4-BE49-F238E27FC236}">
              <a16:creationId xmlns:a16="http://schemas.microsoft.com/office/drawing/2014/main" id="{B206D936-5A44-C36F-583C-0371106A9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>
            <a:extLst>
              <a:ext uri="{FF2B5EF4-FFF2-40B4-BE49-F238E27FC236}">
                <a16:creationId xmlns:a16="http://schemas.microsoft.com/office/drawing/2014/main" id="{6F6DBDE7-FAC7-515F-7544-3DFAB26149FE}"/>
              </a:ext>
            </a:extLst>
          </p:cNvPr>
          <p:cNvSpPr/>
          <p:nvPr/>
        </p:nvSpPr>
        <p:spPr>
          <a:xfrm>
            <a:off x="6390350" y="544904"/>
            <a:ext cx="89482" cy="33795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45">
            <a:extLst>
              <a:ext uri="{FF2B5EF4-FFF2-40B4-BE49-F238E27FC236}">
                <a16:creationId xmlns:a16="http://schemas.microsoft.com/office/drawing/2014/main" id="{16A70ED7-26D5-5700-682A-EDFBE6A95416}"/>
              </a:ext>
            </a:extLst>
          </p:cNvPr>
          <p:cNvSpPr/>
          <p:nvPr/>
        </p:nvSpPr>
        <p:spPr>
          <a:xfrm>
            <a:off x="6799369" y="3187681"/>
            <a:ext cx="21810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5">
            <a:extLst>
              <a:ext uri="{FF2B5EF4-FFF2-40B4-BE49-F238E27FC236}">
                <a16:creationId xmlns:a16="http://schemas.microsoft.com/office/drawing/2014/main" id="{4B3D57A0-1FBC-8B2A-0D61-36D9A91DA83E}"/>
              </a:ext>
            </a:extLst>
          </p:cNvPr>
          <p:cNvSpPr txBox="1"/>
          <p:nvPr/>
        </p:nvSpPr>
        <p:spPr>
          <a:xfrm>
            <a:off x="6799369" y="394750"/>
            <a:ext cx="3123859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C4553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TECH TALK / IF THERE’S TIME</a:t>
            </a:r>
            <a:endParaRPr sz="1200" b="1" dirty="0">
              <a:solidFill>
                <a:srgbClr val="C4553A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36" name="Google Shape;336;p45">
            <a:extLst>
              <a:ext uri="{FF2B5EF4-FFF2-40B4-BE49-F238E27FC236}">
                <a16:creationId xmlns:a16="http://schemas.microsoft.com/office/drawing/2014/main" id="{1B6A9DD8-EA70-53FF-46C1-909F14DC9B44}"/>
              </a:ext>
            </a:extLst>
          </p:cNvPr>
          <p:cNvSpPr txBox="1"/>
          <p:nvPr/>
        </p:nvSpPr>
        <p:spPr>
          <a:xfrm>
            <a:off x="6799370" y="607120"/>
            <a:ext cx="1978870" cy="331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rgbClr val="1A1A2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Where to Host?</a:t>
            </a:r>
            <a:endParaRPr sz="2800" dirty="0">
              <a:solidFill>
                <a:srgbClr val="1A1A2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5958D3E2-ED7D-AA72-C619-902D9F5E5CE8}"/>
              </a:ext>
            </a:extLst>
          </p:cNvPr>
          <p:cNvSpPr txBox="1"/>
          <p:nvPr/>
        </p:nvSpPr>
        <p:spPr>
          <a:xfrm>
            <a:off x="925476" y="544904"/>
            <a:ext cx="3646524" cy="3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Google Shape;337;p45">
            <a:extLst>
              <a:ext uri="{FF2B5EF4-FFF2-40B4-BE49-F238E27FC236}">
                <a16:creationId xmlns:a16="http://schemas.microsoft.com/office/drawing/2014/main" id="{40838214-1D70-83EA-AF6F-9C6B979E2DD4}"/>
              </a:ext>
            </a:extLst>
          </p:cNvPr>
          <p:cNvSpPr txBox="1"/>
          <p:nvPr/>
        </p:nvSpPr>
        <p:spPr>
          <a:xfrm>
            <a:off x="428999" y="247650"/>
            <a:ext cx="5868433" cy="4809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200000"/>
              </a:lnSpc>
              <a:buClr>
                <a:schemeClr val="dk1"/>
              </a:buClr>
              <a:buSzPts val="1100"/>
            </a:pP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From low to high complexity</a:t>
            </a:r>
          </a:p>
          <a:p>
            <a:pPr marL="171450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Can you use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ChatGPT / Claude / Google Gemini 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– “share” feature? </a:t>
            </a:r>
          </a:p>
          <a:p>
            <a:pPr marL="171450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Copy / paste HTML / CSS / JavaScript to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Canvas / LMS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(not 100% guarantee)?</a:t>
            </a:r>
          </a:p>
          <a:p>
            <a:pPr marL="171450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Save file(s) to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Dropbox / Box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etc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? Ask AI to suggest naming protocols, integrate into a single HTML page containing CSS /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Javascript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171450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Does the university / school have a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hosting provider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for websites?</a:t>
            </a:r>
          </a:p>
          <a:p>
            <a:pPr marL="171450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Register yourself with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static hosts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like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Dreamhost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BlueHost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?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Github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also an option, but more complicated.</a:t>
            </a:r>
          </a:p>
          <a:p>
            <a:pPr marL="171450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Use dynamic VM hosting providers like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fly.io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(cheap, DIY), or cloud providers (AWS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etc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1287758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BE0"/>
        </a:solidFill>
        <a:effectLst/>
      </p:bgPr>
    </p:bg>
    <p:spTree>
      <p:nvGrpSpPr>
        <p:cNvPr id="1" name="Shape 332">
          <a:extLst>
            <a:ext uri="{FF2B5EF4-FFF2-40B4-BE49-F238E27FC236}">
              <a16:creationId xmlns:a16="http://schemas.microsoft.com/office/drawing/2014/main" id="{1F9916F2-468B-CE97-ED56-DEF4E9AB3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>
            <a:extLst>
              <a:ext uri="{FF2B5EF4-FFF2-40B4-BE49-F238E27FC236}">
                <a16:creationId xmlns:a16="http://schemas.microsoft.com/office/drawing/2014/main" id="{CD368A8E-D46A-14F2-FBAC-6499CFF408F3}"/>
              </a:ext>
            </a:extLst>
          </p:cNvPr>
          <p:cNvSpPr/>
          <p:nvPr/>
        </p:nvSpPr>
        <p:spPr>
          <a:xfrm>
            <a:off x="6390350" y="544904"/>
            <a:ext cx="89482" cy="33795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45">
            <a:extLst>
              <a:ext uri="{FF2B5EF4-FFF2-40B4-BE49-F238E27FC236}">
                <a16:creationId xmlns:a16="http://schemas.microsoft.com/office/drawing/2014/main" id="{AA4C1CF0-E3B2-C6F8-3860-9560371BAA6E}"/>
              </a:ext>
            </a:extLst>
          </p:cNvPr>
          <p:cNvSpPr/>
          <p:nvPr/>
        </p:nvSpPr>
        <p:spPr>
          <a:xfrm>
            <a:off x="6776877" y="2487966"/>
            <a:ext cx="21810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5">
            <a:extLst>
              <a:ext uri="{FF2B5EF4-FFF2-40B4-BE49-F238E27FC236}">
                <a16:creationId xmlns:a16="http://schemas.microsoft.com/office/drawing/2014/main" id="{1C2E242F-6F44-A9DC-934B-F427400DC5FB}"/>
              </a:ext>
            </a:extLst>
          </p:cNvPr>
          <p:cNvSpPr txBox="1"/>
          <p:nvPr/>
        </p:nvSpPr>
        <p:spPr>
          <a:xfrm>
            <a:off x="6799369" y="394750"/>
            <a:ext cx="3123859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C4553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TECH TALK / IF THERE’S TIME</a:t>
            </a:r>
            <a:endParaRPr sz="1200" b="1" dirty="0">
              <a:solidFill>
                <a:srgbClr val="C4553A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36" name="Google Shape;336;p45">
            <a:extLst>
              <a:ext uri="{FF2B5EF4-FFF2-40B4-BE49-F238E27FC236}">
                <a16:creationId xmlns:a16="http://schemas.microsoft.com/office/drawing/2014/main" id="{8D37EA44-F408-5BB2-C426-5A0923C9D6A8}"/>
              </a:ext>
            </a:extLst>
          </p:cNvPr>
          <p:cNvSpPr txBox="1"/>
          <p:nvPr/>
        </p:nvSpPr>
        <p:spPr>
          <a:xfrm>
            <a:off x="6799370" y="607120"/>
            <a:ext cx="1978870" cy="331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rgbClr val="1A1A2E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Heuristics / Hard Lessons Learned</a:t>
            </a:r>
            <a:endParaRPr sz="2800" dirty="0">
              <a:solidFill>
                <a:srgbClr val="1A1A2E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37" name="Google Shape;337;p45">
            <a:extLst>
              <a:ext uri="{FF2B5EF4-FFF2-40B4-BE49-F238E27FC236}">
                <a16:creationId xmlns:a16="http://schemas.microsoft.com/office/drawing/2014/main" id="{3CE1A11B-D717-4411-7276-E8E547DF03FE}"/>
              </a:ext>
            </a:extLst>
          </p:cNvPr>
          <p:cNvSpPr txBox="1"/>
          <p:nvPr/>
        </p:nvSpPr>
        <p:spPr>
          <a:xfrm>
            <a:off x="925476" y="544904"/>
            <a:ext cx="3646524" cy="3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Google Shape;337;p45">
            <a:extLst>
              <a:ext uri="{FF2B5EF4-FFF2-40B4-BE49-F238E27FC236}">
                <a16:creationId xmlns:a16="http://schemas.microsoft.com/office/drawing/2014/main" id="{A46B8905-6D8C-7DDE-5C90-57B7439ADD42}"/>
              </a:ext>
            </a:extLst>
          </p:cNvPr>
          <p:cNvSpPr txBox="1"/>
          <p:nvPr/>
        </p:nvSpPr>
        <p:spPr>
          <a:xfrm>
            <a:off x="428999" y="247650"/>
            <a:ext cx="5868433" cy="4809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AI is rarely “one shot”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– tell it what you want, get the perfect result first time.</a:t>
            </a:r>
          </a:p>
          <a:p>
            <a:pPr marL="171450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So be prepared to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iterate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Play the role 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of a polite but demanding client. Continue past the point of your own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patience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. AI use can be a test of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endurance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171450" lvl="1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With technical work: learn keystrokes for (a) copy / paste; (b) screenshots; (c) Chrome / Safari Developer Tools (Option + Command + I on a Mac).</a:t>
            </a:r>
          </a:p>
          <a:p>
            <a:pPr marL="171450" lvl="1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AI is excellent tech support. 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Copy errors, get feedback &amp; instructions.</a:t>
            </a:r>
          </a:p>
          <a:p>
            <a:pPr marL="171450" lvl="1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Both ChatGPT &amp; Claude support “Computer Use”.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Be very careful!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When enabled, can do anything you can do (pay with credit cards, send emails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etc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). But can troubleshoot errors automatically, re-write code, test, </a:t>
            </a: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repeatedly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  <a:p>
            <a:pPr marL="171450" lvl="1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Have AI help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with deployment, maintenance.</a:t>
            </a:r>
          </a:p>
          <a:p>
            <a:pPr marL="171450" lvl="1" indent="-171450">
              <a:lnSpc>
                <a:spcPct val="200000"/>
              </a:lnSpc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Learn git / </a:t>
            </a:r>
            <a:r>
              <a:rPr lang="en-US" sz="1200" dirty="0" err="1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Github</a:t>
            </a:r>
            <a:r>
              <a:rPr lang="en-US" sz="1200" dirty="0">
                <a:solidFill>
                  <a:srgbClr val="1A1A2E"/>
                </a:solidFill>
                <a:latin typeface="DM Sans"/>
                <a:ea typeface="DM Sans"/>
                <a:cs typeface="DM Sans"/>
                <a:sym typeface="DM Sans"/>
              </a:rPr>
              <a:t> for code version control? If things get serious with your AI use. But high learning curve.</a:t>
            </a:r>
          </a:p>
          <a:p>
            <a:pPr>
              <a:lnSpc>
                <a:spcPct val="200000"/>
              </a:lnSpc>
              <a:buClr>
                <a:schemeClr val="dk1"/>
              </a:buClr>
              <a:buSzPts val="1100"/>
            </a:pPr>
            <a:endParaRPr lang="en-US" sz="1200" dirty="0">
              <a:solidFill>
                <a:srgbClr val="1A1A2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779C0-49DF-7C1E-E5AC-A94F4FE91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877" y="2637235"/>
            <a:ext cx="2306827" cy="248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075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8E55735F-13BE-6DE9-19BB-394814420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>
            <a:extLst>
              <a:ext uri="{FF2B5EF4-FFF2-40B4-BE49-F238E27FC236}">
                <a16:creationId xmlns:a16="http://schemas.microsoft.com/office/drawing/2014/main" id="{A5AF7FDC-B8FA-6339-27BF-7CFF58EA57F6}"/>
              </a:ext>
            </a:extLst>
          </p:cNvPr>
          <p:cNvSpPr/>
          <p:nvPr/>
        </p:nvSpPr>
        <p:spPr>
          <a:xfrm>
            <a:off x="457200" y="457200"/>
            <a:ext cx="119100" cy="42291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46">
            <a:extLst>
              <a:ext uri="{FF2B5EF4-FFF2-40B4-BE49-F238E27FC236}">
                <a16:creationId xmlns:a16="http://schemas.microsoft.com/office/drawing/2014/main" id="{016C44C1-CBC4-A7A4-F28A-3FF0D03805A7}"/>
              </a:ext>
            </a:extLst>
          </p:cNvPr>
          <p:cNvSpPr/>
          <p:nvPr/>
        </p:nvSpPr>
        <p:spPr>
          <a:xfrm>
            <a:off x="1007059" y="1715186"/>
            <a:ext cx="2730900" cy="18300"/>
          </a:xfrm>
          <a:prstGeom prst="rect">
            <a:avLst/>
          </a:prstGeom>
          <a:solidFill>
            <a:srgbClr val="C455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46">
            <a:extLst>
              <a:ext uri="{FF2B5EF4-FFF2-40B4-BE49-F238E27FC236}">
                <a16:creationId xmlns:a16="http://schemas.microsoft.com/office/drawing/2014/main" id="{801038C3-D204-4181-80F0-F9B4A2250869}"/>
              </a:ext>
            </a:extLst>
          </p:cNvPr>
          <p:cNvSpPr/>
          <p:nvPr/>
        </p:nvSpPr>
        <p:spPr>
          <a:xfrm>
            <a:off x="7460215" y="244741"/>
            <a:ext cx="1081500" cy="83130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46">
            <a:extLst>
              <a:ext uri="{FF2B5EF4-FFF2-40B4-BE49-F238E27FC236}">
                <a16:creationId xmlns:a16="http://schemas.microsoft.com/office/drawing/2014/main" id="{B69D30A6-C4B6-A1A8-0E7A-6937F9EA28EE}"/>
              </a:ext>
            </a:extLst>
          </p:cNvPr>
          <p:cNvSpPr txBox="1"/>
          <p:nvPr/>
        </p:nvSpPr>
        <p:spPr>
          <a:xfrm>
            <a:off x="1007059" y="547154"/>
            <a:ext cx="41058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C4553A"/>
                </a:solidFill>
                <a:latin typeface="DM Sans"/>
                <a:ea typeface="DM Sans"/>
                <a:cs typeface="DM Sans"/>
                <a:sym typeface="DM Sans"/>
              </a:rPr>
              <a:t>CLOSE</a:t>
            </a:r>
            <a:endParaRPr sz="1200" b="1" dirty="0">
              <a:solidFill>
                <a:srgbClr val="C4553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6" name="Google Shape;346;p46">
            <a:extLst>
              <a:ext uri="{FF2B5EF4-FFF2-40B4-BE49-F238E27FC236}">
                <a16:creationId xmlns:a16="http://schemas.microsoft.com/office/drawing/2014/main" id="{93FC3044-C29D-1C31-DD58-521A183B6C3D}"/>
              </a:ext>
            </a:extLst>
          </p:cNvPr>
          <p:cNvSpPr txBox="1"/>
          <p:nvPr/>
        </p:nvSpPr>
        <p:spPr>
          <a:xfrm>
            <a:off x="1007059" y="865708"/>
            <a:ext cx="6030300" cy="7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 err="1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WarpStrike</a:t>
            </a:r>
            <a:r>
              <a:rPr lang="en-GB" sz="36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!</a:t>
            </a:r>
            <a:endParaRPr sz="3600" b="1" dirty="0">
              <a:solidFill>
                <a:srgbClr val="F0EBE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7" name="Google Shape;347;p46">
            <a:extLst>
              <a:ext uri="{FF2B5EF4-FFF2-40B4-BE49-F238E27FC236}">
                <a16:creationId xmlns:a16="http://schemas.microsoft.com/office/drawing/2014/main" id="{24B3239E-C39A-DDFD-9F6D-A76AB600B68C}"/>
              </a:ext>
            </a:extLst>
          </p:cNvPr>
          <p:cNvSpPr txBox="1"/>
          <p:nvPr/>
        </p:nvSpPr>
        <p:spPr>
          <a:xfrm>
            <a:off x="1007050" y="1927550"/>
            <a:ext cx="8018700" cy="23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70000"/>
              </a:lnSpc>
            </a:pPr>
            <a:r>
              <a:rPr lang="en-US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https://machinespirits.org/games/warpstrike/</a:t>
            </a:r>
            <a:r>
              <a:rPr lang="en-US" sz="1300" b="1" dirty="0">
                <a:solidFill>
                  <a:srgbClr val="F0EBE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300" b="1" dirty="0">
              <a:solidFill>
                <a:srgbClr val="F0EBE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295324094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E527FF-EFC3-8644-B137-B195D4DB528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3185ed9-6189-4385-a6fc-7314aa28c32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2674</TotalTime>
  <Words>2136</Words>
  <Application>Microsoft Macintosh PowerPoint</Application>
  <PresentationFormat>On-screen Show (16:9)</PresentationFormat>
  <Paragraphs>133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DM Serif Display</vt:lpstr>
      <vt:lpstr>DM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Magee, Liam</cp:lastModifiedBy>
  <cp:revision>50</cp:revision>
  <dcterms:modified xsi:type="dcterms:W3CDTF">2026-04-28T12:57:22Z</dcterms:modified>
</cp:coreProperties>
</file>