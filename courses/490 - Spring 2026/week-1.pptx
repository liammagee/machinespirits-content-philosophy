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 to Generative AI for Education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Generative AI for Education: Overview</a:t>
            </a:r>
          </a:p>
        </p:txBody>
      </p:sp>
      <p:sp>
        <p:nvSpPr>
          <p:cNvPr id="3" name="Content Placeholder 2"/>
          <p:cNvSpPr>
            <a:spLocks noGrp="1"/>
          </p:cNvSpPr>
          <p:nvPr>
            <p:ph idx="1"/>
          </p:nvPr>
        </p:nvSpPr>
        <p:spPr/>
        <p:txBody>
          <a:bodyPr/>
          <a:lstStyle/>
          <a:p>
            <a:pPr lvl="0"/>
            <a:r>
              <a:rPr/>
              <a:t>Welcome!</a:t>
            </a:r>
          </a:p>
          <a:p>
            <a:pPr lvl="0"/>
            <a:r>
              <a:rPr/>
              <a:t>Weekly Workshop Zoom link - https://illinois.zoom.us/j/86072392676?pwd=2jtxdxceBVvTv2BSxnbMoS0mmFkvwV.1</a:t>
            </a:r>
          </a:p>
          <a:p>
            <a:pPr lvl="0"/>
            <a:r>
              <a:rPr/>
              <a:t>Google doc - https://docs.google.com/document/d/1ilFZ02OM83n-mnHsmUPPMgE61k7NIAG4ZB0cX5Nc2BY/edit?tab=t.0#heading=h.nrro8a66e42m</a:t>
            </a:r>
          </a:p>
          <a:p>
            <a:pPr lvl="0" indent="0">
              <a:buNone/>
            </a:pPr>
            <a:r>
              <a:rPr>
                <a:latin typeface="Courier"/>
              </a:rPr>
              <a:t>Welcome to *Introduction to Generative AI for Education*!
What's this course about? Why does this course exist? In 2026, in some sense, we no longer need a course introducing us to Generative AI - for education or for anything else. It might even seem, for those of us following the latest developments of OpenAI's ChatGPT, Anthropic's Claude, or new agentic systems like OpenClaw, as though we are even reaching the point of *singularity* in the field of education. A point at which, at least for self-paced adult learners, the role of traditional education might be receding into the shadows of tradition itself.
This course naturally contests this characterization. But in 2026 it can seem difficult to how to approach a technology that has become so popular precisely because it is "professorial". The approach we will take will lean in on the idea that "generative AI" is an object we need to approach from several perspectives or lens. Accordingly, each week after this one will outline one of these perspectives - historical, technological, practioner, critical, pedagogical and futurological. These lens do not comprise a single coherent doctrine of AI - and I will be encouraging you to notice and document the tensions between them. But they will help us move away from can at times appear narrow discourses of unbridled hope or hopeless fear. By the end of the course, I am hoping these different perspectives will each introduce AI in a way that adds something to your own theory and practice.
For this week there are no readings. We will be introducing ourselves - sharing something of our experiences as researchers and practitioners in AI – and I will also discuss the assessment and structure for the course in more detail. Look forward to seeing you next week!
Additional comments:
The large number of students here already signals a strong interest all the same. It is as though despite the vast volumes of materials about Generative AI - much generated of course by generative AI itself - there is still something we wish to get out of active discussion of the topic. 
The course was first run by me last year, and the approach will be largely the same. However I have expanded what was 90-120 minute sessions into a full 2 hours 50 minute session, as I felt we were frequently short of time for discussions and practice. So nominally we'll blocking out the time if we need it - with a 10 minute break roughly half way through. 
Each session, including today, will be run as a workshop - a mix of theory, discussion and practice.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a:r>
              <a:rPr/>
              <a:t>Develop an understanding of generative AI according to the six themes: Historical; Technological; Practioner; Critical; Pedagogical; Futurological</a:t>
            </a:r>
          </a:p>
          <a:p>
            <a:pPr lvl="0"/>
            <a:r>
              <a:rPr/>
              <a:t>Respond to AI with a self-styled “intervention” that addresses a pedagogical or social challenge</a:t>
            </a:r>
          </a:p>
          <a:p>
            <a:pPr lvl="0"/>
            <a:r>
              <a:rPr/>
              <a:t>Be prepared to address a range of scenarios raised by AI in education</a:t>
            </a:r>
          </a:p>
          <a:p>
            <a:pPr lvl="0" indent="0" marL="0">
              <a:buNone/>
            </a:pPr>
            <a:r>
              <a:rPr/>
              <a:t>From the course description: https://ldlprogram.web.illinois.edu/overview/course-descriptions/</a:t>
            </a:r>
          </a:p>
          <a:p>
            <a:pPr lvl="0" indent="0" marL="1270000">
              <a:buNone/>
            </a:pPr>
            <a:r>
              <a:rPr sz="2000"/>
              <a:t>Explores applications of Generative AI in Education. Topics include: AI predecessors (symbolic, data-driven, and connectionist AI); Large Language Models and statistical approaches to meaning in text; machine learning (supervised, unsupervised and reinforcement learning, including deep learning and neural nets); chatbot architectures and prompt engineering; fine-tuning for domain-specific applications; multimodal AI; guardrails (including managing AI bias, “jailbreaks,” “hallucinations,” explainability, intellectual property, privacy and security); and applications of Generative AI in education</a:t>
            </a:r>
          </a:p>
          <a:p>
            <a:pPr lvl="0" indent="0" marL="1270000">
              <a:buNone/>
            </a:pPr>
            <a:r>
              <a:rPr sz="2000"/>
              <a:t>All required material (video lectures, readings etc.) will be provided to students, as per the tentative schedule below.</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Contact Details</a:t>
            </a:r>
          </a:p>
        </p:txBody>
      </p:sp>
      <p:sp>
        <p:nvSpPr>
          <p:cNvPr id="3" name="Content Placeholder 2"/>
          <p:cNvSpPr>
            <a:spLocks noGrp="1"/>
          </p:cNvSpPr>
          <p:nvPr>
            <p:ph idx="1"/>
          </p:nvPr>
        </p:nvSpPr>
        <p:spPr/>
        <p:txBody>
          <a:bodyPr/>
          <a:lstStyle/>
          <a:p>
            <a:pPr lvl="0" indent="0" marL="0">
              <a:buNone/>
            </a:pPr>
            <a:r>
              <a:rPr/>
              <a:t>Dr Liam Magee Email: lmagee@illinois.edu No office hours or TA; can meet by appointment. Will aim to be responsive.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Information</a:t>
            </a:r>
          </a:p>
        </p:txBody>
      </p:sp>
      <p:sp>
        <p:nvSpPr>
          <p:cNvPr id="3" name="Content Placeholder 2"/>
          <p:cNvSpPr>
            <a:spLocks noGrp="1"/>
          </p:cNvSpPr>
          <p:nvPr>
            <p:ph idx="1"/>
          </p:nvPr>
        </p:nvSpPr>
        <p:spPr/>
        <p:txBody>
          <a:bodyPr/>
          <a:lstStyle/>
          <a:p>
            <a:pPr lvl="0" indent="0" marL="0">
              <a:buNone/>
            </a:pPr>
            <a:r>
              <a:rPr/>
              <a:t>Weekly Workshops: </a:t>
            </a:r>
            <a:r>
              <a:rPr b="1"/>
              <a:t>Mondays, March 23 to May 4, 5:30 - 8:20</a:t>
            </a:r>
          </a:p>
          <a:p>
            <a:pPr lvl="0" indent="0" marL="0">
              <a:buNone/>
            </a:pPr>
            <a:r>
              <a:rPr/>
              <a:t>Likely 2x</a:t>
            </a:r>
            <a:br/>
            <a:r>
              <a:rPr/>
              <a:t>- Theory / Lecture - ~30 minutes - Breakout rooms / Group Discussion / Readings - ~30 minutes - Practice - ~30 minutes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Structure</a:t>
            </a:r>
          </a:p>
        </p:txBody>
      </p:sp>
      <p:sp>
        <p:nvSpPr>
          <p:cNvPr id="3" name="Content Placeholder 2"/>
          <p:cNvSpPr>
            <a:spLocks noGrp="1"/>
          </p:cNvSpPr>
          <p:nvPr>
            <p:ph idx="1"/>
          </p:nvPr>
        </p:nvSpPr>
        <p:spPr/>
        <p:txBody>
          <a:bodyPr/>
          <a:lstStyle/>
          <a:p>
            <a:pPr lvl="0" indent="0" marL="0">
              <a:buNone/>
            </a:pPr>
            <a:r>
              <a:rPr/>
              <a:t>Built around 6 weekly themes:</a:t>
            </a:r>
          </a:p>
          <a:p>
            <a:pPr lvl="0" indent="0" marL="0">
              <a:buNone/>
            </a:pPr>
            <a:r>
              <a:rPr/>
              <a:t>March 23 - Week 1: Introduction March 30 - Week 2: Historical Lens April 6 - Week 3: Technological Lens April 13 - Week 4: Practioner Lens April 20 - Week 5: Critical Lens April 27 - Week 6: Pedagogical Lens May 4 - Week 7: Futurological Lens</a:t>
            </a:r>
          </a:p>
          <a:p>
            <a:pPr lvl="0" indent="0">
              <a:buNone/>
            </a:pPr>
            <a:r>
              <a:rPr>
                <a:latin typeface="Courier"/>
              </a:rPr>
              <a:t>Aside from this week, each week will have a specific AI theme or "lens" - a way of viewing, understanding and applying AI in the context of education. I'm aware many of you are teachers, and might be undertaking this course with different motives: to think about how to improve lesson plans with AI; to teach students about AI; to develop policies to address AI plagiarism. 
</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Assessment</a:t>
            </a:r>
          </a:p>
        </p:txBody>
      </p:sp>
      <p:sp>
        <p:nvSpPr>
          <p:cNvPr id="3" name="Content Placeholder 2"/>
          <p:cNvSpPr>
            <a:spLocks noGrp="1"/>
          </p:cNvSpPr>
          <p:nvPr>
            <p:ph idx="1"/>
          </p:nvPr>
        </p:nvSpPr>
        <p:spPr/>
        <p:txBody>
          <a:bodyPr/>
          <a:lstStyle/>
          <a:p>
            <a:pPr lvl="0"/>
            <a:r>
              <a:rPr/>
              <a:t>Formative: six responses to each week’s questions </a:t>
            </a:r>
            <a:r>
              <a:rPr b="1"/>
              <a:t>(6 x 5% = 30%)</a:t>
            </a:r>
          </a:p>
          <a:p>
            <a:pPr lvl="1"/>
            <a:r>
              <a:rPr/>
              <a:t>Due midnight Sunday of the following week</a:t>
            </a:r>
          </a:p>
          <a:p>
            <a:pPr lvl="0"/>
            <a:r>
              <a:rPr/>
              <a:t>Summative - an </a:t>
            </a:r>
            <a:r>
              <a:rPr i="1"/>
              <a:t>intervention</a:t>
            </a:r>
            <a:r>
              <a:rPr/>
              <a:t>: </a:t>
            </a:r>
            <a:r>
              <a:rPr b="1"/>
              <a:t>70%</a:t>
            </a:r>
          </a:p>
          <a:p>
            <a:pPr lvl="1"/>
            <a:r>
              <a:rPr/>
              <a:t>Due May 16 11:59PM</a:t>
            </a:r>
          </a:p>
          <a:p>
            <a:pPr lvl="1"/>
            <a:r>
              <a:rPr/>
              <a:t>Interim checkpoints:</a:t>
            </a:r>
          </a:p>
          <a:p>
            <a:pPr lvl="2"/>
            <a:r>
              <a:rPr/>
              <a:t>Week 4: Demonstrations of AI use</a:t>
            </a:r>
          </a:p>
          <a:p>
            <a:pPr lvl="2"/>
            <a:r>
              <a:rPr/>
              <a:t>Week 7: Showcase the “interventions” - virtual conference, opportunity for peer feedback.</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Formative Assessment Building: Weekly Tasks</a:t>
            </a:r>
          </a:p>
        </p:txBody>
      </p:sp>
      <p:sp>
        <p:nvSpPr>
          <p:cNvPr id="3" name="Content Placeholder 2"/>
          <p:cNvSpPr>
            <a:spLocks noGrp="1"/>
          </p:cNvSpPr>
          <p:nvPr>
            <p:ph idx="1"/>
          </p:nvPr>
        </p:nvSpPr>
        <p:spPr/>
        <p:txBody>
          <a:bodyPr/>
          <a:lstStyle/>
          <a:p>
            <a:pPr lvl="0" indent="0" marL="0">
              <a:buNone/>
            </a:pPr>
            <a:r>
              <a:rPr/>
              <a:t>All assessments are due </a:t>
            </a:r>
            <a:r>
              <a:rPr b="1"/>
              <a:t>Sunday midnight CST</a:t>
            </a:r>
            <a:r>
              <a:rPr/>
              <a:t> of the corresponding week. Six weekly tasks x 5% per cent = 30% overall grade. Each response builds towards the final assessment. Aim to write 300-500 words per week.</a:t>
            </a:r>
          </a:p>
          <a:p>
            <a:pPr lvl="0" indent="0" marL="0">
              <a:buNone/>
            </a:pPr>
            <a:r>
              <a:rPr b="1"/>
              <a:t>Week 2 (due April 5 11:59PM): Brainstorming an “Intervention” </a:t>
            </a:r>
            <a:r>
              <a:rPr/>
              <a:t> Questions: what about the history of AI has interested you? Are you surprised with where things have arrived at? What is it you feel most needs saying about AI today?</a:t>
            </a:r>
          </a:p>
          <a:p>
            <a:pPr lvl="0" indent="0" marL="0">
              <a:buNone/>
            </a:pPr>
            <a:r>
              <a:rPr b="1"/>
              <a:t>Week 3 (due April 12 11:59PM): Storyboarding</a:t>
            </a:r>
            <a:r>
              <a:rPr/>
              <a:t> Questions: What about the technical foundations might be important to understand? How much does the non-expert need to know? What format &amp; genre are you thinking about?</a:t>
            </a:r>
          </a:p>
          <a:p>
            <a:pPr lvl="0" indent="0" marL="0">
              <a:buNone/>
            </a:pPr>
            <a:r>
              <a:rPr b="1"/>
              <a:t>Week 4 (due April 19 11:59PM): Practicing AI</a:t>
            </a:r>
            <a:r>
              <a:rPr/>
              <a:t> Questions: what parts of AI interest you most? Text scaffolding? Code generation? Image / video / music production? Having a “guide”? What are emerging best practices for AI use? and what works for you?</a:t>
            </a:r>
          </a:p>
          <a:p>
            <a:pPr lvl="0" indent="0" marL="0">
              <a:buNone/>
            </a:pPr>
            <a:r>
              <a:rPr b="1"/>
              <a:t>Week 5 (due April 26 11:59PM): Developing an Edge</a:t>
            </a:r>
            <a:r>
              <a:rPr/>
              <a:t> Questions: what criticisms of AI resonate for you? Are you optimistic some / all can or have been addressed? What, conversely, that no overnight AI update is likely to “fix”? And how will you communicate this in your intervention?</a:t>
            </a:r>
          </a:p>
          <a:p>
            <a:pPr lvl="0" indent="0" marL="0">
              <a:buNone/>
            </a:pPr>
            <a:r>
              <a:rPr b="1"/>
              <a:t>Week 6 (due April May 2 11:59PM): Consider the Teaching “Moment”</a:t>
            </a:r>
            <a:r>
              <a:rPr/>
              <a:t> Questions: what would you want others to know about AI? Is your lesson direct (e.g. “here’s the lesson…”) or indirect (e.g. “something to think about”)? What about this could you carry across to a classroom, and at what levels?</a:t>
            </a:r>
          </a:p>
          <a:p>
            <a:pPr lvl="0" indent="0" marL="0">
              <a:buNone/>
            </a:pPr>
            <a:r>
              <a:rPr b="1"/>
              <a:t>Week 7 (due May 9 11:59PM): Showcasing the Intervention</a:t>
            </a:r>
            <a:r>
              <a:rPr/>
              <a:t> Questions: how did others respond to your intervention? What worked, and what needs worked? What does your intervention teach us about the future? What did you learn yourself?</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Summative Term Assessment: An “Intervention”</a:t>
            </a:r>
          </a:p>
        </p:txBody>
      </p:sp>
      <p:sp>
        <p:nvSpPr>
          <p:cNvPr id="3" name="Content Placeholder 2"/>
          <p:cNvSpPr>
            <a:spLocks noGrp="1"/>
          </p:cNvSpPr>
          <p:nvPr>
            <p:ph idx="1"/>
          </p:nvPr>
        </p:nvSpPr>
        <p:spPr/>
        <p:txBody>
          <a:bodyPr/>
          <a:lstStyle/>
          <a:p>
            <a:pPr lvl="0" indent="0" marL="0">
              <a:buNone/>
            </a:pPr>
            <a:r>
              <a:rPr/>
              <a:t>What kind of intervention? Any of the following artefacts </a:t>
            </a:r>
            <a:r>
              <a:rPr b="1"/>
              <a:t>[1]</a:t>
            </a:r>
            <a:r>
              <a:rPr/>
              <a:t>: - Presentation (15-20 slides) - A0 Conference Poster - Research Experiment / Paper - School Curriculum - Policy Document - Comic strip - Movie - Mock product pitch / ad campaign for a new AI service - Include details of: products/services; prompts; ~cost (if any - note use of free services is completely fine) - Intervention should involve use of at least 3 of the lens - Respond to a key challenge, question or issue about technology</a:t>
            </a:r>
          </a:p>
          <a:p>
            <a:pPr lvl="0" indent="0" marL="0">
              <a:buNone/>
            </a:pPr>
            <a:r>
              <a:rPr i="1"/>
              <a:t>And</a:t>
            </a:r>
            <a:r>
              <a:rPr/>
              <a:t> a </a:t>
            </a:r>
            <a:r>
              <a:rPr b="1"/>
              <a:t>[2]</a:t>
            </a:r>
            <a:r>
              <a:rPr/>
              <a:t> 500-1,000 word reflection / artist’s statement / director’s pitch / researcher’s statement etc (with sources) </a:t>
            </a:r>
            <a:r>
              <a:rPr i="1"/>
              <a:t>And</a:t>
            </a:r>
            <a:r>
              <a:rPr/>
              <a:t> a </a:t>
            </a:r>
            <a:r>
              <a:rPr b="1"/>
              <a:t>[3]</a:t>
            </a:r>
            <a:r>
              <a:rPr/>
              <a:t> critical 1,000-2,000 word “assessment” of the intervention (follows from week 7 showcase)</a:t>
            </a:r>
          </a:p>
          <a:p>
            <a:pPr lvl="0" indent="0" marL="0">
              <a:buNone/>
            </a:pPr>
            <a:r>
              <a:rPr b="1"/>
              <a:t>Week 8 (due May 16 11:59PM): Refinement, Reflection, Submission</a:t>
            </a:r>
          </a:p>
          <a:p>
            <a:pPr lvl="0" indent="0">
              <a:buNone/>
            </a:pPr>
            <a:r>
              <a:rPr>
                <a:latin typeface="Courier"/>
              </a:rPr>
              <a:t>Task: Develop an **intervention** in the field of education that employs AI in a significant but critical way.
What kind of intervention? Any of the following:
 - Presentation (15-20 slides)
 - A0 Conference Poster 
 - Research Paper
 - Curriculum
 - Policy Document
It should aim to integrate something of each of six “lenses” we’ve introduced in this course: historical, technological, practitioner, critical, pedagogical, futurological.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Assessment Criteria</a:t>
            </a:r>
          </a:p>
        </p:txBody>
      </p:sp>
      <p:sp>
        <p:nvSpPr>
          <p:cNvPr id="3" name="Content Placeholder 2"/>
          <p:cNvSpPr>
            <a:spLocks noGrp="1"/>
          </p:cNvSpPr>
          <p:nvPr>
            <p:ph idx="1"/>
          </p:nvPr>
        </p:nvSpPr>
        <p:spPr/>
        <p:txBody>
          <a:bodyPr/>
          <a:lstStyle/>
          <a:p>
            <a:pPr lvl="0" indent="0" marL="0">
              <a:buNone/>
            </a:pPr>
            <a:r>
              <a:rPr b="1"/>
              <a:t>Formative Weekly Responses</a:t>
            </a:r>
            <a:r>
              <a:rPr/>
              <a:t> - Cite at least one of the weekly readings / materials - Demonstate critical engagement with the material - Appropriate length, tone, citation practices - Accumulates into </a:t>
            </a:r>
            <a:r>
              <a:rPr i="1"/>
              <a:t>summative assessment</a:t>
            </a:r>
          </a:p>
          <a:p>
            <a:pPr lvl="0" indent="0" marL="0">
              <a:buNone/>
            </a:pPr>
            <a:r>
              <a:rPr b="1"/>
              <a:t>Summative Final Assessment</a:t>
            </a:r>
            <a:r>
              <a:rPr/>
              <a:t> - </a:t>
            </a:r>
            <a:r>
              <a:rPr i="1"/>
              <a:t>Creative responsiveness</a:t>
            </a:r>
            <a:r>
              <a:rPr/>
              <a:t> of intervention to challenges and opportunities of AI - Evidence of </a:t>
            </a:r>
            <a:r>
              <a:rPr i="1"/>
              <a:t>critical engagement</a:t>
            </a:r>
            <a:r>
              <a:rPr/>
              <a:t> to course concepts and materials - </a:t>
            </a:r>
            <a:r>
              <a:rPr i="1"/>
              <a:t>Coherence</a:t>
            </a:r>
            <a:r>
              <a:rPr/>
              <a:t> and </a:t>
            </a:r>
            <a:r>
              <a:rPr i="1"/>
              <a:t>rigor</a:t>
            </a:r>
            <a:r>
              <a:rPr/>
              <a:t> of accompanying statement - Evidence of </a:t>
            </a:r>
            <a:r>
              <a:rPr i="1"/>
              <a:t>reflection</a:t>
            </a:r>
            <a:r>
              <a:rPr/>
              <a:t> and </a:t>
            </a:r>
            <a:r>
              <a:rPr i="1"/>
              <a:t>reflexivity</a:t>
            </a:r>
            <a:r>
              <a:rPr/>
              <a:t> in your own assessment - Incorporation of at least one recognizable educational or social </a:t>
            </a:r>
            <a:r>
              <a:rPr i="1"/>
              <a:t>theoretical</a:t>
            </a:r>
            <a:r>
              <a:rPr/>
              <a:t> orientation that anchors the intervention (we will discuss this) - Use of at least </a:t>
            </a:r>
            <a:r>
              <a:rPr i="1"/>
              <a:t>six</a:t>
            </a:r>
            <a:r>
              <a:rPr/>
              <a:t> relevant academic references - Assessed in </a:t>
            </a:r>
            <a:r>
              <a:rPr b="1"/>
              <a:t>total</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Process of submission: Why a single Google Doc?</a:t>
            </a:r>
          </a:p>
        </p:txBody>
      </p:sp>
      <p:sp>
        <p:nvSpPr>
          <p:cNvPr id="3" name="Content Placeholder 2"/>
          <p:cNvSpPr>
            <a:spLocks noGrp="1"/>
          </p:cNvSpPr>
          <p:nvPr>
            <p:ph idx="1"/>
          </p:nvPr>
        </p:nvSpPr>
        <p:spPr/>
        <p:txBody>
          <a:bodyPr/>
          <a:lstStyle/>
          <a:p>
            <a:pPr lvl="0"/>
            <a:r>
              <a:rPr/>
              <a:t>Why? Weekly accumulation becomes easier to track for me</a:t>
            </a:r>
          </a:p>
          <a:p>
            <a:pPr lvl="0"/>
            <a:r>
              <a:rPr/>
              <a:t>Keeps the idea of workshops / brainstorming / iterating</a:t>
            </a:r>
          </a:p>
          <a:p>
            <a:pPr lvl="0"/>
            <a:r>
              <a:rPr/>
              <a:t>Enables peer sharing / review</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Note on AI use for this course</a:t>
            </a:r>
          </a:p>
        </p:txBody>
      </p:sp>
      <p:sp>
        <p:nvSpPr>
          <p:cNvPr id="3" name="Content Placeholder 2"/>
          <p:cNvSpPr>
            <a:spLocks noGrp="1"/>
          </p:cNvSpPr>
          <p:nvPr>
            <p:ph idx="1"/>
          </p:nvPr>
        </p:nvSpPr>
        <p:spPr/>
        <p:txBody>
          <a:bodyPr/>
          <a:lstStyle/>
          <a:p>
            <a:pPr lvl="0" indent="0" marL="0">
              <a:buNone/>
            </a:pPr>
            <a:r>
              <a:rPr/>
              <a:t>AI use with </a:t>
            </a:r>
            <a:r>
              <a:rPr i="1"/>
              <a:t>acknowledgement</a:t>
            </a:r>
            <a:r>
              <a:rPr/>
              <a:t> is </a:t>
            </a:r>
            <a:r>
              <a:rPr i="1"/>
              <a:t>encouraged</a:t>
            </a:r>
            <a:r>
              <a:rPr/>
              <a:t> for the intervention artefact [1] itself. We will be discussing how this might work as we progress through the course. For weekly activities, and for reflection [2] and assessment [3] parts of the final project, it shouldn’t be necessary or desirable.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Note on Accessibility</a:t>
            </a:r>
          </a:p>
        </p:txBody>
      </p:sp>
      <p:sp>
        <p:nvSpPr>
          <p:cNvPr id="3" name="Content Placeholder 2"/>
          <p:cNvSpPr>
            <a:spLocks noGrp="1"/>
          </p:cNvSpPr>
          <p:nvPr>
            <p:ph idx="1"/>
          </p:nvPr>
        </p:nvSpPr>
        <p:spPr/>
        <p:txBody>
          <a:bodyPr/>
          <a:lstStyle/>
          <a:p>
            <a:pPr lvl="0" indent="0" marL="0">
              <a:buNone/>
            </a:pPr>
            <a:r>
              <a:rPr/>
              <a:t>This course is aimed at providing wide exposore to range of tools as well as readings. I will be checking content for WCAG 2.1 Level AA compliance, but please let me know if any materials are inaccessible.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Reading Group Carousels</a:t>
            </a:r>
          </a:p>
          <a:p>
            <a:pPr lvl="0"/>
            <a:r>
              <a:rPr/>
              <a:t>Rotating groups: pick a reading, discuss</a:t>
            </a:r>
          </a:p>
          <a:p>
            <a:pPr lvl="0"/>
            <a:r>
              <a:rPr/>
              <a:t>Choose a spokesperson</a:t>
            </a:r>
          </a:p>
          <a:p>
            <a:pPr lvl="0"/>
            <a:r>
              <a:rPr/>
              <a:t>Return to the wider group: present the reading and respond</a:t>
            </a:r>
          </a:p>
          <a:p>
            <a:pPr lvl="0" indent="0">
              <a:buNone/>
            </a:pPr>
            <a:r>
              <a:rPr>
                <a:latin typeface="Courier"/>
              </a:rPr>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Dicusssion &amp; Introductions</a:t>
            </a:r>
          </a:p>
        </p:txBody>
      </p:sp>
      <p:sp>
        <p:nvSpPr>
          <p:cNvPr id="3" name="Content Placeholder 2"/>
          <p:cNvSpPr>
            <a:spLocks noGrp="1"/>
          </p:cNvSpPr>
          <p:nvPr>
            <p:ph idx="1"/>
          </p:nvPr>
        </p:nvSpPr>
        <p:spPr/>
        <p:txBody>
          <a:bodyPr/>
          <a:lstStyle/>
          <a:p>
            <a:pPr lvl="0" indent="0" marL="0">
              <a:buNone/>
            </a:pPr>
            <a:r>
              <a:rPr/>
              <a:t>6 Questions:</a:t>
            </a:r>
          </a:p>
          <a:p>
            <a:pPr lvl="0" indent="-342900" marL="342900">
              <a:buAutoNum type="arabicPeriod"/>
            </a:pPr>
            <a:r>
              <a:rPr/>
              <a:t>What has been your experience of generative AI in education?</a:t>
            </a:r>
          </a:p>
          <a:p>
            <a:pPr lvl="0" indent="-342900" marL="342900">
              <a:buAutoNum type="arabicPeriod"/>
            </a:pPr>
            <a:r>
              <a:rPr/>
              <a:t>What is your level of technical expertise?</a:t>
            </a:r>
          </a:p>
          <a:p>
            <a:pPr lvl="0" indent="-342900" marL="342900">
              <a:buAutoNum type="arabicPeriod"/>
            </a:pPr>
            <a:r>
              <a:rPr/>
              <a:t>What criticisms have you had of generative AI?</a:t>
            </a:r>
          </a:p>
          <a:p>
            <a:pPr lvl="0" indent="-342900" marL="342900">
              <a:buAutoNum type="arabicPeriod"/>
            </a:pPr>
            <a:r>
              <a:rPr/>
              <a:t>How have you applied it - in teaching or elsewhere, in professional or personal life?</a:t>
            </a:r>
          </a:p>
          <a:p>
            <a:pPr lvl="0" indent="-342900" marL="342900">
              <a:buAutoNum type="arabicPeriod"/>
            </a:pPr>
            <a:r>
              <a:rPr/>
              <a:t>What are your hopes and fears about the future of AI?</a:t>
            </a:r>
          </a:p>
          <a:p>
            <a:pPr lvl="0" indent="-342900" marL="342900">
              <a:buAutoNum type="arabicPeriod"/>
            </a:pPr>
            <a:r>
              <a:rPr/>
              <a:t>What do you think is still needed for generative AI in education today?</a:t>
            </a:r>
          </a:p>
          <a:p>
            <a:pPr lvl="0" indent="0">
              <a:buNone/>
            </a:pPr>
            <a:r>
              <a:rPr>
                <a:latin typeface="Courier"/>
              </a:rPr>
              <a:t>
Introduce yourself - who you are, your professional background, your interest in education, your experience with AI.</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Break</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in 2026: An Opionated Take</a:t>
            </a:r>
          </a:p>
        </p:txBody>
      </p:sp>
      <p:sp>
        <p:nvSpPr>
          <p:cNvPr id="3" name="Content Placeholder 2"/>
          <p:cNvSpPr>
            <a:spLocks noGrp="1"/>
          </p:cNvSpPr>
          <p:nvPr>
            <p:ph idx="1"/>
          </p:nvPr>
        </p:nvSpPr>
        <p:spPr/>
        <p:txBody>
          <a:bodyPr/>
          <a:lstStyle/>
          <a:p>
            <a:pPr lvl="0" indent="0" marL="0">
              <a:buNone/>
            </a:pPr>
            <a:r>
              <a:rPr/>
              <a:t>Key Trends: - AI Consolidation into “Big Three”: OpenAI’s ChatGPT, Anthropic’s Claude, Google’s Gemini - Big names have slowed down: Xai, Meta, Microsoft Copilot - Apple: using Google Gemini - Amazon: investor in Anthropic, provider for OpenAI</a:t>
            </a:r>
          </a:p>
          <a:p>
            <a:pPr lvl="0" indent="0" marL="0">
              <a:buNone/>
            </a:pPr>
            <a:r>
              <a:rPr/>
              <a: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Consolidation</a:t>
            </a:r>
          </a:p>
        </p:txBody>
      </p:sp>
      <p:sp>
        <p:nvSpPr>
          <p:cNvPr id="3" name="Content Placeholder 2"/>
          <p:cNvSpPr>
            <a:spLocks noGrp="1"/>
          </p:cNvSpPr>
          <p:nvPr>
            <p:ph idx="1"/>
          </p:nvPr>
        </p:nvSpPr>
        <p:spPr/>
        <p:txBody>
          <a:bodyPr/>
          <a:lstStyle/>
          <a:p>
            <a:pPr lvl="0"/>
            <a:r>
              <a:rPr/>
              <a:t>“Big Three”: OpenAI’s ChatGPT, Anthropic’s Claude, Google’s Gemini</a:t>
            </a:r>
          </a:p>
          <a:p>
            <a:pPr lvl="1"/>
            <a:r>
              <a:rPr/>
              <a:t>Big names have slowed down: Xai, Meta, Microsoft Copilot</a:t>
            </a:r>
          </a:p>
          <a:p>
            <a:pPr lvl="1"/>
            <a:r>
              <a:rPr/>
              <a:t>Apple: using Google Gemini</a:t>
            </a:r>
          </a:p>
          <a:p>
            <a:pPr lvl="1"/>
            <a:r>
              <a:rPr/>
              <a:t>Amazon: investor in Anthropic, provider for OpenAI</a:t>
            </a:r>
          </a:p>
          <a:p>
            <a:pPr lvl="0"/>
            <a:r>
              <a:rPr/>
              <a:t>Shift from free / $20 per month to:</a:t>
            </a:r>
          </a:p>
          <a:p>
            <a:pPr lvl="1"/>
            <a:r>
              <a:rPr/>
              <a:t>Advertising (ChatGPT)</a:t>
            </a:r>
          </a:p>
          <a:p>
            <a:pPr lvl="1"/>
            <a:r>
              <a:rPr/>
              <a:t>Higher tier models ($200 per month)</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Rise of open source models</a:t>
            </a:r>
          </a:p>
        </p:txBody>
      </p:sp>
      <p:sp>
        <p:nvSpPr>
          <p:cNvPr id="3" name="Content Placeholder 2"/>
          <p:cNvSpPr>
            <a:spLocks noGrp="1"/>
          </p:cNvSpPr>
          <p:nvPr>
            <p:ph idx="1"/>
          </p:nvPr>
        </p:nvSpPr>
        <p:spPr/>
        <p:txBody>
          <a:bodyPr/>
          <a:lstStyle/>
          <a:p>
            <a:pPr lvl="0"/>
            <a:r>
              <a:rPr/>
              <a:t>Mostly developed in China</a:t>
            </a:r>
          </a:p>
          <a:p>
            <a:pPr lvl="1"/>
            <a:r>
              <a:rPr/>
              <a:t>Xiaomi</a:t>
            </a:r>
          </a:p>
          <a:p>
            <a:pPr lvl="1"/>
            <a:r>
              <a:rPr/>
              <a:t>Alibaba Qwen</a:t>
            </a:r>
          </a:p>
          <a:p>
            <a:pPr lvl="1"/>
            <a:r>
              <a:rPr/>
              <a:t>Kimi</a:t>
            </a:r>
          </a:p>
          <a:p>
            <a:pPr lvl="1"/>
            <a:r>
              <a:rPr/>
              <a:t>Minimax</a:t>
            </a:r>
          </a:p>
          <a:p>
            <a:pPr lvl="1"/>
            <a:r>
              <a:rPr/>
              <a:t>DeepSeek</a:t>
            </a:r>
          </a:p>
          <a:p>
            <a:pPr lvl="0"/>
            <a:r>
              <a:rPr/>
              <a:t>Mistral (France)</a:t>
            </a:r>
          </a:p>
          <a:p>
            <a:pPr lvl="0"/>
            <a:r>
              <a:rPr/>
              <a:t>Nemotron (Nvidia)</a:t>
            </a:r>
          </a:p>
          <a:p>
            <a:pPr lvl="0"/>
            <a:r>
              <a:rPr/>
              <a:t>Estimated 3-9 months beyond commercial models</a:t>
            </a:r>
          </a:p>
          <a:p>
            <a:pPr lvl="0"/>
            <a:r>
              <a:rPr/>
              <a:t>Issues around “benchmaxxing”; IP theft(!); hosting / exfiltration of data</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Contradictory tendencies: Increasing demand…</a:t>
            </a:r>
          </a:p>
        </p:txBody>
      </p:sp>
      <p:sp>
        <p:nvSpPr>
          <p:cNvPr id="3" name="Content Placeholder 2"/>
          <p:cNvSpPr>
            <a:spLocks noGrp="1"/>
          </p:cNvSpPr>
          <p:nvPr>
            <p:ph idx="1"/>
          </p:nvPr>
        </p:nvSpPr>
        <p:spPr/>
        <p:txBody>
          <a:bodyPr/>
          <a:lstStyle/>
          <a:p>
            <a:pPr lvl="0"/>
            <a:r>
              <a:rPr/>
              <a:t>Scaling laws (Week 3)</a:t>
            </a:r>
          </a:p>
          <a:p>
            <a:pPr lvl="0"/>
            <a:r>
              <a:rPr/>
              <a:t>Bigger models</a:t>
            </a:r>
          </a:p>
          <a:p>
            <a:pPr lvl="0"/>
            <a:r>
              <a:rPr/>
              <a:t>More “thinking” (inference) time</a:t>
            </a:r>
          </a:p>
          <a:p>
            <a:pPr lvl="0"/>
            <a:r>
              <a:rPr/>
              <a:t>Bigger data centers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also:</a:t>
            </a:r>
          </a:p>
        </p:txBody>
      </p:sp>
      <p:sp>
        <p:nvSpPr>
          <p:cNvPr id="3" name="Content Placeholder 2"/>
          <p:cNvSpPr>
            <a:spLocks noGrp="1"/>
          </p:cNvSpPr>
          <p:nvPr>
            <p:ph idx="1"/>
          </p:nvPr>
        </p:nvSpPr>
        <p:spPr/>
        <p:txBody>
          <a:bodyPr/>
          <a:lstStyle/>
          <a:p>
            <a:pPr lvl="0"/>
            <a:r>
              <a:rPr/>
              <a:t>More efficient GPUs (see Nvidia)</a:t>
            </a:r>
          </a:p>
          <a:p>
            <a:pPr lvl="0"/>
            <a:r>
              <a:rPr/>
              <a:t>Better algorithms (especially from Chinese labs)</a:t>
            </a:r>
          </a:p>
          <a:p>
            <a:pPr lvl="0"/>
            <a:r>
              <a:rPr/>
              <a:t>Better hardware (Apple): Open source models run locallly</a:t>
            </a:r>
          </a:p>
          <a:p>
            <a:pPr lvl="0" indent="0" marL="0">
              <a:buNone/>
            </a:pPr>
            <a:r>
              <a:rPr/>
              <a:t>In Workshop 4 we’ll be examining criticisms of the environmental and social costs of AI. These differing trends make long term estimation hard to predict.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Agentive AI</a:t>
            </a:r>
          </a:p>
        </p:txBody>
      </p:sp>
      <p:sp>
        <p:nvSpPr>
          <p:cNvPr id="3" name="Content Placeholder 2"/>
          <p:cNvSpPr>
            <a:spLocks noGrp="1"/>
          </p:cNvSpPr>
          <p:nvPr>
            <p:ph idx="1"/>
          </p:nvPr>
        </p:nvSpPr>
        <p:spPr/>
        <p:txBody>
          <a:bodyPr/>
          <a:lstStyle/>
          <a:p>
            <a:pPr lvl="0"/>
            <a:r>
              <a:rPr/>
              <a:t>Code automation</a:t>
            </a:r>
          </a:p>
          <a:p>
            <a:pPr lvl="1"/>
            <a:r>
              <a:rPr/>
              <a:t>OpenAI Codex</a:t>
            </a:r>
          </a:p>
          <a:p>
            <a:pPr lvl="1"/>
            <a:r>
              <a:rPr/>
              <a:t>Claude Code</a:t>
            </a:r>
          </a:p>
          <a:p>
            <a:pPr lvl="1"/>
            <a:r>
              <a:rPr/>
              <a:t>Google Gemini</a:t>
            </a:r>
          </a:p>
          <a:p>
            <a:pPr lvl="0"/>
            <a:r>
              <a:rPr/>
              <a:t>Computer use:</a:t>
            </a:r>
          </a:p>
          <a:p>
            <a:pPr lvl="1"/>
            <a:r>
              <a:rPr/>
              <a:t>OpenClaw - social media for chatbots</a:t>
            </a:r>
          </a:p>
          <a:p>
            <a:pPr lvl="1"/>
            <a:r>
              <a:rPr/>
              <a:t>Claude Cowork</a:t>
            </a:r>
          </a:p>
          <a:p>
            <a:pPr lvl="1"/>
            <a:r>
              <a:rPr/>
              <a:t>Embedded tools in MS Office</a:t>
            </a:r>
          </a:p>
          <a:p>
            <a:pPr lvl="0"/>
            <a:r>
              <a:rPr/>
              <a:t>Design:</a:t>
            </a:r>
          </a:p>
          <a:p>
            <a:pPr lvl="1"/>
            <a:r>
              <a:rPr/>
              <a:t>Google Stitch, Nano Banana 2</a:t>
            </a:r>
          </a:p>
          <a:p>
            <a:pPr lvl="1"/>
            <a:r>
              <a:rPr/>
              <a:t>Midjourney</a:t>
            </a:r>
          </a:p>
          <a:p>
            <a:pPr lvl="1"/>
            <a:r>
              <a:rPr/>
              <a:t>Embedded tools in Adobe, Figma etc</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Education Issues: Cons</a:t>
            </a:r>
          </a:p>
        </p:txBody>
      </p:sp>
      <p:sp>
        <p:nvSpPr>
          <p:cNvPr id="3" name="Content Placeholder 2"/>
          <p:cNvSpPr>
            <a:spLocks noGrp="1"/>
          </p:cNvSpPr>
          <p:nvPr>
            <p:ph idx="1"/>
          </p:nvPr>
        </p:nvSpPr>
        <p:spPr/>
        <p:txBody>
          <a:bodyPr/>
          <a:lstStyle/>
          <a:p>
            <a:pPr lvl="0"/>
            <a:r>
              <a:rPr/>
              <a:t>Plagiarism &amp; Cognitive Offloading</a:t>
            </a:r>
          </a:p>
          <a:p>
            <a:pPr lvl="0"/>
            <a:r>
              <a:rPr/>
              <a:t>Biased Results &amp; Unequal Access ($$$)</a:t>
            </a:r>
          </a:p>
          <a:p>
            <a:pPr lvl="0"/>
            <a:r>
              <a:rPr/>
              <a:t>Potential Obsolescence of Teachers?</a:t>
            </a:r>
          </a:p>
          <a:p>
            <a:pPr lvl="0"/>
            <a:r>
              <a:rPr/>
              <a:t>Perverse Effects: Automated Assignments &gt; Automated Grading</a:t>
            </a:r>
          </a:p>
          <a:p>
            <a:pPr lvl="1"/>
            <a:r>
              <a:rPr/>
              <a:t>Bernard Stiegler’s </a:t>
            </a:r>
            <a:r>
              <a:rPr i="1"/>
              <a:t>The Automatic Society</a:t>
            </a:r>
            <a:r>
              <a:rPr/>
              <a:t>?</a:t>
            </a:r>
          </a:p>
          <a:p>
            <a:pPr lvl="0"/>
            <a:r>
              <a:rPr/>
              <a:t>Subtle Changes: transfer of expertise from human to machine?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Education Issues: Pros</a:t>
            </a:r>
          </a:p>
        </p:txBody>
      </p:sp>
      <p:sp>
        <p:nvSpPr>
          <p:cNvPr id="3" name="Content Placeholder 2"/>
          <p:cNvSpPr>
            <a:spLocks noGrp="1"/>
          </p:cNvSpPr>
          <p:nvPr>
            <p:ph idx="1"/>
          </p:nvPr>
        </p:nvSpPr>
        <p:spPr/>
        <p:txBody>
          <a:bodyPr/>
          <a:lstStyle/>
          <a:p>
            <a:pPr lvl="0"/>
            <a:r>
              <a:rPr/>
              <a:t>Personalized, adaptive learning</a:t>
            </a:r>
          </a:p>
          <a:p>
            <a:pPr lvl="0"/>
            <a:r>
              <a:rPr/>
              <a:t>Accessibility</a:t>
            </a:r>
          </a:p>
          <a:p>
            <a:pPr lvl="0"/>
            <a:r>
              <a:rPr/>
              <a:t>Can support Universal Design for Learning</a:t>
            </a:r>
          </a:p>
          <a:p>
            <a:pPr lvl="1"/>
            <a:r>
              <a:rPr/>
              <a:t>Attractive as a form of inclusive education</a:t>
            </a:r>
          </a:p>
          <a:p>
            <a:pPr lvl="1"/>
            <a:r>
              <a:rPr/>
              <a:t>But expensive, time-consuming</a:t>
            </a:r>
          </a:p>
          <a:p>
            <a:pPr lvl="1"/>
            <a:r>
              <a:rPr/>
              <a:t>Can AI generate multiple forms of engagement, representation, activities?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However: “Bigger Picture” Issues</a:t>
            </a:r>
          </a:p>
        </p:txBody>
      </p:sp>
      <p:sp>
        <p:nvSpPr>
          <p:cNvPr id="3" name="Content Placeholder 2"/>
          <p:cNvSpPr>
            <a:spLocks noGrp="1"/>
          </p:cNvSpPr>
          <p:nvPr>
            <p:ph idx="1"/>
          </p:nvPr>
        </p:nvSpPr>
        <p:spPr/>
        <p:txBody>
          <a:bodyPr/>
          <a:lstStyle/>
          <a:p>
            <a:pPr lvl="0" indent="-342900" marL="342900">
              <a:buAutoNum type="arabicPeriod"/>
            </a:pPr>
            <a:r>
              <a:rPr/>
              <a:t>Predicted Erasure of White-Collar (Cognitive) Labor</a:t>
            </a:r>
          </a:p>
          <a:p>
            <a:pPr lvl="1"/>
            <a:r>
              <a:rPr/>
              <a:t>Programming</a:t>
            </a:r>
          </a:p>
          <a:p>
            <a:pPr lvl="1"/>
            <a:r>
              <a:rPr/>
              <a:t>Design</a:t>
            </a:r>
          </a:p>
          <a:p>
            <a:pPr lvl="1"/>
            <a:r>
              <a:rPr/>
              <a:t>Games</a:t>
            </a:r>
          </a:p>
          <a:p>
            <a:pPr lvl="1"/>
            <a:r>
              <a:rPr/>
              <a:t>Entry-level professions</a:t>
            </a:r>
          </a:p>
          <a:p>
            <a:pPr lvl="0" indent="-342900" marL="342900">
              <a:buAutoNum type="arabicPeriod"/>
            </a:pPr>
            <a:r>
              <a:rPr/>
              <a:t>What happens When AI works properly? Social media as Harbinger: Addictive, Compulsive AI; AI “Psychosis”</a:t>
            </a:r>
          </a:p>
          <a:p>
            <a:pPr lvl="0" indent="-342900" marL="342900">
              <a:buAutoNum type="arabicPeriod"/>
            </a:pPr>
            <a:r>
              <a:rPr/>
              <a:t>Concentration of Power: Owners of AI; Power Users of AI; The rest of us?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do we need to learn now? What do we need to teach?</a:t>
            </a:r>
          </a:p>
        </p:txBody>
      </p:sp>
      <p:sp>
        <p:nvSpPr>
          <p:cNvPr id="3" name="Content Placeholder 2"/>
          <p:cNvSpPr>
            <a:spLocks noGrp="1"/>
          </p:cNvSpPr>
          <p:nvPr>
            <p:ph idx="1"/>
          </p:nvPr>
        </p:nvSpPr>
        <p:spPr/>
        <p:txBody>
          <a:bodyPr/>
          <a:lstStyle/>
          <a:p>
            <a:pPr lvl="0" indent="0" marL="0">
              <a:buNone/>
            </a:pPr>
            <a:r>
              <a:rPr/>
              <a:t>No easy answers.</a:t>
            </a:r>
          </a:p>
          <a:p>
            <a:pPr lvl="0"/>
            <a:r>
              <a:rPr/>
              <a:t>“Core” Machine Learning? highly specialized (calculus, probability, linear algebra)</a:t>
            </a:r>
          </a:p>
          <a:p>
            <a:pPr lvl="0"/>
            <a:r>
              <a:rPr/>
              <a:t>“Prompt engineering”? But AI can write prompts…</a:t>
            </a:r>
          </a:p>
          <a:p>
            <a:pPr lvl="0"/>
            <a:r>
              <a:rPr/>
              <a:t>Hardware? Again, specialized - traditionally male dominated</a:t>
            </a:r>
          </a:p>
          <a:p>
            <a:pPr lvl="0"/>
            <a:r>
              <a:rPr/>
              <a:t>Services?</a:t>
            </a:r>
          </a:p>
          <a:p>
            <a:pPr lvl="1"/>
            <a:r>
              <a:rPr/>
              <a:t>plumbing, electrician - Jensen Huang - but what about robots?</a:t>
            </a:r>
          </a:p>
          <a:p>
            <a:pPr lvl="1"/>
            <a:r>
              <a:rPr/>
              <a:t>Care industries? (hospitals, childcare, counselling)</a:t>
            </a:r>
          </a:p>
          <a:p>
            <a:pPr lvl="0"/>
            <a:r>
              <a:rPr/>
              <a:t>Humanities? Peter Thiel</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Crisis in Higher Ed</a:t>
            </a:r>
          </a:p>
        </p:txBody>
      </p:sp>
      <p:sp>
        <p:nvSpPr>
          <p:cNvPr id="3" name="Content Placeholder 2"/>
          <p:cNvSpPr>
            <a:spLocks noGrp="1"/>
          </p:cNvSpPr>
          <p:nvPr>
            <p:ph idx="1"/>
          </p:nvPr>
        </p:nvSpPr>
        <p:spPr/>
        <p:txBody>
          <a:bodyPr/>
          <a:lstStyle/>
          <a:p>
            <a:pPr lvl="0"/>
            <a:r>
              <a:rPr/>
              <a:t>Spiralling costs</a:t>
            </a:r>
          </a:p>
          <a:p>
            <a:pPr lvl="0"/>
            <a:r>
              <a:rPr/>
              <a:t>Increased distrust in “traditional” knowledge, expertise (the COVID effect? Mis/disinformation?)</a:t>
            </a:r>
          </a:p>
          <a:p>
            <a:pPr lvl="0"/>
            <a:r>
              <a:rPr/>
              <a:t>Lack of effective pathways to professional, higher paid labor</a:t>
            </a:r>
          </a:p>
          <a:p>
            <a:pPr lvl="0"/>
            <a:r>
              <a:rPr/>
              <a:t>Not yet, but anticipated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a:t>
            </a:r>
            <a:r>
              <a:rPr i="1"/>
              <a:t>Geist</a:t>
            </a:r>
            <a:r>
              <a:rPr/>
              <a:t> in the Machine (Magee 2026)</a:t>
            </a:r>
          </a:p>
        </p:txBody>
      </p:sp>
      <p:sp>
        <p:nvSpPr>
          <p:cNvPr id="3" name="Content Placeholder 2"/>
          <p:cNvSpPr>
            <a:spLocks noGrp="1"/>
          </p:cNvSpPr>
          <p:nvPr>
            <p:ph idx="1"/>
          </p:nvPr>
        </p:nvSpPr>
        <p:spPr/>
        <p:txBody>
          <a:bodyPr/>
          <a:lstStyle/>
          <a:p>
            <a:pPr lvl="0"/>
            <a:r>
              <a:rPr/>
              <a:t>Geist in the Machine: Simulating Recognition and Inner Dialogue in AI-Mediated Teaching and Research - https://arxiv.org/abs/2603.10450</a:t>
            </a:r>
          </a:p>
          <a:p>
            <a:pPr lvl="0"/>
            <a:r>
              <a:rPr/>
              <a:t>What is it? Experiment over winter to test (a) approaches to AI teaching and (b) developments in AI research</a:t>
            </a:r>
          </a:p>
          <a:p>
            <a:pPr lvl="0"/>
            <a:r>
              <a:rPr/>
              <a:t>Builds upon earlier work (</a:t>
            </a:r>
            <a:r>
              <a:rPr i="1"/>
              <a:t>The Drama Machine</a:t>
            </a:r>
            <a:r>
              <a:rPr/>
              <a:t>, The Drama Machine: Simulating Character Development with LLM Agents)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Key Concepts</a:t>
            </a:r>
          </a:p>
        </p:txBody>
      </p:sp>
      <p:sp>
        <p:nvSpPr>
          <p:cNvPr id="3" name="Content Placeholder 2"/>
          <p:cNvSpPr>
            <a:spLocks noGrp="1"/>
          </p:cNvSpPr>
          <p:nvPr>
            <p:ph idx="1"/>
          </p:nvPr>
        </p:nvSpPr>
        <p:spPr/>
        <p:txBody>
          <a:bodyPr/>
          <a:lstStyle/>
          <a:p>
            <a:pPr lvl="0"/>
            <a:r>
              <a:rPr i="1"/>
              <a:t>Vibe coding</a:t>
            </a:r>
            <a:r>
              <a:rPr/>
              <a:t> (Karpathy)</a:t>
            </a:r>
          </a:p>
          <a:p>
            <a:pPr lvl="0"/>
            <a:r>
              <a:rPr/>
              <a:t>Vibe scholarship?</a:t>
            </a:r>
          </a:p>
          <a:p>
            <a:pPr lvl="1"/>
            <a:r>
              <a:rPr/>
              <a:t>Really: Vibe-then-validate: version 1.0 -&gt; version 2.0</a:t>
            </a:r>
          </a:p>
          <a:p>
            <a:pPr lvl="0"/>
            <a:r>
              <a:rPr/>
              <a:t>Centrality of </a:t>
            </a:r>
            <a:r>
              <a:rPr i="1"/>
              <a:t>recognition</a:t>
            </a:r>
            <a:r>
              <a:rPr/>
              <a:t> for self-consciousness (Hegel, 1807; Honneth 1996)</a:t>
            </a:r>
          </a:p>
          <a:p>
            <a:pPr lvl="0"/>
            <a:r>
              <a:rPr/>
              <a:t>Importance of the </a:t>
            </a:r>
            <a:r>
              <a:rPr i="1"/>
              <a:t>unconscious</a:t>
            </a:r>
            <a:r>
              <a:rPr/>
              <a:t> (Freud 1923)</a:t>
            </a:r>
          </a:p>
          <a:p>
            <a:pPr lvl="0"/>
            <a:r>
              <a:rPr/>
              <a:t>Rise of </a:t>
            </a:r>
            <a:r>
              <a:rPr i="1"/>
              <a:t>nonconscious cognition</a:t>
            </a:r>
            <a:r>
              <a:rPr/>
              <a:t> (Katherine Hayles 2017)</a:t>
            </a:r>
          </a:p>
          <a:p>
            <a:pPr lvl="0"/>
            <a:r>
              <a:rPr/>
              <a:t>But </a:t>
            </a:r>
            <a:r>
              <a:rPr b="1"/>
              <a:t>what happens when we </a:t>
            </a:r>
            <a:r>
              <a:rPr b="1" i="1"/>
              <a:t>know</a:t>
            </a:r>
            <a:r>
              <a:rPr b="1"/>
              <a:t> we are not recognized but we </a:t>
            </a:r>
            <a:r>
              <a:rPr b="1" i="1"/>
              <a:t>feel</a:t>
            </a:r>
            <a:r>
              <a:rPr b="1"/>
              <a:t> recognized by a machine</a:t>
            </a:r>
            <a:r>
              <a:rPr/>
              <a:t>?</a:t>
            </a:r>
          </a:p>
          <a:p>
            <a:pPr lvl="1"/>
            <a:r>
              <a:rPr/>
              <a:t>Nonconscious </a:t>
            </a:r>
            <a:r>
              <a:rPr i="1"/>
              <a:t>re</a:t>
            </a:r>
            <a:r>
              <a:rPr/>
              <a:t>cognition (Magee 2026)</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AI can do for research</a:t>
            </a:r>
          </a:p>
        </p:txBody>
      </p:sp>
      <p:sp>
        <p:nvSpPr>
          <p:cNvPr id="3" name="Content Placeholder 2"/>
          <p:cNvSpPr>
            <a:spLocks noGrp="1"/>
          </p:cNvSpPr>
          <p:nvPr>
            <p:ph idx="1"/>
          </p:nvPr>
        </p:nvSpPr>
        <p:spPr/>
        <p:txBody>
          <a:bodyPr/>
          <a:lstStyle/>
          <a:p>
            <a:pPr lvl="0"/>
            <a:r>
              <a:rPr/>
              <a:t>Generate prompts</a:t>
            </a:r>
          </a:p>
          <a:p>
            <a:pPr lvl="0"/>
            <a:r>
              <a:rPr/>
              <a:t>Generate simulated dialogue</a:t>
            </a:r>
          </a:p>
          <a:p>
            <a:pPr lvl="0"/>
            <a:r>
              <a:rPr/>
              <a:t>Generate rubrics for evaluation</a:t>
            </a:r>
          </a:p>
          <a:p>
            <a:pPr lvl="0"/>
            <a:r>
              <a:rPr/>
              <a:t>Generate test harness to apply rubric to evaluate prompts and dialogue</a:t>
            </a:r>
          </a:p>
          <a:p>
            <a:pPr lvl="0"/>
            <a:r>
              <a:rPr/>
              <a:t>Generate quantitative analysis of rubric scores (control vs experiment)</a:t>
            </a:r>
          </a:p>
          <a:p>
            <a:pPr lvl="0"/>
            <a:r>
              <a:rPr/>
              <a:t>Generate qualitative analysis of dialogue (word frequencies, thematic analysis)</a:t>
            </a:r>
          </a:p>
          <a:p>
            <a:pPr lvl="0"/>
            <a:r>
              <a:rPr/>
              <a:t>Also generate </a:t>
            </a:r>
            <a:r>
              <a:rPr b="1"/>
              <a:t>complete nonsense</a:t>
            </a:r>
            <a:r>
              <a:rPr/>
              <a:t> - hence, need to iterate, validate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Connection to this course</a:t>
            </a:r>
          </a:p>
        </p:txBody>
      </p:sp>
      <p:sp>
        <p:nvSpPr>
          <p:cNvPr id="3" name="Content Placeholder 2"/>
          <p:cNvSpPr>
            <a:spLocks noGrp="1"/>
          </p:cNvSpPr>
          <p:nvPr>
            <p:ph idx="1"/>
          </p:nvPr>
        </p:nvSpPr>
        <p:spPr/>
        <p:txBody>
          <a:bodyPr/>
          <a:lstStyle/>
          <a:p>
            <a:pPr lvl="0"/>
            <a:r>
              <a:rPr/>
              <a:t>Ideas for using AI to produce “interventions” - be creative, but also be prepared to verify and validate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2026-03-21T14:57:03Z</dcterms:created>
  <dcterms:modified xsi:type="dcterms:W3CDTF">2026-03-21T14:57:03Z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graphy">
    <vt:lpwstr>/var/folders/dk/3f059bmd2vn0km7f3x16sf8c0000gp/T/database-citations-1774105023582.bib</vt:lpwstr>
  </property>
</Properties>
</file>