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Machine Learning and Human Learning!</a:t>
            </a:r>
          </a:p>
          <a:p>
            <a:pPr lvl="0" indent="0" marL="0">
              <a:buNone/>
            </a:pPr>
          </a:p>
          <a:p>
            <a:pPr lvl="0" indent="0" marL="0">
              <a:buNone/>
            </a:pPr>
            <a:r>
              <a:rPr/>
              <a:t>What is this course about?</a:t>
            </a:r>
          </a:p>
          <a:p>
            <a:pPr lvl="0" indent="0" marL="0">
              <a:buNone/>
            </a:pPr>
          </a:p>
          <a:p>
            <a:pPr lvl="0" indent="0" marL="0">
              <a:buNone/>
            </a:pPr>
            <a:r>
              <a:rPr/>
              <a:t>First it is a response to a certain new reality about learning, triggered by the advent of machine learning. Our ideas about learning are changing, and perhaps have already changed fundamentally. The history of technological supplements or supports, from the writing stylus to the abacus, the calculator, the Internet and the smartphone, has always shaped how we exteriorize our memories – put it out into the world – and in turn re-interiorize those memories during our recollection. Machines have, in other words, always been central to how we humans </a:t>
            </a:r>
            <a:r>
              <a:rPr i="1"/>
              <a:t>learn</a:t>
            </a:r>
            <a:r>
              <a:rPr/>
              <a:t>.</a:t>
            </a:r>
          </a:p>
          <a:p>
            <a:pPr lvl="0" indent="0" marL="0">
              <a:buNone/>
            </a:pPr>
          </a:p>
          <a:p>
            <a:pPr lvl="0" indent="0" marL="0">
              <a:buNone/>
            </a:pPr>
            <a:r>
              <a:rPr/>
              <a:t>But today we also talk about machines learning how to do things themselves. Most obviously this happens in the fields of AI, and more specifically, of Generative AI. These machines now learn from </a:t>
            </a:r>
            <a:r>
              <a:rPr i="1"/>
              <a:t>us</a:t>
            </a:r>
            <a:r>
              <a:rPr/>
              <a:t> – from the traces of us we leave in data stored on the Internet. Machines learn from us; and from these new machines, we also learn differently. Asking ChatGPT to create a new recipe is different, we could say, from asking a calculator to add two numbers or even asking Google to find a recipe. We will explore this difference in the course, but for now we can note that we have entered a period in which “learning” comes to be applied to machines as well as humans, and that this learning – for both cases, machine and human – depends upon the other. Even if they differ, both forms of learning form, in their co-dependence, a kind of </a:t>
            </a:r>
            <a:r>
              <a:rPr i="1"/>
              <a:t>synthesis</a:t>
            </a:r>
            <a:r>
              <a:rPr/>
              <a:t>.</a:t>
            </a:r>
          </a:p>
          <a:p>
            <a:pPr lvl="0" indent="0" marL="0">
              <a:buNone/>
            </a:pPr>
          </a:p>
          <a:p>
            <a:pPr lvl="0" indent="0" marL="0">
              <a:buNone/>
            </a:pPr>
            <a:r>
              <a:rPr/>
              <a:t>We can now speak in various ways about this much closer relationship we share with machines. We can speak of socio-technical systems; of cyborgian creatures (Haraway); of cyber-social systems (Kalantzis &amp; Cope); and of compound terms like ‘technosymbiosis’ (N. Katherine Hayles). But the wider concept we’ll be working with this week - and returning to, as we’ll see - is that of </a:t>
            </a:r>
            <a:r>
              <a:rPr i="1"/>
              <a:t>synthesis</a:t>
            </a:r>
            <a:r>
              <a:rPr/>
              <a:t>. </a:t>
            </a:r>
            <a:r>
              <a:rPr i="1"/>
              <a:t>Synthesis</a:t>
            </a:r>
            <a:r>
              <a:rPr/>
              <a:t> will describe how both the similarities and differences between machine and human learning come together in our present moment.</a:t>
            </a:r>
          </a:p>
          <a:p>
            <a:pPr lvl="0" indent="0" marL="0">
              <a:buNone/>
            </a:pPr>
          </a:p>
          <a:p>
            <a:pPr lvl="0" indent="0" marL="0">
              <a:buNone/>
            </a:pPr>
            <a:r>
              <a:rPr/>
              <a:t>Through the course we will be studying this relationship in a number of ways. Later I’ll talk through the organization of the course materials.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to some basic notes about the course and administration.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note on use of machine learning materials – for the formative assessment tasks, it would be good to use machine learning explicitly, but in a way that is visible. My preferred option for this at the moment is actually in the form of a dialogue – an edited chat session between you and your preferred chat agent / assistant – followed by some kind of summary by you, which includes your reflection on what the AI supplied, and your consideration of how useful the resulting artefact would really be.</a:t>
            </a:r>
          </a:p>
          <a:p>
            <a:pPr lvl="0" indent="0" marL="0">
              <a:buNone/>
            </a:pPr>
          </a:p>
          <a:p>
            <a:pPr lvl="0" indent="0" marL="0">
              <a:buNone/>
            </a:pPr>
            <a:r>
              <a:rPr/>
              <a:t>We can discuss which models, and how to access them in future weeks.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what distinguishes our approach in 2025 / 2026? The first and biggest difference will be my reliance on the work of an early 19th century German Philosopher, Georg Wilhelm Friedrich Hegel.</a:t>
            </a:r>
          </a:p>
          <a:p>
            <a:pPr lvl="0" indent="0" marL="0">
              <a:buNone/>
            </a:pPr>
          </a:p>
          <a:p>
            <a:pPr lvl="0" indent="0" marL="0">
              <a:buNone/>
            </a:pPr>
            <a:r>
              <a:rPr/>
              <a:t>Why Hegel? Why build a course on machine learning around a thinker who pre-dates, not only the recent era of machine learning, but the entire history of computation altogether?</a:t>
            </a:r>
          </a:p>
          <a:p>
            <a:pPr lvl="0" indent="0" marL="0">
              <a:buNone/>
            </a:pPr>
          </a:p>
          <a:p>
            <a:pPr lvl="0" indent="0" marL="0">
              <a:buNone/>
            </a:pPr>
            <a:r>
              <a:rPr/>
              <a:t>I’ll talk through five reasons in a moment.</a:t>
            </a:r>
          </a:p>
          <a:p>
            <a:pPr lvl="0" indent="0" marL="0">
              <a:buNone/>
            </a:pPr>
          </a:p>
          <a:p>
            <a:pPr lvl="0" indent="0" marL="0">
              <a:buNone/>
            </a:pPr>
            <a:r>
              <a:rPr/>
              <a:t>But in the meantime, I also want to address why we might look at philosophy at all. Do we need it? And should we be intimidated by it? Hegel is also a very “intimidating” philosopher - perhaps the most intimidating in the Western philosophical tradition.</a:t>
            </a:r>
          </a:p>
          <a:p>
            <a:pPr lvl="0" indent="0" marL="0">
              <a:buNone/>
            </a:pPr>
          </a:p>
          <a:p>
            <a:pPr lvl="0" indent="0" marL="0">
              <a:buNone/>
            </a:pPr>
            <a:r>
              <a:rPr/>
              <a:t>In what will become a key theme for us here, just as Hegel is a lens for us to understand and critique machine learning, machine learning itself will be a tool for understanding some complex philosophy.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First, I will be arguing one of the present limitations of machine learning is that it is stuck in a period of thinking about learning: the 18th century. According to the philosophy of the period – and I am of course simplifying here – the human mind was a blank slate that needed to be filled up with facts. I learn by simply adding new experiences, observations, sensations, to an existing repository, then retrieving from that repository to understand and integrate yet more new experiences. Learning was a comparatively simple process of </a:t>
            </a:r>
            <a:r>
              <a:rPr i="1"/>
              <a:t>accumulation</a:t>
            </a:r>
            <a:r>
              <a:rPr/>
              <a:t>. Just as life itself is the experience of a sequence of moments, each of which is compared to other moments, so learning is the acquisition of experiences that are recorded in the mind.</a:t>
            </a:r>
          </a:p>
          <a:p>
            <a:pPr lvl="0" indent="0" marL="0">
              <a:buNone/>
            </a:pPr>
          </a:p>
          <a:p>
            <a:pPr lvl="0" indent="0" marL="0">
              <a:buNone/>
            </a:pPr>
            <a:r>
              <a:rPr/>
              <a:t>This, as we’ll review, is a form of the </a:t>
            </a:r>
            <a:r>
              <a:rPr i="1"/>
              <a:t>empiricism</a:t>
            </a:r>
            <a:r>
              <a:rPr/>
              <a:t> that underpins our current paradigm of machine learning. Now Hegel – as we’ll also see – represents a profound challenge to the empirical tradition. His account of experience is not simply accumulative –– it is </a:t>
            </a:r>
            <a:r>
              <a:rPr i="1"/>
              <a:t>dialectical</a:t>
            </a:r>
            <a:r>
              <a:rPr/>
              <a:t>, which presumes that new experiences can sometimes </a:t>
            </a:r>
            <a:r>
              <a:rPr i="1"/>
              <a:t>negate</a:t>
            </a:r>
            <a:r>
              <a:rPr/>
              <a:t> those that they succeed. Learning proceeds, in other words, in a series of developmental stages, each of which involves some kind of realization or learning moment which can sometimes refute a past moment. Although, at least in Hegel’s account, both past and present moment, even if they stand in contradiction, can be reconciled in a process of </a:t>
            </a:r>
            <a:r>
              <a:rPr i="1"/>
              <a:t>synthesis</a:t>
            </a:r>
            <a:r>
              <a:rPr/>
              <a:t>, constituting in turn a future moment which initiates the whole process all over again. Some of you might hear echoes here of later theorists of learning like Jean Piaget, who also supposed learning proceeded in developmental stages.</a:t>
            </a:r>
          </a:p>
          <a:p>
            <a:pPr lvl="0" indent="0" marL="0">
              <a:buNone/>
            </a:pPr>
          </a:p>
          <a:p>
            <a:pPr lvl="0" indent="0" marL="0">
              <a:buNone/>
            </a:pPr>
            <a:r>
              <a:rPr/>
              <a:t>One final point here: for Hegel, experience is also organized by the concepts we have. For Hegel, as for Kant, I experience properly only if I have some concepts – such as time and space – to help synthesize that experience. We’ll return to this point – it is a key distinction between how humans and machines – at least machines today – learn.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addition – and here is the second reason – Hegel’s account is rooted in our experience of </a:t>
            </a:r>
            <a:r>
              <a:rPr i="1"/>
              <a:t>others</a:t>
            </a:r>
            <a:r>
              <a:rPr/>
              <a:t>. In a way that pre-empts another learning theorist, Vygotsky, Hegel’s account of human experience also involves a specific development from consciousness to self-consciousness. Ironically, our awareness of ourselves is closely connected to our awareness of other selves who are not our self - other people, in other words. This awareness means our experience and learning is </a:t>
            </a:r>
            <a:r>
              <a:rPr i="1"/>
              <a:t>social</a:t>
            </a:r>
            <a:r>
              <a:rPr/>
              <a:t>, conditioned and mediated by others. Now it is an open question as to whether machines are said to be social at all, but certainly not, as we’ll see, in the sense that Hegel means.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reason relates less to Hegel’s direct views about learning, and more to his understanding of history. Within the Western tradition of philosophy, Hegel is the first and central philosopher of history – in the sense that he discusses history as something like a wider social and collective learning project. History moreover has a tendency or direction: it moves towards gradual realization or recognition, what Hegel terms, grandiosely, as the Absolute Idea or Absolute Knowledge. Outside religion, perhaps few today would agree strongly with Hegel that history follows a determinate path. However, with the arrival of AI – and certainly with much of the hype that comes with it – we are also forced to confront a series of questions: where are we going with AI? Will we arrive at a singularity, when AI becomes smarter than humans? And what skills do future human learners need to navigate this particular historical moment? Hegel doesn’t answer this question, but – especially in his confrontation with the major events of his own time, including the French Revolution – he is already opening a way for consideration of our position within a wider time and history.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Fourth, Hegel occupies an unusual position himself in the recent history of philosophy. Long regarded – for reasons we shall see, as we begin to look at some of his text – as an obscure and complex thinker without much value to mainstream philosophy, he has become central in recent decades to debates about language, norms and consciousness. Robert Brandom, a prominent American philosopher, has written for example an 800 page volume called </a:t>
            </a:r>
            <a:r>
              <a:rPr i="1"/>
              <a:t>A Spirit of Trust: A Reading of Hegel’s Phenomenology of Spirit</a:t>
            </a:r>
            <a:r>
              <a:rPr/>
              <a:t>. Brandom, among others, is an important thinker in his own right about AI, and this suggests Hegel provides us with good background – if we want it – to contemporary discussions about learning and language.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Finally, a challenge for us today is to think through what Artificial Intelligence means for us in its manifold sense: what it does for us, what it limits us to, what it enables and constrains, who it helps, who it oppresses, and so on. In other words, we need to think AI always in a certain spirit of contradiction: as involving the good and the bad, and understanding how these are to some degree indissociable. Hegel is </a:t>
            </a:r>
            <a:r>
              <a:rPr b="1"/>
              <a:t>the</a:t>
            </a:r>
            <a:r>
              <a:rPr/>
              <a:t> thinker of contradiction, the paradoxes of “the this and the not-this” are throughout his work. There is an irony then that in trying to think about AI </a:t>
            </a:r>
            <a:r>
              <a:rPr i="1"/>
              <a:t>intelligently</a:t>
            </a:r>
            <a:r>
              <a:rPr/>
              <a:t> we have to give up on a particular rule of logic – the law of non-contradiction – that for many is the very hallmark of intelligent, that is to say, </a:t>
            </a:r>
            <a:r>
              <a:rPr i="1"/>
              <a:t>consistent</a:t>
            </a:r>
            <a:r>
              <a:rPr/>
              <a:t> thinking. We don’t need to give it up entirely, of course, and we cannot – machine learning is bound up, for example, in binary logic, and it is foundational for us as well as for machines. But we can perhaps suspend it, in order to hold on to the idea that before we </a:t>
            </a:r>
            <a:r>
              <a:rPr i="1"/>
              <a:t>judge</a:t>
            </a:r>
            <a:r>
              <a:rPr/>
              <a:t> machine learning – in a disjunctive sense, as better or worse – we need to think it </a:t>
            </a:r>
            <a:r>
              <a:rPr i="1"/>
              <a:t>conjunctively</a:t>
            </a:r>
            <a:r>
              <a:rPr/>
              <a:t>: as both </a:t>
            </a:r>
            <a:r>
              <a:rPr i="1"/>
              <a:t>this-and-that</a:t>
            </a:r>
            <a:r>
              <a:rPr/>
              <a:t>, or </a:t>
            </a:r>
            <a:r>
              <a:rPr i="1"/>
              <a:t>this-and-not-this</a:t>
            </a:r>
            <a:r>
              <a:rPr/>
              <a:t>, simultaneously. We have to allow ourselves to do what, in a certain sense, machines cannot do, in order to talk about how they are different from as well as similar to us.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type="arabicPeriod"/>
            </a:pPr>
            <a:r>
              <a:rPr b="1"/>
              <a:t>Synthesis</a:t>
            </a:r>
            <a:r>
              <a:rPr/>
              <a:t> This is the introduction and overview we are doing today.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2" type="arabicPeriod"/>
            </a:pPr>
            <a:r>
              <a:rPr/>
              <a:t>Experience</a:t>
            </a:r>
          </a:p>
          <a:p>
            <a:pPr lvl="0" indent="0" marL="0">
              <a:buNone/>
            </a:pPr>
          </a:p>
          <a:p>
            <a:pPr lvl="0"/>
            <a:r>
              <a:rPr/>
              <a:t>Next week we’ll be looking at the concept of Experience. This is a crucial idea in Hegel’s </a:t>
            </a:r>
            <a:r>
              <a:rPr b="1"/>
              <a:t>Phenomenology of Spirit</a:t>
            </a:r>
            <a:r>
              <a:rPr/>
              <a:t>, and constitutes the single largest implicit criticism of non-human learning. We will examine how Hegel unpacks this idea, and contrast it with other ideas of experience (e.g. Locke) that might be closer to what we see of machinic “experience”. We will also discuss the relationship of experience to learning, consciousness, perception and memory.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3" type="arabicPeriod"/>
            </a:pPr>
            <a:r>
              <a:rPr/>
              <a:t>Recognition</a:t>
            </a:r>
            <a:br/>
          </a:p>
          <a:p>
            <a:pPr lvl="0" indent="0" marL="0">
              <a:buNone/>
            </a:pPr>
          </a:p>
          <a:p>
            <a:pPr lvl="0"/>
            <a:r>
              <a:rPr/>
              <a:t>Another key Hegelian idea, this week we will examine how </a:t>
            </a:r>
            <a:r>
              <a:rPr i="1"/>
              <a:t>recognition</a:t>
            </a:r>
            <a:r>
              <a:rPr/>
              <a:t> connects individual learning to our relation to others - to, in other words, a social process. We’ll discuss here Vygotsky’s theory of human learning, and also examine ways machines could be considered as “recognizing” us.</a:t>
            </a:r>
          </a:p>
          <a:p>
            <a:pPr lvl="0" indent="0" marL="0">
              <a:buNone/>
            </a:pPr>
          </a:p>
          <a:p>
            <a:pPr lvl="0" indent="-342900" marL="342900">
              <a:buAutoNum startAt="4" type="arabicPeriod"/>
            </a:pPr>
            <a:r>
              <a:rPr/>
              <a:t>Consciousness (Self/Other/Un/Non) The early parts of </a:t>
            </a:r>
            <a:r>
              <a:rPr i="1"/>
              <a:t>Phenomenology of Spirit</a:t>
            </a:r>
            <a:r>
              <a:rPr/>
              <a:t> are dominated by the ideas of Consciousness and Self-consciousness. We’ll explore how these relate to Experience, Attention and Recognition (and whether indeed they “synthesize” these earlier ideas). We’ll explore also later ideas of the Unconscious (Freud) and Nonconscious Cognition (Katherine Hayles). This leads us naturally to an obvious question: can machines be conscious? If not, can they be unconscious?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5" type="arabicPeriod"/>
            </a:pPr>
            <a:r>
              <a:rPr/>
              <a:t>Attention</a:t>
            </a:r>
          </a:p>
          <a:p>
            <a:pPr lvl="0" indent="0" marL="0">
              <a:buNone/>
            </a:pPr>
          </a:p>
          <a:p>
            <a:pPr lvl="0"/>
            <a:r>
              <a:rPr/>
              <a:t>Following that, we will focus on the idea of attention. This is an idea that spans neuroscience, psychology, computer science, philosophy and media studies. We’ll examine a key text in the development of machine learning, “Attention is All You Need”. But we will also think about how attention is important for human learning. And we will look at recent critical studies of attention and what has become known as the Attention Economy.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6" type="arabicPeriod"/>
            </a:pPr>
            <a:r>
              <a:rPr/>
              <a:t>Alignment Alignment is a “vogue” term in machine learning, and describes the process of aligning machines to human values and interests. One technical process for doing this is RLHF – reinforcement learning from human feedback. This relates closely to ideas of “norms”. As opposed to rules or laws, norms describe often implied values that condition our practices, including our speaking practices. So “alignment” also can describe human learning – aligning ourselves with others. And increasingly today, we can also think of humans aligning themselves with machine values, especially in pedagogical settings.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7" type="arabicPeriod"/>
            </a:pPr>
            <a:r>
              <a:rPr/>
              <a:t>Critique “Critique” then brings us to what happens when alignment, one way or another, fails: when technology, in other words, fails to meet the wider social standards we set for it. Critique is another keyword also in the Hegelian nomenclature - it comes famously from Kant, for whom “Critique” is the method for understanding how “pure” (rational, scientific), “practical” (applied, moral) and “judgment” (aesthetic) reasoning can happen. Here we will look at how Critical AI has been responding to AI - and look in turn at how AI works itself as a tool for, as well as of, critique.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342900" marL="342900">
              <a:buAutoNum startAt="8" type="arabicPeriod"/>
            </a:pPr>
            <a:r>
              <a:rPr/>
              <a:t>Synthesis: Technosymbiosis Finally, we return to where we started: with the concept of synthesis. However – just like a Hegelian process of argument – our original concept is now modified and inflected by the other concepts and materials we’ve encountered. In particular we are in a position to understand N. Katherine Hayles’ idea of “technosymbiosis” – the conjoining of technology and life – a synthesis that also incorporates earlier ideas of experience, attention, recognition, consciousness, alignment and critique.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to Machine Learning and Human Learning!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 of Tonight</a:t>
            </a:r>
          </a:p>
        </p:txBody>
      </p:sp>
      <p:sp>
        <p:nvSpPr>
          <p:cNvPr id="3" name="Content Placeholder 2"/>
          <p:cNvSpPr>
            <a:spLocks noGrp="1"/>
          </p:cNvSpPr>
          <p:nvPr>
            <p:ph idx="1"/>
          </p:nvPr>
        </p:nvSpPr>
        <p:spPr/>
        <p:txBody>
          <a:bodyPr/>
          <a:lstStyle/>
          <a:p>
            <a:pPr lvl="0" indent="0" marL="0">
              <a:spcBef>
                <a:spcPts val="3000"/>
              </a:spcBef>
              <a:buNone/>
            </a:pPr>
            <a:r>
              <a:rPr b="1"/>
              <a:t>Hour 1:</a:t>
            </a:r>
          </a:p>
          <a:p>
            <a:pPr lvl="0" indent="-342900" marL="342900">
              <a:buAutoNum type="arabicPeriod"/>
            </a:pPr>
            <a:r>
              <a:rPr/>
              <a:t>Outline of the Course</a:t>
            </a:r>
          </a:p>
          <a:p>
            <a:pPr lvl="0" indent="-342900" marL="342900">
              <a:buAutoNum type="arabicPeriod"/>
            </a:pPr>
            <a:r>
              <a:rPr/>
              <a:t>Introductions and General Discussion about Machine and Human Learning</a:t>
            </a:r>
          </a:p>
          <a:p>
            <a:pPr lvl="0" indent="0" marL="0">
              <a:spcBef>
                <a:spcPts val="3000"/>
              </a:spcBef>
              <a:buNone/>
            </a:pPr>
            <a:r>
              <a:rPr b="1"/>
              <a:t>Hour 2:</a:t>
            </a:r>
          </a:p>
          <a:p>
            <a:pPr lvl="0" indent="-342900" marL="342900">
              <a:buAutoNum type="arabicPeriod"/>
            </a:pPr>
            <a:r>
              <a:rPr/>
              <a:t>More details about the course - Conceptual Overview</a:t>
            </a:r>
          </a:p>
          <a:p>
            <a:pPr lvl="0" indent="-342900" marL="342900">
              <a:buAutoNum type="arabicPeriod"/>
            </a:pPr>
            <a:r>
              <a:rPr/>
              <a:t>Assessment</a:t>
            </a:r>
          </a:p>
          <a:p>
            <a:pPr lvl="0" indent="-342900" marL="342900">
              <a:buAutoNum type="arabicPeriod"/>
            </a:pPr>
            <a:r>
              <a:rPr/>
              <a:t>Why Hegel on Machine Learning?</a:t>
            </a:r>
          </a:p>
          <a:p>
            <a:pPr lvl="0" indent="0" marL="0">
              <a:spcBef>
                <a:spcPts val="3000"/>
              </a:spcBef>
              <a:buNone/>
            </a:pPr>
            <a:r>
              <a:rPr b="1"/>
              <a:t>Hour 3:</a:t>
            </a:r>
          </a:p>
          <a:p>
            <a:pPr lvl="0" indent="0" marL="0">
              <a:buNone/>
            </a:pPr>
            <a:r>
              <a:rPr/>
              <a:t>Breakout Rooms:</a:t>
            </a:r>
          </a:p>
          <a:p>
            <a:pPr lvl="0" indent="-342900" marL="342900">
              <a:buAutoNum type="arabicPeriod"/>
            </a:pPr>
            <a:r>
              <a:rPr/>
              <a:t>Accessing the Google Doc</a:t>
            </a:r>
          </a:p>
          <a:p>
            <a:pPr lvl="0" indent="-342900" marL="342900">
              <a:buAutoNum type="arabicPeriod"/>
            </a:pPr>
            <a:r>
              <a:rPr/>
              <a:t>Setting up AI</a:t>
            </a:r>
          </a:p>
          <a:p>
            <a:pPr lvl="0" indent="-342900" marL="342900">
              <a:buAutoNum type="arabicPeriod"/>
            </a:pPr>
            <a:r>
              <a:rPr/>
              <a:t>Discussing and making notes for Week 1’s questions</a:t>
            </a:r>
          </a:p>
          <a:p>
            <a:pPr lvl="0" indent="-342900" marL="342900">
              <a:buAutoNum type="arabicPeriod"/>
            </a:pPr>
            <a:r>
              <a:rPr/>
              <a:t>Test chat?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Towards Synthesis? Rethinking Learning in the AI Era</a:t>
            </a:r>
          </a:p>
        </p:txBody>
      </p:sp>
      <p:sp>
        <p:nvSpPr>
          <p:cNvPr id="3" name="Content Placeholder 2"/>
          <p:cNvSpPr>
            <a:spLocks noGrp="1"/>
          </p:cNvSpPr>
          <p:nvPr>
            <p:ph idx="1"/>
          </p:nvPr>
        </p:nvSpPr>
        <p:spPr/>
        <p:txBody>
          <a:bodyPr/>
          <a:lstStyle/>
          <a:p>
            <a:pPr lvl="0" indent="0" marL="0">
              <a:spcBef>
                <a:spcPts val="3000"/>
              </a:spcBef>
              <a:buNone/>
            </a:pPr>
            <a:r>
              <a:rPr b="1"/>
              <a:t>Or: What is this course about?</a:t>
            </a:r>
          </a:p>
          <a:p>
            <a:pPr lvl="0"/>
            <a:r>
              <a:rPr/>
              <a:t>Responds to a new learning reality shaped by advances in machine learning.</a:t>
            </a:r>
          </a:p>
          <a:p>
            <a:pPr lvl="0"/>
            <a:r>
              <a:rPr/>
              <a:t>Traces historical tools externalizing memory, from stylus to internet and smartphones.</a:t>
            </a:r>
          </a:p>
          <a:p>
            <a:pPr lvl="0"/>
            <a:r>
              <a:rPr/>
              <a:t>Highlights reciprocal learning: generative AI learns from us, we learn differently.</a:t>
            </a:r>
          </a:p>
          <a:p>
            <a:pPr lvl="0"/>
            <a:r>
              <a:rPr/>
              <a:t>Explores differences between ChatGPT requests and calculators or traditional search engines.</a:t>
            </a:r>
          </a:p>
          <a:p>
            <a:pPr lvl="0"/>
            <a:r>
              <a:rPr/>
              <a:t>Frames relationship through synthesis, alongside concepts like technosymbiosis and symbiotic pedagogy.</a:t>
            </a:r>
          </a:p>
          <a:p>
            <a:pPr lvl="0"/>
            <a:r>
              <a:rPr/>
              <a:t>Website: https://cgscholar.com/communities/150?active-tab=feed&amp;active-switch=members</a:t>
            </a:r>
          </a:p>
          <a:p>
            <a:pPr lvl="0"/>
            <a:r>
              <a:rPr/>
              <a:t>DON’T BE PUT OFF BY THE VOCABULARY! This might start as a tough course, but we will be stepping through things – with AI’s help!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Experiences of Machine (and of Human Learning)</a:t>
            </a:r>
          </a:p>
        </p:txBody>
      </p:sp>
      <p:sp>
        <p:nvSpPr>
          <p:cNvPr id="3" name="Content Placeholder 2"/>
          <p:cNvSpPr>
            <a:spLocks noGrp="1"/>
          </p:cNvSpPr>
          <p:nvPr>
            <p:ph idx="1"/>
          </p:nvPr>
        </p:nvSpPr>
        <p:spPr/>
        <p:txBody>
          <a:bodyPr/>
          <a:lstStyle/>
          <a:p>
            <a:pPr lvl="0" indent="0" marL="0">
              <a:buNone/>
            </a:pPr>
            <a:r>
              <a:rPr/>
              <a:t>What do we know? What are the problems? What do we need to find out? Discuss!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Administration</a:t>
            </a:r>
          </a:p>
        </p:txBody>
      </p:sp>
      <p:sp>
        <p:nvSpPr>
          <p:cNvPr id="3" name="Content Placeholder 2"/>
          <p:cNvSpPr>
            <a:spLocks noGrp="1"/>
          </p:cNvSpPr>
          <p:nvPr>
            <p:ph idx="1"/>
          </p:nvPr>
        </p:nvSpPr>
        <p:spPr/>
        <p:txBody>
          <a:bodyPr/>
          <a:lstStyle/>
          <a:p>
            <a:pPr lvl="0" indent="0" marL="0">
              <a:spcBef>
                <a:spcPts val="3000"/>
              </a:spcBef>
              <a:buNone/>
            </a:pPr>
            <a:r>
              <a:rPr b="1"/>
              <a:t>Weekly seminars.</a:t>
            </a:r>
          </a:p>
          <a:p>
            <a:pPr lvl="0"/>
            <a:r>
              <a:rPr/>
              <a:t>Preferred session duration is 3 hours (5:00‑7:50), with two 10 minute breaks.</a:t>
            </a:r>
          </a:p>
          <a:p>
            <a:pPr lvl="0"/>
            <a:r>
              <a:rPr/>
              <a:t>Actual course schedule may be shorter due to overall time constraints.</a:t>
            </a:r>
          </a:p>
          <a:p>
            <a:pPr lvl="0"/>
            <a:r>
              <a:rPr/>
              <a:t>The goal is to balance depth of content with practical engagement within the limited weekly allocation.</a:t>
            </a:r>
          </a:p>
          <a:p>
            <a:pPr lvl="0"/>
            <a:r>
              <a:rPr/>
              <a:t>Office hours: by appointment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Syllabus</a:t>
            </a:r>
          </a:p>
        </p:txBody>
      </p:sp>
      <p:sp>
        <p:nvSpPr>
          <p:cNvPr id="3" name="Content Placeholder 2"/>
          <p:cNvSpPr>
            <a:spLocks noGrp="1"/>
          </p:cNvSpPr>
          <p:nvPr>
            <p:ph idx="1"/>
          </p:nvPr>
        </p:nvSpPr>
        <p:spPr/>
        <p:txBody>
          <a:bodyPr/>
          <a:lstStyle/>
          <a:p>
            <a:pPr lvl="0"/>
            <a:r>
              <a:rPr/>
              <a:t>Word doc supplied via chat…</a:t>
            </a:r>
          </a:p>
          <a:p>
            <a:pPr lvl="0"/>
            <a:r>
              <a:rPr/>
              <a:t>Note: precise mechanism on peer review TBD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Assessment</a:t>
            </a:r>
          </a:p>
        </p:txBody>
      </p:sp>
      <p:sp>
        <p:nvSpPr>
          <p:cNvPr id="3" name="Content Placeholder 2"/>
          <p:cNvSpPr>
            <a:spLocks noGrp="1"/>
          </p:cNvSpPr>
          <p:nvPr>
            <p:ph idx="1"/>
          </p:nvPr>
        </p:nvSpPr>
        <p:spPr/>
        <p:txBody>
          <a:bodyPr/>
          <a:lstStyle/>
          <a:p>
            <a:pPr lvl="0" indent="0" marL="0">
              <a:buNone/>
            </a:pPr>
            <a:r>
              <a:rPr/>
              <a:t>The course will use a mix of CGScholar for readings / materials and Google Docs. Assessments will be divided between:</a:t>
            </a:r>
          </a:p>
          <a:p>
            <a:pPr lvl="0" indent="-342900" marL="342900">
              <a:buAutoNum type="arabicPeriod"/>
            </a:pPr>
            <a:r>
              <a:rPr/>
              <a:t>Weekly responses to questions (weeks 2-6) (5 x 10%) - Google Docs (formative assessment).</a:t>
            </a:r>
          </a:p>
          <a:p>
            <a:pPr lvl="0" indent="-342900" marL="342900">
              <a:buAutoNum type="arabicPeriod"/>
            </a:pPr>
            <a:r>
              <a:rPr/>
              <a:t>2 x 3 comments (in week 5 &amp; week 7) on peer reflections: 10%.</a:t>
            </a:r>
          </a:p>
          <a:p>
            <a:pPr lvl="0" indent="-342900" marL="342900">
              <a:buAutoNum type="arabicPeriod"/>
            </a:pPr>
            <a:r>
              <a:rPr/>
              <a:t>A final project (40%): An individual curriculum, learning guide, or policy report (summative assessment). This will be your choice, but could be any of:</a:t>
            </a:r>
          </a:p>
          <a:p>
            <a:pPr lvl="0" indent="-342900" marL="342900">
              <a:buAutoNum type="alphaLcPeriod"/>
            </a:pPr>
            <a:r>
              <a:rPr/>
              <a:t>Learning materials designed for machines, describing some facet of human culture</a:t>
            </a:r>
          </a:p>
          <a:p>
            <a:pPr lvl="0" indent="-342900" marL="342900">
              <a:buAutoNum type="alphaLcPeriod"/>
            </a:pPr>
            <a:r>
              <a:rPr/>
              <a:t>or Learning materials designed for humans, describing some facet of machine “experience”</a:t>
            </a:r>
          </a:p>
          <a:p>
            <a:pPr lvl="0" indent="-342900" marL="342900">
              <a:buAutoNum type="alphaLcPeriod"/>
            </a:pPr>
            <a:r>
              <a:rPr/>
              <a:t>A hybrid guide for a new world of cyber-social learning - how both machines and humans can learn from each other.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Technologies and Tools</a:t>
            </a:r>
          </a:p>
        </p:txBody>
      </p:sp>
      <p:sp>
        <p:nvSpPr>
          <p:cNvPr id="3" name="Content Placeholder 2"/>
          <p:cNvSpPr>
            <a:spLocks noGrp="1"/>
          </p:cNvSpPr>
          <p:nvPr>
            <p:ph idx="1"/>
          </p:nvPr>
        </p:nvSpPr>
        <p:spPr/>
        <p:txBody>
          <a:bodyPr/>
          <a:lstStyle/>
          <a:p>
            <a:pPr lvl="0" indent="0" marL="0">
              <a:buNone/>
            </a:pPr>
            <a:r>
              <a:rPr/>
              <a:t>Check people have access to:</a:t>
            </a:r>
          </a:p>
          <a:p>
            <a:pPr lvl="0"/>
            <a:r>
              <a:rPr/>
              <a:t>Zoom meeting</a:t>
            </a:r>
          </a:p>
          <a:p>
            <a:pPr lvl="0"/>
            <a:r>
              <a:rPr/>
              <a:t>CGScholar</a:t>
            </a:r>
          </a:p>
          <a:p>
            <a:pPr lvl="0"/>
            <a:r>
              <a:rPr/>
              <a:t>Google Docs</a:t>
            </a:r>
          </a:p>
          <a:p>
            <a:pPr lvl="0"/>
            <a:r>
              <a:rPr/>
              <a:t>AI tools (will revisit this)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Approach in 2025/26: Why Hegel?</a:t>
            </a:r>
          </a:p>
        </p:txBody>
      </p:sp>
      <p:sp>
        <p:nvSpPr>
          <p:cNvPr id="3" name="Content Placeholder 2"/>
          <p:cNvSpPr>
            <a:spLocks noGrp="1"/>
          </p:cNvSpPr>
          <p:nvPr>
            <p:ph idx="1"/>
          </p:nvPr>
        </p:nvSpPr>
        <p:spPr/>
        <p:txBody>
          <a:bodyPr/>
          <a:lstStyle/>
          <a:p>
            <a:pPr lvl="0"/>
            <a:r>
              <a:rPr/>
              <a:t>What can 19th century German Philosophy tell us about Machine (and Human) Learning?</a:t>
            </a:r>
          </a:p>
          <a:p>
            <a:pPr lvl="0"/>
            <a:r>
              <a:rPr/>
              <a:t>And Who’s Afraid of Hegel (in the age of Machine Learning)?</a:t>
            </a:r>
          </a:p>
          <a:p>
            <a:pPr lvl="0"/>
            <a:r>
              <a:rPr/>
              <a:t>What can Machine Learning tell us about 19th century German Philosophy?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Hegelian Critique of Empiricist Machine‑Learning Paradigms</a:t>
            </a:r>
          </a:p>
        </p:txBody>
      </p:sp>
      <p:sp>
        <p:nvSpPr>
          <p:cNvPr id="3" name="Content Placeholder 2"/>
          <p:cNvSpPr>
            <a:spLocks noGrp="1"/>
          </p:cNvSpPr>
          <p:nvPr>
            <p:ph idx="1"/>
          </p:nvPr>
        </p:nvSpPr>
        <p:spPr/>
        <p:txBody>
          <a:bodyPr/>
          <a:lstStyle/>
          <a:p>
            <a:pPr lvl="0"/>
            <a:r>
              <a:rPr/>
              <a:t>Current ML models inherit an 18th‑century empiricism that treats learning as mere fact accumulation on a blank slate.</a:t>
            </a:r>
          </a:p>
          <a:p>
            <a:pPr lvl="0"/>
            <a:r>
              <a:rPr/>
              <a:t>Hegel challenges this view by framing experience dialectically—new insights can negate or transform prior ones.</a:t>
            </a:r>
          </a:p>
          <a:p>
            <a:pPr lvl="0"/>
            <a:r>
              <a:rPr/>
              <a:t>Learning unfolds through developmental stages, each marked by a “learning moment” that may contradict earlier knowledge yet remains integrated via synthesis.</a:t>
            </a:r>
          </a:p>
          <a:p>
            <a:pPr lvl="0"/>
            <a:r>
              <a:rPr/>
              <a:t>This dialectical progression anticipates later stage‑based theories (e.g., Piaget), offering a richer model for both human and machine learning cycles.</a:t>
            </a:r>
          </a:p>
          <a:p>
            <a:pPr lvl="0"/>
            <a:r>
              <a:rPr/>
              <a:t>Learning is also </a:t>
            </a:r>
            <a:r>
              <a:rPr i="1"/>
              <a:t>organized</a:t>
            </a:r>
            <a:r>
              <a:rPr/>
              <a:t> by our concepts (Kant as well as Hegel).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Hegel’s Social‑Consciousness Lens on Learning</a:t>
            </a:r>
          </a:p>
        </p:txBody>
      </p:sp>
      <p:sp>
        <p:nvSpPr>
          <p:cNvPr id="3" name="Content Placeholder 2"/>
          <p:cNvSpPr>
            <a:spLocks noGrp="1"/>
          </p:cNvSpPr>
          <p:nvPr>
            <p:ph idx="1"/>
          </p:nvPr>
        </p:nvSpPr>
        <p:spPr/>
        <p:txBody>
          <a:bodyPr/>
          <a:lstStyle/>
          <a:p>
            <a:pPr lvl="0"/>
            <a:r>
              <a:rPr/>
              <a:t>Hegel argues that learning is fundamentally shaped by interactions with others, not merely individual experience.</a:t>
            </a:r>
          </a:p>
          <a:p>
            <a:pPr lvl="0"/>
            <a:r>
              <a:rPr/>
              <a:t>The developmental shift from consciousness to self‑consciousness hinges on recognizing other selves—others who are distinct from the self.</a:t>
            </a:r>
          </a:p>
          <a:p>
            <a:pPr lvl="0"/>
            <a:r>
              <a:rPr/>
              <a:t>This social mediation implies that human learning is conditioned and amplified through relational awareness.</a:t>
            </a:r>
          </a:p>
          <a:p>
            <a:pPr lvl="0"/>
            <a:r>
              <a:rPr/>
              <a:t>Whether machines can be truly “social” in Hegel’s sense remains unresolved, highlighting a key difference between human and machine learning.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Hegel, History, and the AI‑Driven Future</a:t>
            </a:r>
          </a:p>
        </p:txBody>
      </p:sp>
      <p:sp>
        <p:nvSpPr>
          <p:cNvPr id="3" name="Content Placeholder 2"/>
          <p:cNvSpPr>
            <a:spLocks noGrp="1"/>
          </p:cNvSpPr>
          <p:nvPr>
            <p:ph idx="1"/>
          </p:nvPr>
        </p:nvSpPr>
        <p:spPr/>
        <p:txBody>
          <a:bodyPr/>
          <a:lstStyle/>
          <a:p>
            <a:pPr lvl="0"/>
            <a:r>
              <a:rPr/>
              <a:t>Hegel views history as a collective learning project progressing toward an ultimate realization—his “Absolute Idea” or Absolute Knowledge.</a:t>
            </a:r>
          </a:p>
          <a:p>
            <a:pPr lvl="0"/>
            <a:r>
              <a:rPr/>
              <a:t>Unlike many contemporary thinkers, Hegel insists that history follows a determinate, directional path shaped by social development.</a:t>
            </a:r>
          </a:p>
          <a:p>
            <a:pPr lvl="0"/>
            <a:r>
              <a:rPr/>
              <a:t>The rise of AI forces us to question this historical trajectory: Will we reach a singularity, and what new competencies will learners need?</a:t>
            </a:r>
          </a:p>
          <a:p>
            <a:pPr lvl="0"/>
            <a:r>
              <a:rPr/>
              <a:t>Though Hegel didn’t predict AI, his engagement with events like the French Revolution invites us to interpret our present within a broader, evolving historical context.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Hegel’s Reemergence in Contemporary AI &amp; Language Debates</a:t>
            </a:r>
          </a:p>
        </p:txBody>
      </p:sp>
      <p:sp>
        <p:nvSpPr>
          <p:cNvPr id="3" name="Content Placeholder 2"/>
          <p:cNvSpPr>
            <a:spLocks noGrp="1"/>
          </p:cNvSpPr>
          <p:nvPr>
            <p:ph idx="1"/>
          </p:nvPr>
        </p:nvSpPr>
        <p:spPr/>
        <p:txBody>
          <a:bodyPr/>
          <a:lstStyle/>
          <a:p>
            <a:pPr lvl="0"/>
            <a:r>
              <a:rPr/>
              <a:t>Hegel once seen as obscure is now central to debates on language, norms, and consciousness.</a:t>
            </a:r>
          </a:p>
          <a:p>
            <a:pPr lvl="0"/>
            <a:r>
              <a:rPr/>
              <a:t>Recent scholarship (e.g., Brandom’s </a:t>
            </a:r>
            <a:r>
              <a:rPr i="1"/>
              <a:t>A Spirit of Trust</a:t>
            </a:r>
            <a:r>
              <a:rPr/>
              <a:t>) reinterprets Hegel for modern philosophical inquiry.</a:t>
            </a:r>
          </a:p>
          <a:p>
            <a:pPr lvl="0"/>
            <a:r>
              <a:rPr/>
              <a:t>These reinterpretations provide a rich backdrop for discussing AI’s impact on learning and language.</a:t>
            </a:r>
          </a:p>
          <a:p>
            <a:pPr lvl="0"/>
            <a:r>
              <a:rPr/>
              <a:t>The text underscores how historical philosophy can inform contemporary AI ethics and pedagogy.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as a Productive Contradiction</a:t>
            </a:r>
          </a:p>
        </p:txBody>
      </p:sp>
      <p:sp>
        <p:nvSpPr>
          <p:cNvPr id="3" name="Content Placeholder 2"/>
          <p:cNvSpPr>
            <a:spLocks noGrp="1"/>
          </p:cNvSpPr>
          <p:nvPr>
            <p:ph idx="1"/>
          </p:nvPr>
        </p:nvSpPr>
        <p:spPr/>
        <p:txBody>
          <a:bodyPr/>
          <a:lstStyle/>
          <a:p>
            <a:pPr lvl="0"/>
            <a:r>
              <a:rPr/>
              <a:t>Consider AI’s manifold effects: enabling, constraining, helping some, harming others.</a:t>
            </a:r>
          </a:p>
          <a:p>
            <a:pPr lvl="0"/>
            <a:r>
              <a:rPr/>
              <a:t>Approach AI with Hegelian contradictions: both this-and-that, benefits inseparable from harms.</a:t>
            </a:r>
          </a:p>
          <a:p>
            <a:pPr lvl="0"/>
            <a:r>
              <a:rPr/>
              <a:t>Temporarily suspend strict non-contradiction to think conjunctively before judging better/worse.</a:t>
            </a:r>
          </a:p>
          <a:p>
            <a:pPr lvl="0"/>
            <a:r>
              <a:rPr/>
              <a:t>Recognize binary logic underlies machines and us, yet humans can hold paradox.</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Reasons for Hegel</a:t>
            </a:r>
          </a:p>
        </p:txBody>
      </p:sp>
      <p:sp>
        <p:nvSpPr>
          <p:cNvPr id="3" name="Content Placeholder 2"/>
          <p:cNvSpPr>
            <a:spLocks noGrp="1"/>
          </p:cNvSpPr>
          <p:nvPr>
            <p:ph idx="1"/>
          </p:nvPr>
        </p:nvSpPr>
        <p:spPr/>
        <p:txBody>
          <a:bodyPr/>
          <a:lstStyle/>
          <a:p>
            <a:pPr lvl="0"/>
            <a:r>
              <a:rPr/>
              <a:t>Hegel critiques 18th‑century empiricism (learning as mere accumulation) and offers a dialectical model of learning via negation and synthesis—richer for both human and machine learning.</a:t>
            </a:r>
          </a:p>
          <a:p>
            <a:pPr lvl="0"/>
            <a:r>
              <a:rPr/>
              <a:t>He grounds learning in social recognition: the move from consciousness to self‑consciousness through others, highlighting a relational dimension machines may lack.</a:t>
            </a:r>
          </a:p>
          <a:p>
            <a:pPr lvl="0"/>
            <a:r>
              <a:rPr/>
              <a:t>He treats history as a collective learning process with direction, giving a lens to situate AI, singularity debates, and the skills learners will need.</a:t>
            </a:r>
          </a:p>
          <a:p>
            <a:pPr lvl="0"/>
            <a:r>
              <a:rPr/>
              <a:t>His renewed relevance (e.g., Brandom) in language, norms, and consciousness provides contemporary scaffolding for AI ethics, pedagogy, and discourse.</a:t>
            </a:r>
          </a:p>
          <a:p>
            <a:pPr lvl="0"/>
            <a:r>
              <a:rPr/>
              <a:t>As the thinker of contradiction, he helps us hold AI’s benefits and harms together, suspending strict non‑contradiction for nuanced, both‑and evaluation.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Week‑1 Overview &amp; Upcoming Focus on Hegelian Experience</a:t>
            </a:r>
          </a:p>
        </p:txBody>
      </p:sp>
      <p:sp>
        <p:nvSpPr>
          <p:cNvPr id="3" name="Content Placeholder 2"/>
          <p:cNvSpPr>
            <a:spLocks noGrp="1"/>
          </p:cNvSpPr>
          <p:nvPr>
            <p:ph idx="1"/>
          </p:nvPr>
        </p:nvSpPr>
        <p:spPr/>
        <p:txBody>
          <a:bodyPr/>
          <a:lstStyle/>
          <a:p>
            <a:pPr lvl="0"/>
            <a:r>
              <a:rPr/>
              <a:t>Introductory session establishes “Synthesis” as the course’s foundational theme.</a:t>
            </a:r>
          </a:p>
          <a:p>
            <a:pPr lvl="0"/>
            <a:r>
              <a:rPr/>
              <a:t>Next week centers on Hegel’s concept of </a:t>
            </a:r>
            <a:r>
              <a:rPr i="1"/>
              <a:t>Experience</a:t>
            </a:r>
            <a:r>
              <a:rPr/>
              <a:t> from the Phenomenology of Spirit, framing it as a critique of non‑human learning.</a:t>
            </a:r>
          </a:p>
          <a:p>
            <a:pPr lvl="0"/>
            <a:r>
              <a:rPr/>
              <a:t>Comparative analysis will juxtapose Hegelian experience with Locke’s empiricism and contemporary notions of machine “experience.”</a:t>
            </a:r>
          </a:p>
          <a:p>
            <a:pPr lvl="0"/>
            <a:r>
              <a:rPr/>
              <a:t>The discussion links experience to broader cognitive dimensions: learning, consciousness, perception, and memory.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Experience</a:t>
            </a:r>
          </a:p>
        </p:txBody>
      </p:sp>
      <p:sp>
        <p:nvSpPr>
          <p:cNvPr id="3" name="Content Placeholder 2"/>
          <p:cNvSpPr>
            <a:spLocks noGrp="1"/>
          </p:cNvSpPr>
          <p:nvPr>
            <p:ph idx="1"/>
          </p:nvPr>
        </p:nvSpPr>
        <p:spPr/>
        <p:txBody>
          <a:bodyPr/>
          <a:lstStyle/>
          <a:p>
            <a:pPr lvl="0"/>
            <a:r>
              <a:rPr/>
              <a:t>Focus on Hegel’s </a:t>
            </a:r>
            <a:r>
              <a:rPr i="1"/>
              <a:t>Experience</a:t>
            </a:r>
            <a:r>
              <a:rPr/>
              <a:t> as the cornerstone critiquing non‑human learning.</a:t>
            </a:r>
          </a:p>
          <a:p>
            <a:pPr lvl="0"/>
            <a:r>
              <a:rPr/>
              <a:t>Contrast Hegelian experience with Locke’s empiricism to illuminate differences between human and machinic “experience.”</a:t>
            </a:r>
          </a:p>
          <a:p>
            <a:pPr lvl="0"/>
            <a:r>
              <a:rPr/>
              <a:t>Explore how experience connects to broader cognitive faculties: learning, consciousness, perception, and memory.</a:t>
            </a:r>
          </a:p>
          <a:p>
            <a:pPr lvl="0"/>
            <a:r>
              <a:rPr/>
              <a:t>Position this discussion within the course’s theme of synthesis—melding machine and human learning dynamics.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Recognition as a Social Dimension of Learning / Consciousness (Self/Other/Un/Non)</a:t>
            </a:r>
          </a:p>
        </p:txBody>
      </p:sp>
      <p:sp>
        <p:nvSpPr>
          <p:cNvPr id="3" name="Content Placeholder 2"/>
          <p:cNvSpPr>
            <a:spLocks noGrp="1"/>
          </p:cNvSpPr>
          <p:nvPr>
            <p:ph idx="1"/>
          </p:nvPr>
        </p:nvSpPr>
        <p:spPr/>
        <p:txBody>
          <a:bodyPr/>
          <a:lstStyle/>
          <a:p>
            <a:pPr lvl="0"/>
            <a:r>
              <a:rPr/>
              <a:t>Hegel frames recognition as linking individual learning to relational dynamics with others.</a:t>
            </a:r>
          </a:p>
          <a:p>
            <a:pPr lvl="0"/>
            <a:r>
              <a:rPr/>
              <a:t>The week’s discussion juxtaposes Vygotsky’s sociocultural theory with Hegelian insights on intersubjectivity.</a:t>
            </a:r>
          </a:p>
          <a:p>
            <a:pPr lvl="0"/>
            <a:r>
              <a:rPr/>
              <a:t>Machines are examined for their potential to “recognize” humans, raising questions about machine–human relationality.</a:t>
            </a:r>
          </a:p>
          <a:p>
            <a:pPr lvl="0"/>
            <a:r>
              <a:rPr/>
              <a:t>This exploration situates recognition as a foundational social process underpinning both human and machinic learning.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Attention Across Disciplines</a:t>
            </a:r>
          </a:p>
        </p:txBody>
      </p:sp>
      <p:sp>
        <p:nvSpPr>
          <p:cNvPr id="3" name="Content Placeholder 2"/>
          <p:cNvSpPr>
            <a:spLocks noGrp="1"/>
          </p:cNvSpPr>
          <p:nvPr>
            <p:ph idx="1"/>
          </p:nvPr>
        </p:nvSpPr>
        <p:spPr/>
        <p:txBody>
          <a:bodyPr/>
          <a:lstStyle/>
          <a:p>
            <a:pPr lvl="0"/>
            <a:r>
              <a:rPr/>
              <a:t>Integrates neuroscience, psychology, CS, philosophy, and media studies.</a:t>
            </a:r>
          </a:p>
          <a:p>
            <a:pPr lvl="0"/>
            <a:r>
              <a:rPr/>
              <a:t>Highlights the seminal paper </a:t>
            </a:r>
            <a:r>
              <a:rPr i="1"/>
              <a:t>Attention is All You Need</a:t>
            </a:r>
            <a:r>
              <a:rPr/>
              <a:t> as a pivot in machine learning.</a:t>
            </a:r>
          </a:p>
          <a:p>
            <a:pPr lvl="0"/>
            <a:r>
              <a:rPr/>
              <a:t>Connects computational attention mechanisms to human learning processes.</a:t>
            </a:r>
          </a:p>
          <a:p>
            <a:pPr lvl="0"/>
            <a:r>
              <a:rPr/>
              <a:t>Examines critiques of the “Attention Economy” within critical media theory.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Alignment Between Human Values and Machine Learning</a:t>
            </a:r>
          </a:p>
        </p:txBody>
      </p:sp>
      <p:sp>
        <p:nvSpPr>
          <p:cNvPr id="3" name="Content Placeholder 2"/>
          <p:cNvSpPr>
            <a:spLocks noGrp="1"/>
          </p:cNvSpPr>
          <p:nvPr>
            <p:ph idx="1"/>
          </p:nvPr>
        </p:nvSpPr>
        <p:spPr/>
        <p:txBody>
          <a:bodyPr/>
          <a:lstStyle/>
          <a:p>
            <a:pPr lvl="0"/>
            <a:r>
              <a:rPr/>
              <a:t>Alignment refers to aligning AI systems with human values, often via RLHF (reinforcement learning from human feedback).</a:t>
            </a:r>
          </a:p>
          <a:p>
            <a:pPr lvl="0"/>
            <a:r>
              <a:rPr/>
              <a:t>The concept parallels social norms—implied, value‑laden rules that shape behavior rather than explicit laws.</a:t>
            </a:r>
          </a:p>
          <a:p>
            <a:pPr lvl="0"/>
            <a:r>
              <a:rPr/>
              <a:t>Alignment is reciprocal: humans also align with others’ norms, and increasingly they align with machine‑generated values in education.</a:t>
            </a:r>
          </a:p>
          <a:p>
            <a:pPr lvl="0"/>
            <a:r>
              <a:rPr/>
              <a:t>This dual process highlights the pedagogical potential for AI to both reflect and reshape human learning practices.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Critique as the Hegelian Counterbalance to Alignment</a:t>
            </a:r>
          </a:p>
        </p:txBody>
      </p:sp>
      <p:sp>
        <p:nvSpPr>
          <p:cNvPr id="3" name="Content Placeholder 2"/>
          <p:cNvSpPr>
            <a:spLocks noGrp="1"/>
          </p:cNvSpPr>
          <p:nvPr>
            <p:ph idx="1"/>
          </p:nvPr>
        </p:nvSpPr>
        <p:spPr/>
        <p:txBody>
          <a:bodyPr/>
          <a:lstStyle/>
          <a:p>
            <a:pPr lvl="0"/>
            <a:r>
              <a:rPr/>
              <a:t>Critique examines failures of alignment when technology misses societal standards.</a:t>
            </a:r>
          </a:p>
          <a:p>
            <a:pPr lvl="0"/>
            <a:r>
              <a:rPr/>
              <a:t>It draws on Kantian categories—rational, practical, aesthetic—to frame how critique operates philosophically.</a:t>
            </a:r>
          </a:p>
          <a:p>
            <a:pPr lvl="0"/>
            <a:r>
              <a:rPr/>
              <a:t>The section explores Critical AI’s response to AI, positioning critique as both a tool and product of the very systems it scrutinizes.</a:t>
            </a:r>
          </a:p>
          <a:p>
            <a:pPr lvl="0"/>
            <a:r>
              <a:rPr/>
              <a:t>Overall, critique serves as the dialectical counterpart that ensures alignment remains reflexive and socially grounded.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Technosymbiosis as a Hegelian Synthesis</a:t>
            </a:r>
          </a:p>
        </p:txBody>
      </p:sp>
      <p:sp>
        <p:nvSpPr>
          <p:cNvPr id="3" name="Content Placeholder 2"/>
          <p:cNvSpPr>
            <a:spLocks noGrp="1"/>
          </p:cNvSpPr>
          <p:nvPr>
            <p:ph idx="1"/>
          </p:nvPr>
        </p:nvSpPr>
        <p:spPr/>
        <p:txBody>
          <a:bodyPr/>
          <a:lstStyle/>
          <a:p>
            <a:pPr lvl="0"/>
            <a:r>
              <a:rPr/>
              <a:t>Revisits synthesis, now enriched by prior concepts (experience, attention, recognition, consciousness).</a:t>
            </a:r>
          </a:p>
          <a:p>
            <a:pPr lvl="0"/>
            <a:r>
              <a:rPr/>
              <a:t>Positions Katherine Hayles’ “technosymbiosis” as the conjunction of technology and life.</a:t>
            </a:r>
          </a:p>
          <a:p>
            <a:pPr lvl="0"/>
            <a:r>
              <a:rPr/>
              <a:t>Frames technosymbiosis as an integrative model that subsumes alignment and critique.</a:t>
            </a:r>
          </a:p>
          <a:p>
            <a:pPr lvl="0"/>
            <a:r>
              <a:rPr/>
              <a:t>Emphasizes a dialectical evolution: each new idea reshapes the foundational notion of synthesis.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2026-08-31T19:00:08Z</dcterms:created>
  <dcterms:modified xsi:type="dcterms:W3CDTF">2026-08-31T19:00:08Z</dcterms:modified>
</cp:coreProperties>
</file>

<file path=docProps/custom.xml><?xml version="1.0" encoding="utf-8"?>
<Properties xmlns="http://schemas.openxmlformats.org/officeDocument/2006/custom-properties" xmlns:vt="http://schemas.openxmlformats.org/officeDocument/2006/docPropsVTypes"/>
</file>