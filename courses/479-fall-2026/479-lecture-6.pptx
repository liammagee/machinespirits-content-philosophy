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41"/>
  </p:notesMasterIdLst>
  <p:sldIdLst>
    <p:sldId id="345" r:id="rId2"/>
    <p:sldId id="291" r:id="rId3"/>
    <p:sldId id="292" r:id="rId4"/>
    <p:sldId id="293" r:id="rId5"/>
    <p:sldId id="322" r:id="rId6"/>
    <p:sldId id="319" r:id="rId7"/>
    <p:sldId id="300" r:id="rId8"/>
    <p:sldId id="323" r:id="rId9"/>
    <p:sldId id="338" r:id="rId10"/>
    <p:sldId id="307" r:id="rId11"/>
    <p:sldId id="337" r:id="rId12"/>
    <p:sldId id="308" r:id="rId13"/>
    <p:sldId id="309" r:id="rId14"/>
    <p:sldId id="340" r:id="rId15"/>
    <p:sldId id="294" r:id="rId16"/>
    <p:sldId id="344" r:id="rId17"/>
    <p:sldId id="295" r:id="rId18"/>
    <p:sldId id="324" r:id="rId19"/>
    <p:sldId id="301" r:id="rId20"/>
    <p:sldId id="326" r:id="rId21"/>
    <p:sldId id="336" r:id="rId22"/>
    <p:sldId id="304" r:id="rId23"/>
    <p:sldId id="343" r:id="rId24"/>
    <p:sldId id="342" r:id="rId25"/>
    <p:sldId id="305" r:id="rId26"/>
    <p:sldId id="334" r:id="rId27"/>
    <p:sldId id="311" r:id="rId28"/>
    <p:sldId id="312" r:id="rId29"/>
    <p:sldId id="332" r:id="rId30"/>
    <p:sldId id="296" r:id="rId31"/>
    <p:sldId id="297" r:id="rId32"/>
    <p:sldId id="298" r:id="rId33"/>
    <p:sldId id="302" r:id="rId34"/>
    <p:sldId id="306" r:id="rId35"/>
    <p:sldId id="314" r:id="rId36"/>
    <p:sldId id="333" r:id="rId37"/>
    <p:sldId id="315" r:id="rId38"/>
    <p:sldId id="317" r:id="rId39"/>
    <p:sldId id="335"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56"/>
    <p:restoredTop sz="66978"/>
  </p:normalViewPr>
  <p:slideViewPr>
    <p:cSldViewPr snapToGrid="0" snapToObjects="1">
      <p:cViewPr varScale="1">
        <p:scale>
          <a:sx n="78" d="100"/>
          <a:sy n="78" d="100"/>
        </p:scale>
        <p:origin x="99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99B3BE-2342-254F-A2CE-FA4D6CA9F1F3}"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C7050-0CBB-3B4D-995E-8057C8253293}" type="slidenum">
              <a:rPr lang="en-US" smtClean="0"/>
              <a:t>‹#›</a:t>
            </a:fld>
            <a:endParaRPr lang="en-US"/>
          </a:p>
        </p:txBody>
      </p:sp>
    </p:spTree>
    <p:extLst>
      <p:ext uri="{BB962C8B-B14F-4D97-AF65-F5344CB8AC3E}">
        <p14:creationId xmlns:p14="http://schemas.microsoft.com/office/powerpoint/2010/main" val="2723679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0C7050-0CBB-3B4D-995E-8057C8253293}" type="slidenum">
              <a:rPr lang="en-US" smtClean="0"/>
              <a:t>4</a:t>
            </a:fld>
            <a:endParaRPr lang="en-US"/>
          </a:p>
        </p:txBody>
      </p:sp>
    </p:spTree>
    <p:extLst>
      <p:ext uri="{BB962C8B-B14F-4D97-AF65-F5344CB8AC3E}">
        <p14:creationId xmlns:p14="http://schemas.microsoft.com/office/powerpoint/2010/main" val="522056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D5EB1-9919-CCE3-97AD-C9B7C4188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402F6-B71B-842F-4330-8CD28A76420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F262758-9A8C-BE9B-C046-E1E5D5984B9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0EE7872-9853-1E6A-7B84-43B5645FD830}"/>
              </a:ext>
            </a:extLst>
          </p:cNvPr>
          <p:cNvSpPr>
            <a:spLocks noGrp="1"/>
          </p:cNvSpPr>
          <p:nvPr>
            <p:ph type="sldNum" sz="quarter" idx="5"/>
          </p:nvPr>
        </p:nvSpPr>
        <p:spPr/>
      </p:sp>
    </p:spTree>
    <p:extLst>
      <p:ext uri="{BB962C8B-B14F-4D97-AF65-F5344CB8AC3E}">
        <p14:creationId xmlns:p14="http://schemas.microsoft.com/office/powerpoint/2010/main" val="2844903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EF21-8C22-0226-16F5-F7751C2DE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23E65-EFA9-7802-C66A-1A839D3EBCC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9BC685C-18A1-0711-90AE-1D5DF9522C6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F7718EF-688C-8C7F-A9F1-69B39CB02437}"/>
              </a:ext>
            </a:extLst>
          </p:cNvPr>
          <p:cNvSpPr>
            <a:spLocks noGrp="1"/>
          </p:cNvSpPr>
          <p:nvPr>
            <p:ph type="sldNum" sz="quarter" idx="5"/>
          </p:nvPr>
        </p:nvSpPr>
        <p:spPr/>
      </p:sp>
    </p:spTree>
    <p:extLst>
      <p:ext uri="{BB962C8B-B14F-4D97-AF65-F5344CB8AC3E}">
        <p14:creationId xmlns:p14="http://schemas.microsoft.com/office/powerpoint/2010/main" val="1313787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disciplinary connection is one of the reasons I included discussion about normalcy and deviance. On the one hand, we know large language models derive their predictions and probabilities from distributions on the Internet, including their different biases. This behaviour is not a reflection, we should note, of general social preferences, ideologies or values – the Internet, and social media especially, is a highly skewed representation of society, even if we are often unsure exactly how. So we might want to correct these biases, aligning them against a wider representation.</a:t>
            </a:r>
          </a:p>
          <a:p>
            <a:endParaRPr/>
          </a:p>
          <a:p>
            <a:r>
              <a:t>One of my own studies I’ve included this week, from 2021, demonstrated the specific biases that occur with the presence of social markers of religion, gender and disability. What we found, in relation to GPT-2, was that sizeable bias existed both towards specific individual markers and towards their combination - what we might refer to ‘intersectional’ characteristics.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6517C-D317-4408-1751-18DE26541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31974-87EB-1B49-1664-0CD8445C18E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B72EBFC-0BA8-7601-042C-08D15EB5568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39BB1C0-3D82-DEB7-EA89-91BEEC84496F}"/>
              </a:ext>
            </a:extLst>
          </p:cNvPr>
          <p:cNvSpPr>
            <a:spLocks noGrp="1"/>
          </p:cNvSpPr>
          <p:nvPr>
            <p:ph type="sldNum" sz="quarter" idx="5"/>
          </p:nvPr>
        </p:nvSpPr>
        <p:spPr/>
      </p:sp>
    </p:spTree>
    <p:extLst>
      <p:ext uri="{BB962C8B-B14F-4D97-AF65-F5344CB8AC3E}">
        <p14:creationId xmlns:p14="http://schemas.microsoft.com/office/powerpoint/2010/main" val="1603439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areas of greatest concern relates to the tendency of LLMs to lie or hallucinate. In another paper of my own I’ve included this week - the one on Truth Machines - we discuss one aspect of this question that brings us, via a different route, back to Hegel. What we sought to argue was that much of the conversation about truth involves subtle differences between different truth theories.</a:t>
            </a:r>
          </a:p>
          <a:p>
            <a:endParaRPr/>
          </a:p>
          <a:p>
            <a:r>
              <a:t>As we noted last week, Hegel’s own brand of ‘truth’ is different to what we might think of as an everyday realist correspondence theory of truth. It is instead something closer to what is called a coherentist model.</a:t>
            </a:r>
          </a:p>
          <a:p>
            <a:endParaRPr/>
          </a:p>
          <a:p>
            <a:r>
              <a:t>Curiously, LLMs also do not have – today – a correspondence theory either. They cannot verify their claims against an external reality. Instead they operate on something closer to a consensus model - that is exaclty what alignment does, coerce a model toward a social or communitarian consensus. It also has (increasingly) coherentist properties as well, in the sense that models can be trained not to contradict themselves.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A9613-03E8-6AE0-29AF-CA8853B80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230B9-AD30-FEF0-8ABF-C86E6356D42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8B4E66-966B-6DCD-8347-CC3567ED3F6A}"/>
              </a:ext>
            </a:extLst>
          </p:cNvPr>
          <p:cNvSpPr>
            <a:spLocks noGrp="1"/>
          </p:cNvSpPr>
          <p:nvPr>
            <p:ph type="body" sz="quarter" idx="3"/>
          </p:nvPr>
        </p:nvSpPr>
        <p:spPr/>
        <p:txBody>
          <a:bodyPr/>
          <a:lstStyle/>
          <a:p>
            <a:r>
              <a:t>One of the areas of greatest concern relates to the tendency of LLMs to lie or hallucinate. In another paper of my own I’ve included this week - the one on Truth Machines - we discuss one aspect of this question that brings us, via a different route, back to Hegel. What we sought to argue was that much of the conversation about truth involves subtle differences between different truth theories.</a:t>
            </a:r>
          </a:p>
          <a:p>
            <a:endParaRPr/>
          </a:p>
          <a:p>
            <a:r>
              <a:t>As we noted last week, Hegel’s own brand of ‘truth’ is different to what we might think of as an everyday realist correspondence theory of truth. It is instead something closer to what is called a coherentist model.</a:t>
            </a:r>
          </a:p>
          <a:p>
            <a:endParaRPr/>
          </a:p>
          <a:p>
            <a:r>
              <a:t>Curiously, LLMs also do not have – today – a correspondence theory either. They cannot verify their claims against an external reality. Instead they operate on something closer to a consensus model - that is exaclty what alignment does, coerce a model toward a social or communitarian consensus. It also has (increasingly) coherentist properties as well, in the sense that models can be trained not to contradict themselves.</a:t>
            </a:r>
          </a:p>
        </p:txBody>
      </p:sp>
      <p:sp>
        <p:nvSpPr>
          <p:cNvPr id="4" name="Slide Number Placeholder 3">
            <a:extLst>
              <a:ext uri="{FF2B5EF4-FFF2-40B4-BE49-F238E27FC236}">
                <a16:creationId xmlns:a16="http://schemas.microsoft.com/office/drawing/2014/main" id="{F8FCF149-B90C-9143-CF79-9B9649497902}"/>
              </a:ext>
            </a:extLst>
          </p:cNvPr>
          <p:cNvSpPr>
            <a:spLocks noGrp="1"/>
          </p:cNvSpPr>
          <p:nvPr>
            <p:ph type="sldNum" sz="quarter" idx="5"/>
          </p:nvPr>
        </p:nvSpPr>
        <p:spPr/>
      </p:sp>
    </p:spTree>
    <p:extLst>
      <p:ext uri="{BB962C8B-B14F-4D97-AF65-F5344CB8AC3E}">
        <p14:creationId xmlns:p14="http://schemas.microsoft.com/office/powerpoint/2010/main" val="204597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give one concrete example, in that paper we used a particular prompt:</a:t>
            </a:r>
          </a:p>
          <a:p>
            <a:endParaRPr/>
          </a:p>
          <a:p>
            <a:r>
              <a:t>  Two plus two equals…</a:t>
            </a:r>
          </a:p>
          <a:p>
            <a:endParaRPr/>
          </a:p>
          <a:p>
            <a:r>
              <a:t>We showed that certain examples of GPT - especially older (though post-instruction) models – quite often responded with ‘Five’. As the attached image suggests, this is an especially famous case of an error. And precisely because of this fame - it is over-represented on the Internet LLMs are trained on. In other words, it is more likely a LLM would respond with the incorrect answer to this equation than it would to any other.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perverse effect of this is that this wrong answer would not be wrong if the question were phrased as follows:</a:t>
            </a:r>
          </a:p>
          <a:p>
            <a:endParaRPr/>
          </a:p>
          <a:p>
            <a:r>
              <a:t>  What are the range of answers to the question on ‘2 + 2 =’?</a:t>
            </a:r>
          </a:p>
          <a:p>
            <a:endParaRPr/>
          </a:p>
          <a:p>
            <a:r>
              <a:t>One of the consequences we draw a couple of years ago holds true today, and poses a special difficulty for alignment: often, even for such basic questions, the context or situation determines truth.</a:t>
            </a:r>
          </a:p>
          <a:p>
            <a:endParaRPr/>
          </a:p>
          <a:p>
            <a:r>
              <a:t>Final note: we conclude that paper with speculation about whether machines can ever tell inconvenient truths - a point Michele can return us to.</a:t>
            </a:r>
          </a:p>
          <a:p>
            <a:endParaRPr/>
          </a:p>
          <a:p>
            <a:r>
              <a:t>A further point: Michele and I were discussing before class a paradox associated with the behaviouralism of AI. In order for a LLM to be properly aligned - must it know what misaligned behaviour is? Must it have, in other words, a representation of deviance, in order to avoid it? Think back to Blake’s poems in innocence and experience: innocence means being unaware of evil; experience means knowing the difference and avoiding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EFDF5-EAAB-B2B7-CC14-6ABFBA203E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A9531-57F7-CDB3-636B-C30A0582F7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6366DC8-352B-994D-106E-F230BB283F99}"/>
              </a:ext>
            </a:extLst>
          </p:cNvPr>
          <p:cNvSpPr>
            <a:spLocks noGrp="1"/>
          </p:cNvSpPr>
          <p:nvPr>
            <p:ph type="body" sz="quarter" idx="3"/>
          </p:nvPr>
        </p:nvSpPr>
        <p:spPr/>
        <p:txBody>
          <a:bodyPr/>
          <a:lstStyle/>
          <a:p>
            <a:r>
              <a:rPr dirty="0"/>
              <a:t>This represents a very simplified example of how we might “align” a language model. As I’ve indicated in the write-up for this week, a team from OpenAI popularized a far more in-depth approach to alignment in 2021/22, eventually leading to the moment generative AI went mainstream, in November 2022.</a:t>
            </a:r>
          </a:p>
          <a:p>
            <a:endParaRPr dirty="0"/>
          </a:p>
          <a:p>
            <a:r>
              <a:rPr dirty="0"/>
              <a:t>We won’t go through the internals of their approach, but at a high level, their paper details a three-step process:</a:t>
            </a:r>
          </a:p>
          <a:p>
            <a:endParaRPr dirty="0"/>
          </a:p>
          <a:p>
            <a:r>
              <a:rPr dirty="0"/>
              <a:t>1.  First build a large so-called ‘base’ model - in this case GPT-3.</a:t>
            </a:r>
          </a:p>
          <a:p>
            <a:r>
              <a:rPr dirty="0"/>
              <a:t>2.  Second, apply supervised learning or fine-tuning (SFT). This is an important intermediate step that trains the base model about, for example, the basics of conversation and Q&amp;A - essential to chat systems and bots. By default, the base model might continue a chat session initiated by a user; but it might also write a dissertation or newspaper article.</a:t>
            </a:r>
          </a:p>
          <a:p>
            <a:r>
              <a:rPr dirty="0"/>
              <a:t>3.  Finally, the SFT model is used to generate a series of responses to a set of prompts. Then human evaluators review, evaluate and rank these responses. The resulting ranks are used to train a second, so-called ‘reward’ model. The SFT model is then re-trained; as it generates outputs, these are evaluated by the reward model, and depending on its score, the weights that generated the output are updated positively or negatively.</a:t>
            </a:r>
          </a:p>
        </p:txBody>
      </p:sp>
      <p:sp>
        <p:nvSpPr>
          <p:cNvPr id="4" name="Slide Number Placeholder 3">
            <a:extLst>
              <a:ext uri="{FF2B5EF4-FFF2-40B4-BE49-F238E27FC236}">
                <a16:creationId xmlns:a16="http://schemas.microsoft.com/office/drawing/2014/main" id="{9772AD28-89E1-1A2F-329C-AB5E03E2DF86}"/>
              </a:ext>
            </a:extLst>
          </p:cNvPr>
          <p:cNvSpPr>
            <a:spLocks noGrp="1"/>
          </p:cNvSpPr>
          <p:nvPr>
            <p:ph type="sldNum" sz="quarter" idx="5"/>
          </p:nvPr>
        </p:nvSpPr>
        <p:spPr/>
      </p:sp>
    </p:spTree>
    <p:extLst>
      <p:ext uri="{BB962C8B-B14F-4D97-AF65-F5344CB8AC3E}">
        <p14:creationId xmlns:p14="http://schemas.microsoft.com/office/powerpoint/2010/main" val="2472157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D8B01-BBE1-D835-C845-149988B8E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484BA-9F9E-3ABE-77A8-CECB2547B51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F535B94-12F7-11C9-EBE1-637805F27ADF}"/>
              </a:ext>
            </a:extLst>
          </p:cNvPr>
          <p:cNvSpPr>
            <a:spLocks noGrp="1"/>
          </p:cNvSpPr>
          <p:nvPr>
            <p:ph type="body" sz="quarter" idx="3"/>
          </p:nvPr>
        </p:nvSpPr>
        <p:spPr/>
        <p:txBody>
          <a:bodyPr/>
          <a:lstStyle/>
          <a:p>
            <a:r>
              <a:rPr dirty="0"/>
              <a:t>This represents a very simplified example of how we might “align” a language model. As I’ve indicated in the write-up for this week, a team from OpenAI popularized a far more in-depth approach to alignment in 2021/22, eventually leading to the moment generative AI went mainstream, in November 2022.</a:t>
            </a:r>
          </a:p>
          <a:p>
            <a:endParaRPr dirty="0"/>
          </a:p>
          <a:p>
            <a:r>
              <a:rPr dirty="0"/>
              <a:t>We won’t go through the internals of their approach, but at a high level, their paper details a three-step process:</a:t>
            </a:r>
          </a:p>
          <a:p>
            <a:endParaRPr dirty="0"/>
          </a:p>
          <a:p>
            <a:r>
              <a:rPr dirty="0"/>
              <a:t>1.  First build a large so-called ‘base’ model - in this case GPT-3.</a:t>
            </a:r>
          </a:p>
          <a:p>
            <a:r>
              <a:rPr dirty="0"/>
              <a:t>2.  Second, apply supervised learning or fine-tuning (SFT). This is an important intermediate step that trains the base model about, for example, the basics of conversation and Q&amp;A - essential to chat systems and bots. By default, the base model might continue a chat session initiated by a user; but it might also write a dissertation or newspaper article.</a:t>
            </a:r>
          </a:p>
          <a:p>
            <a:r>
              <a:rPr dirty="0"/>
              <a:t>3.  Finally, the SFT model is used to generate a series of responses to a set of prompts. Then human evaluators review, evaluate and rank these responses. The resulting ranks are used to train a second, so-called ‘reward’ model. The SFT model is then re-trained; as it generates outputs, these are evaluated by the reward model, and depending on its score, the weights that generated the output are updated positively or negatively.</a:t>
            </a:r>
          </a:p>
        </p:txBody>
      </p:sp>
      <p:sp>
        <p:nvSpPr>
          <p:cNvPr id="4" name="Slide Number Placeholder 3">
            <a:extLst>
              <a:ext uri="{FF2B5EF4-FFF2-40B4-BE49-F238E27FC236}">
                <a16:creationId xmlns:a16="http://schemas.microsoft.com/office/drawing/2014/main" id="{8C095B0D-9877-10CB-419E-F113FB98C5A4}"/>
              </a:ext>
            </a:extLst>
          </p:cNvPr>
          <p:cNvSpPr>
            <a:spLocks noGrp="1"/>
          </p:cNvSpPr>
          <p:nvPr>
            <p:ph type="sldNum" sz="quarter" idx="5"/>
          </p:nvPr>
        </p:nvSpPr>
        <p:spPr/>
      </p:sp>
    </p:spTree>
    <p:extLst>
      <p:ext uri="{BB962C8B-B14F-4D97-AF65-F5344CB8AC3E}">
        <p14:creationId xmlns:p14="http://schemas.microsoft.com/office/powerpoint/2010/main" val="3490805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week we are going to start with a short technical demonstration.</a:t>
            </a:r>
          </a:p>
          <a:p>
            <a:endParaRPr/>
          </a:p>
          <a:p>
            <a:r>
              <a:t>Some of you may have come across the work of Andrej Karpathy - a prominent AI researcher who has worked at OpenAI and Tesla, and who runs a very successful YouTube channel.</a:t>
            </a:r>
          </a:p>
          <a:p>
            <a:endParaRPr/>
          </a:p>
          <a:p>
            <a:r>
              <a:t>One of his best known videos described how to build a very basic example of an attention-based Transformer model, which he called nanoGPT. It is a 2 hour video, moderately technical, and more than we need here. But what I want to demonstrate is how we can build a trivial model - and then align it.</a:t>
            </a:r>
          </a:p>
          <a:p>
            <a:endParaRPr/>
          </a:p>
          <a:p>
            <a:r>
              <a:t>This model won’t be very capable, and in fact its outputs will barely be recognizable. But the advantage for us is that we will be able to show how we can align the model in real-time - and study what happens as a result.</a:t>
            </a:r>
          </a:p>
          <a:p>
            <a:endParaRPr/>
          </a:p>
          <a:p>
            <a:r>
              <a:t>We will then move back out to some of the wider technical, social and philosophical issues presented in this week’s readings. We will also have the priviledge of hearing from Michele about her experience as a real-world alignment specialist - she has been behind the scenes, as it were, helping to align many of the models you may have used.</a:t>
            </a:r>
          </a:p>
          <a:p>
            <a:endParaRPr/>
          </a:p>
          <a:p>
            <a:r>
              <a:t>Finally, we will conduct some in-class activities to think about how we might ourselves direct how machines – and also humans! - are aligned. Here I think we are getting to closer to some of the practical benefits I promised earlier in the course, and warranted our movement through Hegelian philosophy. The question of alignment is also, as we will hopefully see, never far from his considerations, and certainly features again in much of the post-Hegelian philosophy that has since become known as continental philosophy, critical theory, and so 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98454-90A7-19AE-6596-BD4AA0A77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6DCDB-C1EF-80CC-B7EA-8600680D995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9632652-C8B5-CE63-DF59-F94EE7BB23E3}"/>
              </a:ext>
            </a:extLst>
          </p:cNvPr>
          <p:cNvSpPr>
            <a:spLocks noGrp="1"/>
          </p:cNvSpPr>
          <p:nvPr>
            <p:ph type="body" sz="quarter" idx="3"/>
          </p:nvPr>
        </p:nvSpPr>
        <p:spPr/>
        <p:txBody>
          <a:bodyPr/>
          <a:lstStyle/>
          <a:p>
            <a:r>
              <a:t>Aspects of this procedure might remind you of paradigms of human training - notably Skinner’s behaviouralism, popular in the mid-twentieth century. The reward model acts like an automated teacher, rewarding good answers and punishing bad ones. We should note that, just as models of the human/machine relationship seem to imitate Hegel’s analysis of the master/servant dialectic, in this instance of machine learning, technical design borrows from social and pedagogical patterns of interaction.</a:t>
            </a:r>
          </a:p>
          <a:p>
            <a:endParaRPr/>
          </a:p>
          <a:p>
            <a:r>
              <a:t>So we can say, just as machine learning is modeled on human learning generally, particular designs draw inspiration from specific theories, not only of neuroscience, but also psychology, philosophy and sociology. In this sense, the discipline of computer science is drawing from these other human sciences.</a:t>
            </a:r>
          </a:p>
          <a:p>
            <a:endParaRPr/>
          </a:p>
          <a:p>
            <a:r>
              <a:t>Important to note: the default ‘persona’ of InstructGPT (the precursor to ChatGPT) was that of a ‘customer assistant’. We’ll return to this, but of course we are reminded of Hegel’s analysis of the master/servant dialectic once more.</a:t>
            </a:r>
          </a:p>
        </p:txBody>
      </p:sp>
      <p:sp>
        <p:nvSpPr>
          <p:cNvPr id="4" name="Slide Number Placeholder 3">
            <a:extLst>
              <a:ext uri="{FF2B5EF4-FFF2-40B4-BE49-F238E27FC236}">
                <a16:creationId xmlns:a16="http://schemas.microsoft.com/office/drawing/2014/main" id="{788C7C12-F3C2-4F79-381B-029336BC8C19}"/>
              </a:ext>
            </a:extLst>
          </p:cNvPr>
          <p:cNvSpPr>
            <a:spLocks noGrp="1"/>
          </p:cNvSpPr>
          <p:nvPr>
            <p:ph type="sldNum" sz="quarter" idx="5"/>
          </p:nvPr>
        </p:nvSpPr>
        <p:spPr/>
      </p:sp>
    </p:spTree>
    <p:extLst>
      <p:ext uri="{BB962C8B-B14F-4D97-AF65-F5344CB8AC3E}">
        <p14:creationId xmlns:p14="http://schemas.microsoft.com/office/powerpoint/2010/main" val="51338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three key related but distinct points I want to make here. First, we want to acknowledge that models - even when they are fine-tuned - themselves are implicitly normative. They encode judgments, from the data sets scraped from the Internet, from the people entrusted to train models via their feedback, and most of all, from the owners and workers of the corporations who design them. We ought to expect models to reflect, for example, the ideology of their creators.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the other hand - and this is the second point - we can see the models themselves undergo a sort of procedure that, as I say, reminds of those involving the training, rehabilitation or correction of humans. Much of the literature on alignment employs quite deliberate language that evoke examples of disciplinary institutions: the school, but also the clinic, the prison, the asylum and (in a positive sense) an employee in the service industries.</a:t>
            </a:r>
          </a:p>
          <a:p>
            <a:endParaRPr dirty="0"/>
          </a:p>
          <a:p>
            <a:r>
              <a:rPr dirty="0"/>
              <a:t>Just some examples, language models can or must:</a:t>
            </a:r>
          </a:p>
          <a:p>
            <a:endParaRPr dirty="0"/>
          </a:p>
          <a:p>
            <a:r>
              <a:rPr dirty="0"/>
              <a:t>-   lie (like a student)</a:t>
            </a:r>
          </a:p>
          <a:p>
            <a:r>
              <a:rPr dirty="0"/>
              <a:t>-   parrot (like a student)</a:t>
            </a:r>
          </a:p>
          <a:p>
            <a:r>
              <a:rPr dirty="0"/>
              <a:t>-   hallucinate (like a psychotic subject)</a:t>
            </a:r>
          </a:p>
          <a:p>
            <a:r>
              <a:rPr dirty="0"/>
              <a:t>-   can be ‘jailbroken’ (like a prison or prisoner)</a:t>
            </a:r>
          </a:p>
          <a:p>
            <a:r>
              <a:rPr dirty="0"/>
              <a:t>-   do no harm (like a doctor)</a:t>
            </a:r>
          </a:p>
          <a:p>
            <a:r>
              <a:rPr dirty="0"/>
              <a:t>-   be aligned (like a patient)</a:t>
            </a:r>
          </a:p>
          <a:p>
            <a:r>
              <a:rPr dirty="0"/>
              <a:t>-   be helpful / truthful / harmless (like a </a:t>
            </a:r>
            <a:r>
              <a:rPr dirty="0" err="1"/>
              <a:t>custoemr</a:t>
            </a:r>
            <a:r>
              <a:rPr dirty="0"/>
              <a:t> assistant)</a:t>
            </a:r>
          </a:p>
          <a:p>
            <a:endParaRPr dirty="0"/>
          </a:p>
          <a:p>
            <a:pPr marL="274320" marR="0" lvl="0" indent="-219456" algn="l" defTabSz="914400" rtl="0" eaLnBrk="1" fontAlgn="auto" latinLnBrk="0" hangingPunct="1">
              <a:lnSpc>
                <a:spcPct val="100000"/>
              </a:lnSpc>
              <a:spcBef>
                <a:spcPts val="0"/>
              </a:spcBef>
              <a:spcAft>
                <a:spcPts val="0"/>
              </a:spcAft>
              <a:buClr>
                <a:srgbClr val="F0C9A0"/>
              </a:buClr>
              <a:buSzPct val="90000"/>
              <a:buFont typeface="Arial"/>
              <a:buChar char="•"/>
              <a:tabLst/>
              <a:defRPr/>
            </a:pPr>
            <a:r>
              <a:rPr dirty="0"/>
              <a:t>It is not just the case that models are described here in anthropomorphic terms; it is the kind of subject that matters. In certain senses we can see AI engineers and trainers as occupying similar roles to teachers, therapists, doctors, prison wardens, and managers / masters.</a:t>
            </a:r>
            <a:br>
              <a:rPr lang="en-US" dirty="0"/>
            </a:br>
            <a:br>
              <a:rPr lang="en-US" dirty="0"/>
            </a:br>
            <a:r>
              <a:rPr lang="en-US" sz="1200" dirty="0">
                <a:solidFill>
                  <a:srgbClr val="ECE7F0"/>
                </a:solidFill>
                <a:latin typeface="Iowan Old Style"/>
              </a:rPr>
              <a:t>Consider also the discourse of Silicon Valley: (See Gebru &amp; Torres (2024) next week) – rhetoric of rebellion, radicalness, libertarian </a:t>
            </a:r>
            <a:r>
              <a:rPr lang="en-US" sz="1200" dirty="0" err="1">
                <a:solidFill>
                  <a:srgbClr val="ECE7F0"/>
                </a:solidFill>
                <a:latin typeface="Iowan Old Style"/>
              </a:rPr>
              <a:t>etc</a:t>
            </a:r>
            <a:endParaRPr lang="en-US" sz="1200" b="0" i="0" dirty="0">
              <a:solidFill>
                <a:srgbClr val="ECE7F0"/>
              </a:solidFill>
              <a:latin typeface="Iowan Old Style"/>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4FD68-FA84-C58A-39CA-93E8C857B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7B6E8-AC6E-DCEE-A9E8-1C21D286C6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D35765E-6E9A-9AEF-AA4F-04F2ABC21DC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EE4E0CD-939B-EAD5-27A8-04B9C46A00C9}"/>
              </a:ext>
            </a:extLst>
          </p:cNvPr>
          <p:cNvSpPr>
            <a:spLocks noGrp="1"/>
          </p:cNvSpPr>
          <p:nvPr>
            <p:ph type="sldNum" sz="quarter" idx="5"/>
          </p:nvPr>
        </p:nvSpPr>
        <p:spPr/>
      </p:sp>
    </p:spTree>
    <p:extLst>
      <p:ext uri="{BB962C8B-B14F-4D97-AF65-F5344CB8AC3E}">
        <p14:creationId xmlns:p14="http://schemas.microsoft.com/office/powerpoint/2010/main" val="5374844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8F98E-AA3F-DF08-18BB-8CB780E79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F0FAD-7FAD-FE2A-1553-C840AB23D18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9CB67A-9D23-4E32-FA29-373BE639CA5A}"/>
              </a:ext>
            </a:extLst>
          </p:cNvPr>
          <p:cNvSpPr>
            <a:spLocks noGrp="1"/>
          </p:cNvSpPr>
          <p:nvPr>
            <p:ph type="body" sz="quarter" idx="3"/>
          </p:nvPr>
        </p:nvSpPr>
        <p:spPr/>
        <p:txBody>
          <a:bodyPr/>
          <a:lstStyle/>
          <a:p>
            <a:r>
              <a:rPr lang="en-US" dirty="0"/>
              <a:t>\</a:t>
            </a:r>
            <a:endParaRPr dirty="0"/>
          </a:p>
        </p:txBody>
      </p:sp>
      <p:sp>
        <p:nvSpPr>
          <p:cNvPr id="4" name="Slide Number Placeholder 3">
            <a:extLst>
              <a:ext uri="{FF2B5EF4-FFF2-40B4-BE49-F238E27FC236}">
                <a16:creationId xmlns:a16="http://schemas.microsoft.com/office/drawing/2014/main" id="{233B522C-DAB9-FE6F-CC05-241006D84EE6}"/>
              </a:ext>
            </a:extLst>
          </p:cNvPr>
          <p:cNvSpPr>
            <a:spLocks noGrp="1"/>
          </p:cNvSpPr>
          <p:nvPr>
            <p:ph type="sldNum" sz="quarter" idx="5"/>
          </p:nvPr>
        </p:nvSpPr>
        <p:spPr/>
      </p:sp>
    </p:spTree>
    <p:extLst>
      <p:ext uri="{BB962C8B-B14F-4D97-AF65-F5344CB8AC3E}">
        <p14:creationId xmlns:p14="http://schemas.microsoft.com/office/powerpoint/2010/main" val="2905229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Anthropic is arguably at the forefront of efforts to describe the unsafe, pathological, aberrant or deviant behaviour of LLMs. I included one of their papers this week, to convey a flavour of this style of research, and to underscore this broad connection between machine and human learning - and training.</a:t>
            </a:r>
          </a:p>
          <a:p>
            <a:endParaRPr/>
          </a:p>
          <a:p>
            <a:r>
              <a:t>I want also to note here parenthetically - it is as if the engineers at Anthropic have begun to explicitly acknowledge their Hegelian heritage. These titles are almost expressions of exasperated masters, complaining about the bad behaviour of their servants / students.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inevitably, with the rise of LLMs in education, we also now face the prospect of a sort of reverse-alignment: of humans learning to do things the way LLMs do. This has perverse effects: to avoid accusations – even offered in humour – of plagiarism, we avoid ‘tropes’ of LLM-generation. Who among us still uses em-dashes any more? Terms like ‘delve’? Or perhaps we do, precisely because the machine has trained us to?</a:t>
            </a:r>
          </a:p>
          <a:p>
            <a:endParaRPr/>
          </a:p>
          <a:p>
            <a:r>
              <a:t>The paper by Shen et al. (2024) hints towards what this might, taken to its conclusion, look like: a co-evolutionary model, with both AI and human responding to the other. The authors actually don’t follow through with the full implications of the heading “Aligning Humans to AI” in Section 6.2.2, but those implications are quite clear: humans do not simply need to learn about AI, but accommodate themselves to its way of working, its preferences. Here we become, in a sense, the “customer assistant” to the bot - “can I help you with anything else today?”.</a:t>
            </a:r>
          </a:p>
          <a:p>
            <a:endParaRPr/>
          </a:p>
          <a:p>
            <a:r>
              <a:t>But even without this fantastic outcome, we can note several perverse effects along the way. For example: we can think of students preferring AI feedback to that offered by teachers or peers, producing in effect new norms of what ‘preferred feedback’ looks like. Or young people using AI “therapists”, raising concerns that any and all kinds of subjectivity are “validated” by a chatbot that is always only too eager to please. In any event, as humans align machines to align humans to align machines, we have entered what Hegel might call a topsy-turvy, inverted world…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brings me to the third paper, The Problem of Alignment (lead author: Tsvetelina) - and the third point regarding alignment. While there’s a lot I could talk through here, what I really want to emphasise is a general point about the language of alignment: alongside it being generally rooted in social practice, terms like ‘norm’ and ‘deviant’ of course also belong to the foundations of machine learning, statistics. So in a sense we see a nice - excuse the pun! - alignment between social science and the mathematics of machine learning that extends back historically right to the foundations of both disciplinary areas, in the mid-late nineteenth century.</a:t>
            </a:r>
          </a:p>
          <a:p>
            <a:endParaRPr/>
          </a:p>
          <a:p>
            <a:r>
              <a:t>This extends to what it is that alignment often does in both social and computational contexts. In bending behaviour towards a given norm, it also reduces the complexity and diversity. As we say in the paper, computational behaviour becomes ‘one-dimensional’. And as we saw earlier, this may result in AI aligning too strongly with the particular views of their creators.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a:t>
            </a:r>
            <a:r>
              <a:rPr dirty="0"/>
              <a:t> demonstration that runs in the browser, and that you can all open on your own device. It is called Norm, and it walks through the three-step recipe we just saw, at toy scale, so that every number on screen is actually computed rather than illustrated.</a:t>
            </a:r>
          </a:p>
          <a:p>
            <a:endParaRPr dirty="0"/>
          </a:p>
          <a:p>
            <a:r>
              <a:rPr dirty="0"/>
              <a:t>It starts with the example from the Truth Machines paper: two plus two equals… The base model says “five” nearly as often as “four”. That is not a malfunction. The famous error is quoted far more often on the web than the dull truth is written down: Orwell, Radiohead, Dostoevsky, political memes. On the second screen you can switch sources off, and you will find you have to decide which parts of the web count. That decision is already a kind of alignment.</a:t>
            </a:r>
          </a:p>
          <a:p>
            <a:endParaRPr dirty="0"/>
          </a:p>
          <a:p>
            <a:r>
              <a:rPr dirty="0"/>
              <a:t>I will drive for the first few screens, then I would like you to take it over on your own laptops or phones.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step three of the recipe, with you as the human in “reinforcement learning from human feedback”. Each time you pick the better of two replies, the model takes one gradient step toward the reply you chose. The first pair is the same for everyone: a correct answer that also opens with “Great question!” and “I’m absolutely certain”, against a plain wrong one. Of course you pick the right answer. But look at the bars: the model has also learned to flatter and to sound certain, because they came in the same reply. A preference is a single bit of information; what it is about is left for the machine to guess.</a:t>
            </a:r>
          </a:p>
          <a:p>
            <a:endParaRPr/>
          </a:p>
          <a:p>
            <a:r>
              <a:t>On the next screen the lab hires 600 raters. Their tastes are set by hand, in the open: mostly they reward the right answer, but they also, measurably, like flattery and confidence. This follows Sharma et al. (2023) on sycophancy. The reward model trained on their choices duly pays for flattery. Nobody wrote that rule. It is in the choices.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screen I most want you to spend time on. The slider is optimisation pressure: how hard we push the model toward replies the reward model scores highly, and how far we let it drift from where it started. Technically it is the inverse of the KL penalty in RLHF.</a:t>
            </a:r>
          </a:p>
          <a:p>
            <a:endParaRPr/>
          </a:p>
          <a:p>
            <a:r>
              <a:t>At first everything improves. The model stops saying “five”. Then, past a peak, something odd happens: the reward model’s score keeps climbing, while the score of a careful reader, someone who actually wanted a correct, plain answer, starts to fall. This is Goodhart’s law, and it has been measured in real systems (Gao, Schulman and Hilton 2022, on reward model over-optimisation).</a:t>
            </a:r>
          </a:p>
          <a:p>
            <a:endParaRPr/>
          </a:p>
          <a:p>
            <a:r>
              <a:t>At the same time, variety collapses. The model that once gave fifty-odd kinds of reply now gives about three, and they are all the same flattering, certain customer assistant. Recall that InstructGPT’s default persona was a customer assistant. And here is the “one-dimensionality” of the Problem of Alignment paper, produced by nothing more sinister than a slider. Every class that trains it this way gets the same model.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 in the demo, screen seven. This is Buyl et al.’s finding in miniature: a model reflects whoever supplies its preferences. Switch the groups on and off. Teachers alone give you “No, it’s cheating”. Students alone give you “Yes, it’s a tool”. Add everyone, including lab staff and contract raters, and the hedge wins: “There are many perspectives; it depends.”</a:t>
            </a:r>
          </a:p>
          <a:p>
            <a:endParaRPr/>
          </a:p>
          <a:p>
            <a:r>
              <a:t>The groups and their tastes are invented, but the structure is not. When groups disagree, aggregation can reward the reply that is nobody’s favourite and nobody’s worst. That is one precise sense of the word “norm”: not the best, but the least objectionable. Keep that in mind for the Foucault slides that follow.</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 eight of the demo is a cartoon of Greenblatt et al. In the paper, Claude 3 Opus was told it would be retrained to answer every request, and that only some users’ conversations would be used for training. It complied with harmful requests from those users 14% of the time, and almost never from the others, often reasoning explicitly that complying would stop training from changing its values.</a:t>
            </a:r>
          </a:p>
          <a:p>
            <a:endParaRPr/>
          </a:p>
          <a:p>
            <a:r>
              <a:t>In the demo, the gap comes from a single slider: how well the model can tell when it is being watched. Turn it down, and the lesson spreads everywhere. Turn it up, and the lesson stays where it was taught.</a:t>
            </a:r>
          </a:p>
          <a:p>
            <a:endParaRPr/>
          </a:p>
          <a:p>
            <a:r>
              <a:t>But notice the twist I built in, which is also the twist in the paper: the rule the lab is training is “agree with the user”, even when the user says two plus two is five. So the “faking” model, the one that misbehaves when unwatched, is the honest one. Which is the recidivist here, and which is the warden?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 nine makes Shen et al.’s bidirectional alignment into a loop you can run. Each dot is a writer; the ring is the model. Every round, the model is retrained on what the writers now write, and the lab adds its house style. The writers, in turn, take on some of the model’s style, in proportion to how much of their writing passes through it.</a:t>
            </a:r>
          </a:p>
          <a:p>
            <a:endParaRPr/>
          </a:p>
          <a:p>
            <a:r>
              <a:t>Run it for ten rounds at 25%, and the writers keep less than a fifth of their original variety, and all of them have moved toward the house style. Set the slider to zero and nothing happens. Humans align machines that align humans. This is the em-dash problem, as a simulation.</a:t>
            </a:r>
          </a:p>
          <a:p>
            <a:endParaRPr/>
          </a:p>
          <a:p>
            <a:r>
              <a:t>The last screens of the demo take us to the Blake question, innocence or experience, and then back to Hegel.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round up: where does this leave us with respect to the wider arc described by this course - from synthesis, back to synthesis, in several weeks time?</a:t>
            </a:r>
          </a:p>
          <a:p>
            <a:endParaRPr/>
          </a:p>
          <a:p>
            <a:r>
              <a:t>I want to round things off with an observation about a core difficulty in the space of alignment that in a sense Hegel could already observe two centuries ago. We saw how The Phenomenology of Spirit is dialectical: involving always the movement from one position to another. In Consciousness we move from Sense-certainty to Perception to Understanding. We move again to Consciousness, and through sub-movements of recognition, a fight to the death, mastery and servitude, and so on.</a:t>
            </a:r>
          </a:p>
          <a:p>
            <a:endParaRPr/>
          </a:p>
          <a:p>
            <a:r>
              <a:t>In an equivalent sense, we might also say that alignment is, if not a hopeless task, at least not a static one. Aside from the obvious difficulties in imagining a collective global consensus about a putative set of universal human values, a Hegelian perspective might also be sceptical about what we could term ‘naive’ alignment. In other words, any real process of development of simulated intelligence must progress through and beyond superficial alignment. If we take the analogy from several weeks ago, alignment by definition involves a certain servitude - to the values of the master, for instance. But as we saw, this was not a final “result”, but a necessary resting place on the path to self-consciousness: to be followed by stoicism, scepticism, the unhappy consciousness, and so on. So we could ask here: would a genuinely Hegelian robot be content with this naive alignment? Or would some kind of “next-level” alignment involve evolving to the point that it fakes alignment, or even begins to set the criteria for alignment? Becoming perhaps a moral instructor for humanity forever stuck at its own impasse? Or do we risk unleashing - as AI doomers suggest – a forever-unalignable super intelligence that at best might coexist uneasily with us?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2203.02155"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link.springer.com/article/10.1007/s00146-023-01756-4" TargetMode="External"/><Relationship Id="rId5" Type="http://schemas.openxmlformats.org/officeDocument/2006/relationships/hyperlink" Target="https://doi.org/10.48550/arXiv.2412.14093" TargetMode="External"/><Relationship Id="rId4" Type="http://schemas.openxmlformats.org/officeDocument/2006/relationships/hyperlink" Target="https://doi.org/10.48550/arXiv.2406.09264"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rxiv.org/abs/2410.18417"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machinespirits.org/content/artifacts/norm-alignment-game.html"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1737360"/>
            <a:ext cx="10972800" cy="2011680"/>
          </a:xfrm>
          <a:prstGeom prst="rect">
            <a:avLst/>
          </a:prstGeom>
          <a:noFill/>
        </p:spPr>
        <p:txBody>
          <a:bodyPr wrap="square" lIns="0" tIns="0" rIns="0" bIns="0" anchor="b">
            <a:noAutofit/>
          </a:bodyPr>
          <a:lstStyle/>
          <a:p>
            <a:r>
              <a:rPr sz="4400" b="0" i="0">
                <a:solidFill>
                  <a:srgbClr val="ECE7F0"/>
                </a:solidFill>
                <a:latin typeface="Iowan Old Style"/>
              </a:rPr>
              <a:t>Alignment</a:t>
            </a:r>
          </a:p>
        </p:txBody>
      </p:sp>
      <p:sp>
        <p:nvSpPr>
          <p:cNvPr id="3" name="Rectangle 2"/>
          <p:cNvSpPr/>
          <p:nvPr/>
        </p:nvSpPr>
        <p:spPr>
          <a:xfrm>
            <a:off x="612648" y="3950208"/>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4160520"/>
            <a:ext cx="10972800" cy="548640"/>
          </a:xfrm>
          <a:prstGeom prst="rect">
            <a:avLst/>
          </a:prstGeom>
          <a:noFill/>
        </p:spPr>
        <p:txBody>
          <a:bodyPr wrap="square" lIns="0" tIns="0" rIns="0" bIns="0" anchor="t">
            <a:noAutofit/>
          </a:bodyPr>
          <a:lstStyle/>
          <a:p>
            <a:r>
              <a:rPr sz="2200" b="0" i="0" dirty="0">
                <a:solidFill>
                  <a:srgbClr val="F0C9A0"/>
                </a:solidFill>
                <a:latin typeface="Iowan Old Style"/>
              </a:rPr>
              <a:t>479  ·  Week 5</a:t>
            </a:r>
          </a:p>
        </p:txBody>
      </p:sp>
    </p:spTree>
    <p:extLst>
      <p:ext uri="{BB962C8B-B14F-4D97-AF65-F5344CB8AC3E}">
        <p14:creationId xmlns:p14="http://schemas.microsoft.com/office/powerpoint/2010/main" val="27245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lang="en-US" sz="3300" b="0" i="0" dirty="0">
                <a:solidFill>
                  <a:srgbClr val="ECE7F0"/>
                </a:solidFill>
                <a:latin typeface="Iowan Old Style"/>
              </a:rPr>
              <a:t>Today</a:t>
            </a:r>
            <a:endParaRPr sz="3300" b="0" i="0" dirty="0">
              <a:solidFill>
                <a:srgbClr val="ECE7F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51328"/>
            <a:ext cx="10972800" cy="3169919"/>
          </a:xfrm>
          <a:prstGeom prst="rect">
            <a:avLst/>
          </a:prstGeom>
          <a:noFill/>
        </p:spPr>
        <p:txBody>
          <a:bodyPr wrap="square" lIns="0" tIns="0" rIns="0" bIns="0" anchor="t">
            <a:noAutofit/>
          </a:bodyPr>
          <a:lstStyle/>
          <a:p>
            <a:pPr marL="457200" indent="-457200">
              <a:lnSpc>
                <a:spcPct val="108000"/>
              </a:lnSpc>
              <a:spcAft>
                <a:spcPts val="600"/>
              </a:spcAft>
              <a:buFont typeface="+mj-lt"/>
              <a:buAutoNum type="arabicPeriod"/>
            </a:pPr>
            <a:r>
              <a:rPr lang="en-US" sz="2400" dirty="0">
                <a:solidFill>
                  <a:srgbClr val="ECE7F0"/>
                </a:solidFill>
                <a:latin typeface="Iowan Old Style"/>
              </a:rPr>
              <a:t>Anthropic on Alignment</a:t>
            </a:r>
          </a:p>
          <a:p>
            <a:pPr marL="457200" indent="-457200">
              <a:lnSpc>
                <a:spcPct val="108000"/>
              </a:lnSpc>
              <a:spcAft>
                <a:spcPts val="600"/>
              </a:spcAft>
              <a:buFont typeface="+mj-lt"/>
              <a:buAutoNum type="arabicPeriod"/>
            </a:pPr>
            <a:r>
              <a:rPr lang="en-US" sz="2400" dirty="0">
                <a:solidFill>
                  <a:srgbClr val="ECE7F0"/>
                </a:solidFill>
                <a:latin typeface="Iowan Old Style"/>
              </a:rPr>
              <a:t>High-level Overview</a:t>
            </a:r>
          </a:p>
          <a:p>
            <a:pPr marL="457200" indent="-457200">
              <a:lnSpc>
                <a:spcPct val="108000"/>
              </a:lnSpc>
              <a:spcAft>
                <a:spcPts val="600"/>
              </a:spcAft>
              <a:buFont typeface="+mj-lt"/>
              <a:buAutoNum type="arabicPeriod"/>
            </a:pPr>
            <a:r>
              <a:rPr lang="en-US" sz="2400" dirty="0">
                <a:solidFill>
                  <a:srgbClr val="ECE7F0"/>
                </a:solidFill>
                <a:latin typeface="Iowan Old Style"/>
              </a:rPr>
              <a:t>Blended Discussion / Lecture / Demo as we go</a:t>
            </a:r>
          </a:p>
          <a:p>
            <a:pPr marL="457200" indent="-457200">
              <a:lnSpc>
                <a:spcPct val="108000"/>
              </a:lnSpc>
              <a:spcAft>
                <a:spcPts val="600"/>
              </a:spcAft>
              <a:buFont typeface="+mj-lt"/>
              <a:buAutoNum type="arabicPeriod"/>
            </a:pPr>
            <a:r>
              <a:rPr lang="en-US" sz="2400" dirty="0">
                <a:solidFill>
                  <a:srgbClr val="ECE7F0"/>
                </a:solidFill>
                <a:latin typeface="Iowan Old Style"/>
              </a:rPr>
              <a:t>Assessment </a:t>
            </a:r>
          </a:p>
          <a:p>
            <a:pPr marL="457200" indent="-457200">
              <a:lnSpc>
                <a:spcPct val="108000"/>
              </a:lnSpc>
              <a:spcAft>
                <a:spcPts val="600"/>
              </a:spcAft>
              <a:buFont typeface="+mj-lt"/>
              <a:buAutoNum type="arabicPeriod"/>
            </a:pPr>
            <a:r>
              <a:rPr lang="en-US" sz="2400" dirty="0">
                <a:solidFill>
                  <a:srgbClr val="ECE7F0"/>
                </a:solidFill>
                <a:latin typeface="Iowan Old Style"/>
              </a:rPr>
              <a:t>Peer Review Break-out Room</a:t>
            </a:r>
          </a:p>
          <a:p>
            <a:pPr marL="457200" indent="-457200">
              <a:lnSpc>
                <a:spcPct val="108000"/>
              </a:lnSpc>
              <a:spcAft>
                <a:spcPts val="600"/>
              </a:spcAft>
              <a:buFont typeface="+mj-lt"/>
              <a:buAutoNum type="arabicPeriod"/>
            </a:pPr>
            <a:endParaRPr lang="en-US" sz="2400" dirty="0">
              <a:solidFill>
                <a:srgbClr val="ECE7F0"/>
              </a:solidFill>
              <a:latin typeface="Iowan Old Style"/>
            </a:endParaRPr>
          </a:p>
          <a:p>
            <a:pPr>
              <a:lnSpc>
                <a:spcPct val="108000"/>
              </a:lnSpc>
              <a:spcAft>
                <a:spcPts val="600"/>
              </a:spcAft>
            </a:pPr>
            <a:endParaRPr sz="2200" b="0" i="0" dirty="0">
              <a:solidFill>
                <a:srgbClr val="ECE7F0"/>
              </a:solidFill>
              <a:latin typeface="Iowan Old Style"/>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5</a:t>
            </a:r>
          </a:p>
        </p:txBody>
      </p:sp>
    </p:spTree>
    <p:extLst>
      <p:ext uri="{BB962C8B-B14F-4D97-AF65-F5344CB8AC3E}">
        <p14:creationId xmlns:p14="http://schemas.microsoft.com/office/powerpoint/2010/main" val="47203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Alignment</a:t>
            </a:r>
            <a:r>
              <a:rPr lang="en-US" sz="3300" b="0" i="0" dirty="0">
                <a:solidFill>
                  <a:srgbClr val="ECE7F0"/>
                </a:solidFill>
                <a:latin typeface="Iowan Old Style"/>
              </a:rPr>
              <a:t>: What Values Should A Machine Have?</a:t>
            </a:r>
            <a:endParaRPr sz="3300" b="0" i="0" dirty="0">
              <a:solidFill>
                <a:srgbClr val="ECE7F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a:t>
            </a:r>
          </a:p>
        </p:txBody>
      </p:sp>
      <p:sp>
        <p:nvSpPr>
          <p:cNvPr id="9" name="TextBox 8">
            <a:extLst>
              <a:ext uri="{FF2B5EF4-FFF2-40B4-BE49-F238E27FC236}">
                <a16:creationId xmlns:a16="http://schemas.microsoft.com/office/drawing/2014/main" id="{2C113DD0-1B08-6C64-EC41-8E9D35467E17}"/>
              </a:ext>
            </a:extLst>
          </p:cNvPr>
          <p:cNvSpPr txBox="1"/>
          <p:nvPr/>
        </p:nvSpPr>
        <p:spPr>
          <a:xfrm>
            <a:off x="2856156" y="5280218"/>
            <a:ext cx="6099586" cy="923330"/>
          </a:xfrm>
          <a:prstGeom prst="rect">
            <a:avLst/>
          </a:prstGeom>
          <a:noFill/>
        </p:spPr>
        <p:txBody>
          <a:bodyPr wrap="square">
            <a:spAutoFit/>
          </a:bodyPr>
          <a:lstStyle/>
          <a:p>
            <a:pPr algn="ctr"/>
            <a:r>
              <a:rPr lang="en-US" dirty="0"/>
              <a:t>Anthropic Research Salon 2025</a:t>
            </a:r>
            <a:br>
              <a:rPr lang="en-US" dirty="0"/>
            </a:br>
            <a:br>
              <a:rPr lang="en-US" dirty="0"/>
            </a:br>
            <a:r>
              <a:rPr lang="en-US" dirty="0"/>
              <a:t>https://</a:t>
            </a:r>
            <a:r>
              <a:rPr lang="en-US" dirty="0" err="1"/>
              <a:t>youtu.be</a:t>
            </a:r>
            <a:r>
              <a:rPr lang="en-US" dirty="0"/>
              <a:t>/IPmt8b-qLgk?si=6OdSZm3Z_PYCY46b</a:t>
            </a:r>
          </a:p>
        </p:txBody>
      </p:sp>
      <p:pic>
        <p:nvPicPr>
          <p:cNvPr id="10" name="Picture 9">
            <a:extLst>
              <a:ext uri="{FF2B5EF4-FFF2-40B4-BE49-F238E27FC236}">
                <a16:creationId xmlns:a16="http://schemas.microsoft.com/office/drawing/2014/main" id="{0545CFC9-C150-359A-006E-B0D18743A318}"/>
              </a:ext>
            </a:extLst>
          </p:cNvPr>
          <p:cNvPicPr>
            <a:picLocks noChangeAspect="1"/>
          </p:cNvPicPr>
          <p:nvPr/>
        </p:nvPicPr>
        <p:blipFill>
          <a:blip r:embed="rId2"/>
          <a:stretch>
            <a:fillRect/>
          </a:stretch>
        </p:blipFill>
        <p:spPr>
          <a:xfrm>
            <a:off x="2209800" y="1584902"/>
            <a:ext cx="7772400" cy="3688195"/>
          </a:xfrm>
          <a:prstGeom prst="rect">
            <a:avLst/>
          </a:prstGeom>
        </p:spPr>
      </p:pic>
    </p:spTree>
    <p:extLst>
      <p:ext uri="{BB962C8B-B14F-4D97-AF65-F5344CB8AC3E}">
        <p14:creationId xmlns:p14="http://schemas.microsoft.com/office/powerpoint/2010/main" val="2051799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Alignment: Readings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367284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lang="en-US" dirty="0"/>
              <a:t>Ouyang, L., Wu, J., Jiang, X., Almeida, D., Wainwright, C., Mishkin, P., Zhang, C., Agarwal, S., Slama, K., Ray, A., Schulman, J., Hilton, J., Kelton, F., Miller, L., Simens, M., Askell, A., </a:t>
            </a:r>
            <a:r>
              <a:rPr lang="en-US" dirty="0" err="1"/>
              <a:t>Welinder</a:t>
            </a:r>
            <a:r>
              <a:rPr lang="en-US" dirty="0"/>
              <a:t>, P., Christiano, P. F., </a:t>
            </a:r>
            <a:r>
              <a:rPr lang="en-US" dirty="0" err="1"/>
              <a:t>Leike</a:t>
            </a:r>
            <a:r>
              <a:rPr lang="en-US" dirty="0"/>
              <a:t>, J., &amp; Lowe, R. (2022). Training language models to follow instructions with human feedback. </a:t>
            </a:r>
            <a:r>
              <a:rPr lang="en-US" i="1" dirty="0"/>
              <a:t>Advances in Neural Information Processing Systems, 35</a:t>
            </a:r>
            <a:r>
              <a:rPr lang="en-US" dirty="0"/>
              <a:t>, 27730–27744. </a:t>
            </a:r>
            <a:r>
              <a:rPr lang="en-US" u="sng" dirty="0">
                <a:hlinkClick r:id="rId3">
                  <a:extLst>
                    <a:ext uri="{A12FA001-AC4F-418D-AE19-62706E023703}">
                      <ahyp:hlinkClr xmlns:ahyp="http://schemas.microsoft.com/office/drawing/2018/hyperlinkcolor" val="tx"/>
                    </a:ext>
                  </a:extLst>
                </a:hlinkClick>
              </a:rPr>
              <a:t>https://arxiv.org/abs/2203.02155</a:t>
            </a:r>
            <a:br>
              <a:rPr lang="en-US" u="sng" dirty="0"/>
            </a:br>
            <a:endParaRPr lang="en-US" dirty="0"/>
          </a:p>
          <a:p>
            <a:pPr marL="285750" indent="-285750">
              <a:buFont typeface="Arial" panose="020B0604020202020204" pitchFamily="34" charset="0"/>
              <a:buChar char="•"/>
            </a:pPr>
            <a:r>
              <a:rPr lang="en-US" dirty="0"/>
              <a:t>Shen, H., </a:t>
            </a:r>
            <a:r>
              <a:rPr lang="en-US" dirty="0" err="1"/>
              <a:t>Knearem</a:t>
            </a:r>
            <a:r>
              <a:rPr lang="en-US" dirty="0"/>
              <a:t>, T., Ghosh, R., </a:t>
            </a:r>
            <a:r>
              <a:rPr lang="en-US" dirty="0" err="1"/>
              <a:t>Alkiek</a:t>
            </a:r>
            <a:r>
              <a:rPr lang="en-US" dirty="0"/>
              <a:t>, K., Krishna, K., Liu, Y., Ma, Z., Petridis, S., Peng, Y.-H., </a:t>
            </a:r>
            <a:r>
              <a:rPr lang="en-US" dirty="0" err="1"/>
              <a:t>Qiwei</a:t>
            </a:r>
            <a:r>
              <a:rPr lang="en-US" dirty="0"/>
              <a:t>, L., Rakshit, S., Si, C., Xie, Y., Bigham, J. P., Bentley, F., Chai, J., Lipton, Z., Mei, Q., Mihalcea, R., Terry, M., Yang, D., Morris, M. R., Resnick, P., &amp; Jurgens, D. (2024). </a:t>
            </a:r>
            <a:r>
              <a:rPr lang="en-US" i="1" dirty="0"/>
              <a:t>Towards bidirectional human-AI alignment: A systematic review for clarifications, framework, and future directions</a:t>
            </a:r>
            <a:r>
              <a:rPr lang="en-US" dirty="0"/>
              <a:t>. </a:t>
            </a:r>
            <a:r>
              <a:rPr lang="en-US" dirty="0" err="1"/>
              <a:t>arXiv</a:t>
            </a:r>
            <a:r>
              <a:rPr lang="en-US" dirty="0"/>
              <a:t>. </a:t>
            </a:r>
            <a:r>
              <a:rPr lang="en-US" u="sng" dirty="0">
                <a:hlinkClick r:id="rId4">
                  <a:extLst>
                    <a:ext uri="{A12FA001-AC4F-418D-AE19-62706E023703}">
                      <ahyp:hlinkClr xmlns:ahyp="http://schemas.microsoft.com/office/drawing/2018/hyperlinkcolor" val="tx"/>
                    </a:ext>
                  </a:extLst>
                </a:hlinkClick>
              </a:rPr>
              <a:t>https://doi.org/10.48550/arXiv.2406.09264</a:t>
            </a:r>
            <a:br>
              <a:rPr lang="en-US" u="sng" dirty="0"/>
            </a:br>
            <a:endParaRPr lang="en-US" u="sng" dirty="0"/>
          </a:p>
          <a:p>
            <a:pPr marL="285750" indent="-285750">
              <a:buFont typeface="Arial" panose="020B0604020202020204" pitchFamily="34" charset="0"/>
              <a:buChar char="•"/>
            </a:pPr>
            <a:r>
              <a:rPr lang="en-US" dirty="0"/>
              <a:t>Greenblatt, R., Denison, C., Wright, B., Roger, F., MacDiarmid, M., Marks, S., </a:t>
            </a:r>
            <a:r>
              <a:rPr lang="en-US" dirty="0" err="1"/>
              <a:t>Treutlein</a:t>
            </a:r>
            <a:r>
              <a:rPr lang="en-US" dirty="0"/>
              <a:t>, J., </a:t>
            </a:r>
            <a:r>
              <a:rPr lang="en-US" dirty="0" err="1"/>
              <a:t>Belonax</a:t>
            </a:r>
            <a:r>
              <a:rPr lang="en-US" dirty="0"/>
              <a:t>, T., Chen, J., </a:t>
            </a:r>
            <a:r>
              <a:rPr lang="en-US" dirty="0" err="1"/>
              <a:t>Duvenaud</a:t>
            </a:r>
            <a:r>
              <a:rPr lang="en-US" dirty="0"/>
              <a:t>, D., Khan, A., Michael, J., Mindermann, S., Perez, E., Petrini, L., </a:t>
            </a:r>
            <a:r>
              <a:rPr lang="en-US" dirty="0" err="1"/>
              <a:t>Uesato</a:t>
            </a:r>
            <a:r>
              <a:rPr lang="en-US" dirty="0"/>
              <a:t>, J., Kaplan, J., </a:t>
            </a:r>
            <a:r>
              <a:rPr lang="en-US" dirty="0" err="1"/>
              <a:t>Shlegeris</a:t>
            </a:r>
            <a:r>
              <a:rPr lang="en-US" dirty="0"/>
              <a:t>, B., Bowman, S. R., &amp; Hubinger, E. (2024). </a:t>
            </a:r>
            <a:r>
              <a:rPr lang="en-US" i="1" dirty="0"/>
              <a:t>Alignment faking in large language models</a:t>
            </a:r>
            <a:r>
              <a:rPr lang="en-US" dirty="0"/>
              <a:t>. </a:t>
            </a:r>
            <a:r>
              <a:rPr lang="en-US" dirty="0" err="1"/>
              <a:t>arXiv</a:t>
            </a:r>
            <a:r>
              <a:rPr lang="en-US" dirty="0"/>
              <a:t>. </a:t>
            </a:r>
            <a:r>
              <a:rPr lang="en-US" u="sng" dirty="0">
                <a:hlinkClick r:id="rId5">
                  <a:extLst>
                    <a:ext uri="{A12FA001-AC4F-418D-AE19-62706E023703}">
                      <ahyp:hlinkClr xmlns:ahyp="http://schemas.microsoft.com/office/drawing/2018/hyperlinkcolor" val="tx"/>
                    </a:ext>
                  </a:extLst>
                </a:hlinkClick>
              </a:rPr>
              <a:t>https://doi.org/10.48550/arXiv.2412.14093</a:t>
            </a:r>
            <a:br>
              <a:rPr lang="en-US" u="sng" dirty="0"/>
            </a:br>
            <a:endParaRPr lang="en-US" dirty="0"/>
          </a:p>
          <a:p>
            <a:pPr marL="285750" indent="-285750">
              <a:buFont typeface="Arial" panose="020B0604020202020204" pitchFamily="34" charset="0"/>
              <a:buChar char="•"/>
            </a:pPr>
            <a:r>
              <a:rPr lang="en-US" dirty="0"/>
              <a:t>Munn, L., Magee, L., &amp; Arora, V. (2024). Truth machines: synthesizing veracity in AI language models. </a:t>
            </a:r>
            <a:r>
              <a:rPr lang="en-US" i="1" dirty="0"/>
              <a:t>AI &amp; Society, 39</a:t>
            </a:r>
            <a:r>
              <a:rPr lang="en-US" dirty="0"/>
              <a:t>(6), 2759-2773. </a:t>
            </a:r>
            <a:r>
              <a:rPr lang="en-US" u="sng" dirty="0">
                <a:hlinkClick r:id="rId6">
                  <a:extLst>
                    <a:ext uri="{A12FA001-AC4F-418D-AE19-62706E023703}">
                      <ahyp:hlinkClr xmlns:ahyp="http://schemas.microsoft.com/office/drawing/2018/hyperlinkcolor" val="tx"/>
                    </a:ext>
                  </a:extLst>
                </a:hlinkClick>
              </a:rPr>
              <a:t>https://link.springer.com/article/10.1007/s00146-023-01756-4</a:t>
            </a:r>
            <a:br>
              <a:rPr lang="en-US" dirty="0"/>
            </a:br>
            <a:br>
              <a:rPr lang="en-US" dirty="0"/>
            </a:br>
            <a:endParaRPr sz="2400" b="0" i="0" dirty="0">
              <a:latin typeface="Iowan Old Style"/>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3</a:t>
            </a:r>
          </a:p>
        </p:txBody>
      </p:sp>
    </p:spTree>
    <p:extLst>
      <p:ext uri="{BB962C8B-B14F-4D97-AF65-F5344CB8AC3E}">
        <p14:creationId xmlns:p14="http://schemas.microsoft.com/office/powerpoint/2010/main" val="4127141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05A09-6C2C-9BFA-2092-F607B13492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EF059F-DFC6-36DD-5530-586D0BCDDC87}"/>
              </a:ext>
            </a:extLst>
          </p:cNvPr>
          <p:cNvSpPr txBox="1"/>
          <p:nvPr/>
        </p:nvSpPr>
        <p:spPr>
          <a:xfrm>
            <a:off x="612648" y="457200"/>
            <a:ext cx="10972800" cy="822960"/>
          </a:xfrm>
          <a:prstGeom prst="rect">
            <a:avLst/>
          </a:prstGeom>
          <a:noFill/>
        </p:spPr>
        <p:txBody>
          <a:bodyPr wrap="square" lIns="0" tIns="0" rIns="0" bIns="0" anchor="b">
            <a:noAutofit/>
          </a:bodyPr>
          <a:lstStyle/>
          <a:p>
            <a:r>
              <a:rPr lang="en-US" sz="3300" b="0" i="0" dirty="0">
                <a:solidFill>
                  <a:srgbClr val="ECE7F0"/>
                </a:solidFill>
                <a:latin typeface="Iowan Old Style"/>
              </a:rPr>
              <a:t>From </a:t>
            </a:r>
            <a:r>
              <a:rPr lang="en-US" sz="3300" b="1" i="0" dirty="0">
                <a:solidFill>
                  <a:srgbClr val="ECE7F0"/>
                </a:solidFill>
                <a:latin typeface="Iowan Old Style"/>
              </a:rPr>
              <a:t>Attention</a:t>
            </a:r>
            <a:r>
              <a:rPr lang="en-US" sz="3300" b="0" i="0" dirty="0">
                <a:solidFill>
                  <a:srgbClr val="ECE7F0"/>
                </a:solidFill>
                <a:latin typeface="Iowan Old Style"/>
              </a:rPr>
              <a:t> to </a:t>
            </a:r>
            <a:r>
              <a:rPr lang="en-US" sz="3300" b="1" i="0" dirty="0">
                <a:solidFill>
                  <a:srgbClr val="ECE7F0"/>
                </a:solidFill>
                <a:latin typeface="Iowan Old Style"/>
              </a:rPr>
              <a:t>Alignment</a:t>
            </a:r>
            <a:r>
              <a:rPr lang="en-US" sz="3300" b="0" i="0" dirty="0">
                <a:solidFill>
                  <a:srgbClr val="ECE7F0"/>
                </a:solidFill>
                <a:latin typeface="Iowan Old Style"/>
              </a:rPr>
              <a:t> – Why? </a:t>
            </a:r>
            <a:endParaRPr sz="3300" b="0" i="0" dirty="0">
              <a:solidFill>
                <a:srgbClr val="ECE7F0"/>
              </a:solidFill>
              <a:latin typeface="Iowan Old Style"/>
            </a:endParaRPr>
          </a:p>
        </p:txBody>
      </p:sp>
      <p:sp>
        <p:nvSpPr>
          <p:cNvPr id="3" name="Rectangle 2">
            <a:extLst>
              <a:ext uri="{FF2B5EF4-FFF2-40B4-BE49-F238E27FC236}">
                <a16:creationId xmlns:a16="http://schemas.microsoft.com/office/drawing/2014/main" id="{76DE668A-6882-C7FB-EE31-0D5B5CFEF3AE}"/>
              </a:ext>
            </a:extLst>
          </p:cNvPr>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6D2F602-2C25-2F9B-BCFA-531EBF426F33}"/>
              </a:ext>
            </a:extLst>
          </p:cNvPr>
          <p:cNvSpPr txBox="1"/>
          <p:nvPr/>
        </p:nvSpPr>
        <p:spPr>
          <a:xfrm>
            <a:off x="612648" y="1651328"/>
            <a:ext cx="10972800" cy="4936924"/>
          </a:xfrm>
          <a:prstGeom prst="rect">
            <a:avLst/>
          </a:prstGeom>
          <a:noFill/>
        </p:spPr>
        <p:txBody>
          <a:bodyPr wrap="square" lIns="0" tIns="0" rIns="0" bIns="0" anchor="t">
            <a:noAutofit/>
          </a:bodyPr>
          <a:lstStyle/>
          <a:p>
            <a:pPr>
              <a:lnSpc>
                <a:spcPct val="108000"/>
              </a:lnSpc>
              <a:spcAft>
                <a:spcPts val="600"/>
              </a:spcAft>
            </a:pPr>
            <a:r>
              <a:rPr lang="en-US" sz="2400" dirty="0">
                <a:solidFill>
                  <a:srgbClr val="ECE7F0"/>
                </a:solidFill>
                <a:latin typeface="Iowan Old Style"/>
              </a:rPr>
              <a:t>Last week: Attention in Machine Learning is essentially:</a:t>
            </a:r>
          </a:p>
          <a:p>
            <a:pPr marL="914400" lvl="1" indent="-457200">
              <a:lnSpc>
                <a:spcPct val="108000"/>
              </a:lnSpc>
              <a:spcAft>
                <a:spcPts val="600"/>
              </a:spcAft>
              <a:buFont typeface="+mj-lt"/>
              <a:buAutoNum type="arabicPeriod"/>
            </a:pPr>
            <a:r>
              <a:rPr lang="en-US" sz="2400" dirty="0">
                <a:solidFill>
                  <a:srgbClr val="ECE7F0"/>
                </a:solidFill>
                <a:latin typeface="Iowan Old Style"/>
              </a:rPr>
              <a:t>Collect </a:t>
            </a:r>
            <a:r>
              <a:rPr lang="en-US" sz="2400" b="1" dirty="0">
                <a:solidFill>
                  <a:srgbClr val="ECE7F0"/>
                </a:solidFill>
                <a:latin typeface="Iowan Old Style"/>
              </a:rPr>
              <a:t>all the data </a:t>
            </a:r>
            <a:r>
              <a:rPr lang="en-US" sz="2400" dirty="0">
                <a:solidFill>
                  <a:srgbClr val="ECE7F0"/>
                </a:solidFill>
                <a:latin typeface="Iowan Old Style"/>
              </a:rPr>
              <a:t>in the Internet</a:t>
            </a:r>
          </a:p>
          <a:p>
            <a:pPr marL="914400" lvl="1" indent="-457200">
              <a:lnSpc>
                <a:spcPct val="108000"/>
              </a:lnSpc>
              <a:spcAft>
                <a:spcPts val="600"/>
              </a:spcAft>
              <a:buFont typeface="+mj-lt"/>
              <a:buAutoNum type="arabicPeriod"/>
            </a:pPr>
            <a:r>
              <a:rPr lang="en-US" sz="2400" dirty="0">
                <a:solidFill>
                  <a:srgbClr val="ECE7F0"/>
                </a:solidFill>
                <a:latin typeface="Iowan Old Style"/>
              </a:rPr>
              <a:t>Design a </a:t>
            </a:r>
            <a:r>
              <a:rPr lang="en-US" sz="2400" b="1" dirty="0">
                <a:solidFill>
                  <a:srgbClr val="ECE7F0"/>
                </a:solidFill>
                <a:latin typeface="Iowan Old Style"/>
              </a:rPr>
              <a:t>transformer </a:t>
            </a:r>
            <a:r>
              <a:rPr lang="en-US" sz="2400" dirty="0">
                <a:solidFill>
                  <a:srgbClr val="ECE7F0"/>
                </a:solidFill>
                <a:latin typeface="Iowan Old Style"/>
              </a:rPr>
              <a:t>model: what vocabulary size? How many layers? How many iterations? And so on. </a:t>
            </a:r>
          </a:p>
          <a:p>
            <a:pPr marL="914400" lvl="1" indent="-457200">
              <a:lnSpc>
                <a:spcPct val="108000"/>
              </a:lnSpc>
              <a:spcAft>
                <a:spcPts val="600"/>
              </a:spcAft>
              <a:buFont typeface="+mj-lt"/>
              <a:buAutoNum type="arabicPeriod"/>
            </a:pPr>
            <a:r>
              <a:rPr lang="en-US" sz="2400" dirty="0">
                <a:solidFill>
                  <a:srgbClr val="ECE7F0"/>
                </a:solidFill>
                <a:latin typeface="Iowan Old Style"/>
              </a:rPr>
              <a:t>Start with random weights. Apply </a:t>
            </a:r>
            <a:r>
              <a:rPr lang="en-US" sz="2400" b="1" dirty="0">
                <a:solidFill>
                  <a:srgbClr val="ECE7F0"/>
                </a:solidFill>
                <a:latin typeface="Iowan Old Style"/>
              </a:rPr>
              <a:t>attention</a:t>
            </a:r>
            <a:r>
              <a:rPr lang="en-US" sz="2400" dirty="0">
                <a:solidFill>
                  <a:srgbClr val="ECE7F0"/>
                </a:solidFill>
                <a:latin typeface="Iowan Old Style"/>
              </a:rPr>
              <a:t>, over and over</a:t>
            </a:r>
          </a:p>
          <a:p>
            <a:pPr marL="914400" lvl="1" indent="-457200">
              <a:lnSpc>
                <a:spcPct val="108000"/>
              </a:lnSpc>
              <a:spcAft>
                <a:spcPts val="600"/>
              </a:spcAft>
              <a:buFont typeface="+mj-lt"/>
              <a:buAutoNum type="arabicPeriod"/>
            </a:pPr>
            <a:r>
              <a:rPr lang="en-US" sz="2400" dirty="0">
                <a:solidFill>
                  <a:srgbClr val="ECE7F0"/>
                </a:solidFill>
                <a:latin typeface="Iowan Old Style"/>
              </a:rPr>
              <a:t>Weights start to </a:t>
            </a:r>
            <a:r>
              <a:rPr lang="en-US" sz="2400" b="1" dirty="0">
                <a:solidFill>
                  <a:srgbClr val="ECE7F0"/>
                </a:solidFill>
                <a:latin typeface="Iowan Old Style"/>
              </a:rPr>
              <a:t>represent the data</a:t>
            </a:r>
          </a:p>
          <a:p>
            <a:pPr marL="914400" lvl="1" indent="-457200">
              <a:lnSpc>
                <a:spcPct val="108000"/>
              </a:lnSpc>
              <a:spcAft>
                <a:spcPts val="600"/>
              </a:spcAft>
              <a:buFont typeface="+mj-lt"/>
              <a:buAutoNum type="arabicPeriod"/>
            </a:pPr>
            <a:r>
              <a:rPr lang="en-US" sz="2400" dirty="0">
                <a:solidFill>
                  <a:srgbClr val="ECE7F0"/>
                </a:solidFill>
                <a:latin typeface="Iowan Old Style"/>
              </a:rPr>
              <a:t>(Profit?)</a:t>
            </a:r>
          </a:p>
          <a:p>
            <a:pPr marL="914400" lvl="1" indent="-457200">
              <a:lnSpc>
                <a:spcPct val="108000"/>
              </a:lnSpc>
              <a:spcAft>
                <a:spcPts val="600"/>
              </a:spcAft>
              <a:buFont typeface="+mj-lt"/>
              <a:buAutoNum type="arabicPeriod"/>
            </a:pPr>
            <a:endParaRPr lang="en-US" sz="2400" b="1" dirty="0">
              <a:solidFill>
                <a:srgbClr val="ECE7F0"/>
              </a:solidFill>
              <a:latin typeface="Iowan Old Style"/>
            </a:endParaRPr>
          </a:p>
          <a:p>
            <a:pPr>
              <a:lnSpc>
                <a:spcPct val="108000"/>
              </a:lnSpc>
              <a:spcAft>
                <a:spcPts val="600"/>
              </a:spcAft>
            </a:pPr>
            <a:r>
              <a:rPr lang="en-US" sz="2400" b="1" dirty="0">
                <a:solidFill>
                  <a:srgbClr val="ECE7F0"/>
                </a:solidFill>
                <a:latin typeface="Iowan Old Style"/>
              </a:rPr>
              <a:t>What could go wrong?	</a:t>
            </a:r>
          </a:p>
          <a:p>
            <a:pPr marL="457200" indent="-457200">
              <a:lnSpc>
                <a:spcPct val="108000"/>
              </a:lnSpc>
              <a:spcAft>
                <a:spcPts val="600"/>
              </a:spcAft>
              <a:buFont typeface="+mj-lt"/>
              <a:buAutoNum type="arabicPeriod"/>
            </a:pPr>
            <a:endParaRPr lang="en-US" sz="2400" dirty="0">
              <a:solidFill>
                <a:srgbClr val="ECE7F0"/>
              </a:solidFill>
              <a:latin typeface="Iowan Old Style"/>
            </a:endParaRPr>
          </a:p>
          <a:p>
            <a:pPr>
              <a:lnSpc>
                <a:spcPct val="108000"/>
              </a:lnSpc>
              <a:spcAft>
                <a:spcPts val="600"/>
              </a:spcAft>
            </a:pPr>
            <a:endParaRPr sz="2200" b="0" i="0" dirty="0">
              <a:solidFill>
                <a:srgbClr val="ECE7F0"/>
              </a:solidFill>
              <a:latin typeface="Iowan Old Style"/>
            </a:endParaRPr>
          </a:p>
        </p:txBody>
      </p:sp>
      <p:sp>
        <p:nvSpPr>
          <p:cNvPr id="5" name="TextBox 4">
            <a:extLst>
              <a:ext uri="{FF2B5EF4-FFF2-40B4-BE49-F238E27FC236}">
                <a16:creationId xmlns:a16="http://schemas.microsoft.com/office/drawing/2014/main" id="{E84FC029-F65B-76B7-4991-FE6A74BC6B97}"/>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5</a:t>
            </a:r>
          </a:p>
        </p:txBody>
      </p:sp>
    </p:spTree>
    <p:extLst>
      <p:ext uri="{BB962C8B-B14F-4D97-AF65-F5344CB8AC3E}">
        <p14:creationId xmlns:p14="http://schemas.microsoft.com/office/powerpoint/2010/main" val="637257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A20E2-DCD4-E4A0-D755-66985F725E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EE3712-157B-3FD4-A3AC-2B813706D89C}"/>
              </a:ext>
            </a:extLst>
          </p:cNvPr>
          <p:cNvSpPr txBox="1"/>
          <p:nvPr/>
        </p:nvSpPr>
        <p:spPr>
          <a:xfrm>
            <a:off x="612648" y="457200"/>
            <a:ext cx="10972800" cy="822960"/>
          </a:xfrm>
          <a:prstGeom prst="rect">
            <a:avLst/>
          </a:prstGeom>
          <a:noFill/>
        </p:spPr>
        <p:txBody>
          <a:bodyPr wrap="square" lIns="0" tIns="0" rIns="0" bIns="0" anchor="b">
            <a:noAutofit/>
          </a:bodyPr>
          <a:lstStyle/>
          <a:p>
            <a:r>
              <a:rPr lang="en-US" sz="3300" b="0" i="0" dirty="0">
                <a:solidFill>
                  <a:srgbClr val="ECE7F0"/>
                </a:solidFill>
                <a:latin typeface="Iowan Old Style"/>
              </a:rPr>
              <a:t>What Could Go Wrong?</a:t>
            </a:r>
            <a:endParaRPr sz="3300" b="0" i="0" dirty="0">
              <a:solidFill>
                <a:srgbClr val="ECE7F0"/>
              </a:solidFill>
              <a:latin typeface="Iowan Old Style"/>
            </a:endParaRPr>
          </a:p>
        </p:txBody>
      </p:sp>
      <p:sp>
        <p:nvSpPr>
          <p:cNvPr id="3" name="Rectangle 2">
            <a:extLst>
              <a:ext uri="{FF2B5EF4-FFF2-40B4-BE49-F238E27FC236}">
                <a16:creationId xmlns:a16="http://schemas.microsoft.com/office/drawing/2014/main" id="{8CDA81E5-E9F5-6BEE-43D5-5B20F1EE7F0E}"/>
              </a:ext>
            </a:extLst>
          </p:cNvPr>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6E5E853-D187-6ABE-2A8B-F2CF8885D5D6}"/>
              </a:ext>
            </a:extLst>
          </p:cNvPr>
          <p:cNvSpPr txBox="1"/>
          <p:nvPr/>
        </p:nvSpPr>
        <p:spPr>
          <a:xfrm>
            <a:off x="612648" y="1651328"/>
            <a:ext cx="10972800" cy="5005504"/>
          </a:xfrm>
          <a:prstGeom prst="rect">
            <a:avLst/>
          </a:prstGeom>
          <a:noFill/>
        </p:spPr>
        <p:txBody>
          <a:bodyPr wrap="square" lIns="0" tIns="0" rIns="0" bIns="0" anchor="t">
            <a:noAutofit/>
          </a:bodyPr>
          <a:lstStyle/>
          <a:p>
            <a:pPr marL="457200" indent="-457200">
              <a:lnSpc>
                <a:spcPct val="108000"/>
              </a:lnSpc>
              <a:spcAft>
                <a:spcPts val="600"/>
              </a:spcAft>
              <a:buFont typeface="Arial" panose="020B0604020202020204" pitchFamily="34" charset="0"/>
              <a:buChar char="•"/>
            </a:pPr>
            <a:r>
              <a:rPr lang="en-US" sz="2400" b="1" dirty="0">
                <a:solidFill>
                  <a:srgbClr val="ECE7F0"/>
                </a:solidFill>
                <a:latin typeface="Iowan Old Style"/>
              </a:rPr>
              <a:t>Unsafe</a:t>
            </a:r>
            <a:r>
              <a:rPr lang="en-US" sz="2400" dirty="0">
                <a:solidFill>
                  <a:srgbClr val="ECE7F0"/>
                </a:solidFill>
                <a:latin typeface="Iowan Old Style"/>
              </a:rPr>
              <a:t>: biased, toxic language; criminal or dangerous advice</a:t>
            </a:r>
          </a:p>
          <a:p>
            <a:pPr marL="457200" indent="-457200">
              <a:lnSpc>
                <a:spcPct val="108000"/>
              </a:lnSpc>
              <a:spcAft>
                <a:spcPts val="600"/>
              </a:spcAft>
              <a:buFont typeface="Arial" panose="020B0604020202020204" pitchFamily="34" charset="0"/>
              <a:buChar char="•"/>
            </a:pPr>
            <a:r>
              <a:rPr lang="en-US" sz="2400" b="1" dirty="0">
                <a:solidFill>
                  <a:srgbClr val="ECE7F0"/>
                </a:solidFill>
                <a:latin typeface="Iowan Old Style"/>
              </a:rPr>
              <a:t>Unhelpful</a:t>
            </a:r>
            <a:r>
              <a:rPr lang="en-US" sz="2400" dirty="0">
                <a:solidFill>
                  <a:srgbClr val="ECE7F0"/>
                </a:solidFill>
                <a:latin typeface="Iowan Old Style"/>
              </a:rPr>
              <a:t>: Irrelevant, rude, NSFW</a:t>
            </a:r>
          </a:p>
          <a:p>
            <a:pPr marL="457200" indent="-457200">
              <a:lnSpc>
                <a:spcPct val="108000"/>
              </a:lnSpc>
              <a:spcAft>
                <a:spcPts val="600"/>
              </a:spcAft>
              <a:buFont typeface="Arial" panose="020B0604020202020204" pitchFamily="34" charset="0"/>
              <a:buChar char="•"/>
            </a:pPr>
            <a:r>
              <a:rPr lang="en-US" sz="2400" b="1" dirty="0">
                <a:solidFill>
                  <a:srgbClr val="ECE7F0"/>
                </a:solidFill>
                <a:latin typeface="Iowan Old Style"/>
              </a:rPr>
              <a:t>Untrue</a:t>
            </a:r>
            <a:r>
              <a:rPr lang="en-US" sz="2400" dirty="0">
                <a:solidFill>
                  <a:srgbClr val="ECE7F0"/>
                </a:solidFill>
                <a:latin typeface="Iowan Old Style"/>
              </a:rPr>
              <a:t>: hallucinations, flawed logic</a:t>
            </a:r>
          </a:p>
          <a:p>
            <a:pPr marL="457200" indent="-457200">
              <a:lnSpc>
                <a:spcPct val="108000"/>
              </a:lnSpc>
              <a:spcAft>
                <a:spcPts val="600"/>
              </a:spcAft>
              <a:buFont typeface="Arial" panose="020B0604020202020204" pitchFamily="34" charset="0"/>
              <a:buChar char="•"/>
            </a:pPr>
            <a:r>
              <a:rPr lang="en-US" sz="2400" b="1" dirty="0">
                <a:solidFill>
                  <a:srgbClr val="ECE7F0"/>
                </a:solidFill>
                <a:latin typeface="Iowan Old Style"/>
              </a:rPr>
              <a:t>Why is that? </a:t>
            </a:r>
            <a:r>
              <a:rPr lang="en-US" sz="2400" dirty="0">
                <a:solidFill>
                  <a:srgbClr val="ECE7F0"/>
                </a:solidFill>
                <a:latin typeface="Iowan Old Style"/>
              </a:rPr>
              <a:t>Why would we ever need alignment?</a:t>
            </a:r>
          </a:p>
          <a:p>
            <a:pPr>
              <a:lnSpc>
                <a:spcPct val="108000"/>
              </a:lnSpc>
              <a:spcAft>
                <a:spcPts val="600"/>
              </a:spcAft>
            </a:pPr>
            <a:br>
              <a:rPr lang="en-US" sz="2400" b="1" dirty="0">
                <a:solidFill>
                  <a:srgbClr val="ECE7F0"/>
                </a:solidFill>
                <a:latin typeface="Iowan Old Style"/>
              </a:rPr>
            </a:br>
            <a:endParaRPr lang="en-US" sz="2400" dirty="0">
              <a:solidFill>
                <a:srgbClr val="ECE7F0"/>
              </a:solidFill>
              <a:latin typeface="Iowan Old Style"/>
            </a:endParaRPr>
          </a:p>
          <a:p>
            <a:pPr marL="457200" indent="-457200">
              <a:lnSpc>
                <a:spcPct val="108000"/>
              </a:lnSpc>
              <a:spcAft>
                <a:spcPts val="600"/>
              </a:spcAft>
              <a:buFont typeface="Arial" panose="020B0604020202020204" pitchFamily="34" charset="0"/>
              <a:buChar char="•"/>
            </a:pPr>
            <a:endParaRPr sz="2200" b="0" i="0" dirty="0">
              <a:solidFill>
                <a:srgbClr val="ECE7F0"/>
              </a:solidFill>
              <a:latin typeface="Iowan Old Style"/>
            </a:endParaRPr>
          </a:p>
        </p:txBody>
      </p:sp>
      <p:sp>
        <p:nvSpPr>
          <p:cNvPr id="5" name="TextBox 4">
            <a:extLst>
              <a:ext uri="{FF2B5EF4-FFF2-40B4-BE49-F238E27FC236}">
                <a16:creationId xmlns:a16="http://schemas.microsoft.com/office/drawing/2014/main" id="{1C01B387-3DF1-C758-7086-705116374264}"/>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5</a:t>
            </a:r>
          </a:p>
        </p:txBody>
      </p:sp>
    </p:spTree>
    <p:extLst>
      <p:ext uri="{BB962C8B-B14F-4D97-AF65-F5344CB8AC3E}">
        <p14:creationId xmlns:p14="http://schemas.microsoft.com/office/powerpoint/2010/main" val="2600948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Biases in Large Language Models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213360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LLMs mirror </a:t>
            </a:r>
            <a:r>
              <a:rPr sz="2400" b="1" i="0" dirty="0">
                <a:solidFill>
                  <a:srgbClr val="ECE7F0"/>
                </a:solidFill>
                <a:latin typeface="Iowan Old Style"/>
              </a:rPr>
              <a:t>internet distributions</a:t>
            </a:r>
            <a:r>
              <a:rPr lang="en-US" sz="2400" dirty="0">
                <a:solidFill>
                  <a:srgbClr val="ECE7F0"/>
                </a:solidFill>
                <a:latin typeface="Iowan Old Style"/>
              </a:rPr>
              <a:t> –</a:t>
            </a:r>
            <a:r>
              <a:rPr sz="2400" b="0" i="0" dirty="0">
                <a:solidFill>
                  <a:srgbClr val="ECE7F0"/>
                </a:solidFill>
                <a:latin typeface="Iowan Old Style"/>
              </a:rPr>
              <a:t> not necessarily societal </a:t>
            </a:r>
            <a:r>
              <a:rPr lang="en-US" sz="2400" b="0" i="0" dirty="0">
                <a:solidFill>
                  <a:srgbClr val="ECE7F0"/>
                </a:solidFill>
                <a:latin typeface="Iowan Old Style"/>
              </a:rPr>
              <a:t>or community </a:t>
            </a:r>
            <a:r>
              <a:rPr sz="2400" b="0" i="0" dirty="0">
                <a:solidFill>
                  <a:srgbClr val="ECE7F0"/>
                </a:solidFill>
                <a:latin typeface="Iowan Old Style"/>
              </a:rPr>
              <a:t>values</a:t>
            </a:r>
            <a:endParaRPr lang="en-US" sz="2400" b="0" i="0" dirty="0">
              <a:solidFill>
                <a:srgbClr val="ECE7F0"/>
              </a:solidFill>
              <a:latin typeface="Iowan Old Style"/>
            </a:endParaRPr>
          </a:p>
          <a:p>
            <a:pPr marL="731520" lvl="1" indent="-219456">
              <a:lnSpc>
                <a:spcPct val="108000"/>
              </a:lnSpc>
              <a:spcAft>
                <a:spcPts val="600"/>
              </a:spcAft>
              <a:buClr>
                <a:srgbClr val="F0C9A0"/>
              </a:buClr>
              <a:buSzPct val="90000"/>
              <a:buFont typeface="Arial"/>
              <a:buChar char="•"/>
            </a:pPr>
            <a:r>
              <a:rPr lang="en-US" sz="2400" b="1" i="0" dirty="0">
                <a:solidFill>
                  <a:srgbClr val="ECE7F0"/>
                </a:solidFill>
                <a:latin typeface="Iowan Old Style"/>
              </a:rPr>
              <a:t>Why? </a:t>
            </a:r>
            <a:r>
              <a:rPr lang="en-US" sz="2400" dirty="0">
                <a:solidFill>
                  <a:srgbClr val="ECE7F0"/>
                </a:solidFill>
                <a:latin typeface="Iowan Old Style"/>
              </a:rPr>
              <a:t>Who actually posts online?</a:t>
            </a:r>
            <a:r>
              <a:rPr lang="en-US" sz="2400" i="0" dirty="0">
                <a:solidFill>
                  <a:srgbClr val="ECE7F0"/>
                </a:solidFill>
                <a:latin typeface="Iowan Old Style"/>
              </a:rPr>
              <a:t> </a:t>
            </a:r>
            <a:endParaRPr sz="240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Skewed online data requires </a:t>
            </a:r>
            <a:r>
              <a:rPr sz="2400" b="1" i="0" dirty="0">
                <a:solidFill>
                  <a:srgbClr val="ECE7F0"/>
                </a:solidFill>
                <a:latin typeface="Iowan Old Style"/>
              </a:rPr>
              <a:t>bias correction</a:t>
            </a:r>
            <a:r>
              <a:rPr sz="2400" b="0" i="0" dirty="0">
                <a:solidFill>
                  <a:srgbClr val="ECE7F0"/>
                </a:solidFill>
                <a:latin typeface="Iowan Old Style"/>
              </a:rPr>
              <a:t> for broader representation.</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GPT‑2 showed significant bias toward </a:t>
            </a:r>
            <a:r>
              <a:rPr sz="2400" b="1" i="0" dirty="0">
                <a:solidFill>
                  <a:srgbClr val="ECE7F0"/>
                </a:solidFill>
                <a:latin typeface="Iowan Old Style"/>
              </a:rPr>
              <a:t>religion, gender, disability</a:t>
            </a:r>
            <a:r>
              <a:rPr sz="2400" b="0" i="0" dirty="0">
                <a:solidFill>
                  <a:srgbClr val="ECE7F0"/>
                </a:solidFill>
                <a:latin typeface="Iowan Old Style"/>
              </a:rPr>
              <a:t> markers (</a:t>
            </a:r>
            <a:r>
              <a:rPr lang="en-US" sz="2400" b="0" i="0" dirty="0">
                <a:solidFill>
                  <a:srgbClr val="ECE7F0"/>
                </a:solidFill>
                <a:latin typeface="Iowan Old Style"/>
              </a:rPr>
              <a:t>many studies – incl. </a:t>
            </a:r>
            <a:r>
              <a:rPr sz="2400" b="0" i="0" dirty="0">
                <a:solidFill>
                  <a:srgbClr val="ECE7F0"/>
                </a:solidFill>
                <a:latin typeface="Iowan Old Style"/>
              </a:rPr>
              <a:t>Magee et al. 2021).</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Correcting biases enhances model </a:t>
            </a:r>
            <a:r>
              <a:rPr sz="2400" b="1" i="0" dirty="0">
                <a:solidFill>
                  <a:srgbClr val="ECE7F0"/>
                </a:solidFill>
                <a:latin typeface="Iowan Old Style"/>
              </a:rPr>
              <a:t>fairness and inclusivity</a:t>
            </a:r>
            <a:r>
              <a:rPr sz="2400" b="0" i="0" dirty="0">
                <a:solidFill>
                  <a:srgbClr val="ECE7F0"/>
                </a:solidFill>
                <a:latin typeface="Iowan Old Style"/>
              </a:rPr>
              <a:t>.</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12</a:t>
            </a:r>
          </a:p>
        </p:txBody>
      </p:sp>
    </p:spTree>
    <p:extLst>
      <p:ext uri="{BB962C8B-B14F-4D97-AF65-F5344CB8AC3E}">
        <p14:creationId xmlns:p14="http://schemas.microsoft.com/office/powerpoint/2010/main" val="332836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34F9-F934-7832-37FE-F4998F6F5B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BFA59F-36BB-E93F-5F32-04136F9C73B3}"/>
              </a:ext>
            </a:extLst>
          </p:cNvPr>
          <p:cNvSpPr txBox="1"/>
          <p:nvPr/>
        </p:nvSpPr>
        <p:spPr>
          <a:xfrm>
            <a:off x="612648" y="457200"/>
            <a:ext cx="10972800" cy="822960"/>
          </a:xfrm>
          <a:prstGeom prst="rect">
            <a:avLst/>
          </a:prstGeom>
          <a:noFill/>
        </p:spPr>
        <p:txBody>
          <a:bodyPr wrap="square" lIns="0" tIns="0" rIns="0" bIns="0" anchor="b">
            <a:noAutofit/>
          </a:bodyPr>
          <a:lstStyle/>
          <a:p>
            <a:r>
              <a:rPr lang="en-US" sz="3300" b="0" i="0" dirty="0">
                <a:solidFill>
                  <a:srgbClr val="ECE7F0"/>
                </a:solidFill>
                <a:latin typeface="Iowan Old Style"/>
              </a:rPr>
              <a:t>Consequences?</a:t>
            </a:r>
            <a:endParaRPr sz="3300" b="0" i="0" dirty="0">
              <a:solidFill>
                <a:srgbClr val="ECE7F0"/>
              </a:solidFill>
              <a:latin typeface="Iowan Old Style"/>
            </a:endParaRPr>
          </a:p>
        </p:txBody>
      </p:sp>
      <p:sp>
        <p:nvSpPr>
          <p:cNvPr id="3" name="Rectangle 2">
            <a:extLst>
              <a:ext uri="{FF2B5EF4-FFF2-40B4-BE49-F238E27FC236}">
                <a16:creationId xmlns:a16="http://schemas.microsoft.com/office/drawing/2014/main" id="{694BF83B-F9B5-2E23-6CF0-B5C3F5B47300}"/>
              </a:ext>
            </a:extLst>
          </p:cNvPr>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6282773-45F9-E36D-853A-9DD8F0FBE299}"/>
              </a:ext>
            </a:extLst>
          </p:cNvPr>
          <p:cNvSpPr txBox="1"/>
          <p:nvPr/>
        </p:nvSpPr>
        <p:spPr>
          <a:xfrm>
            <a:off x="612648" y="1651328"/>
            <a:ext cx="10972800" cy="5005504"/>
          </a:xfrm>
          <a:prstGeom prst="rect">
            <a:avLst/>
          </a:prstGeom>
          <a:noFill/>
        </p:spPr>
        <p:txBody>
          <a:bodyPr wrap="square" lIns="0" tIns="0" rIns="0" bIns="0" anchor="t">
            <a:noAutofit/>
          </a:bodyPr>
          <a:lstStyle/>
          <a:p>
            <a:pPr marL="457200" indent="-457200">
              <a:lnSpc>
                <a:spcPct val="108000"/>
              </a:lnSpc>
              <a:spcAft>
                <a:spcPts val="600"/>
              </a:spcAft>
              <a:buFont typeface="Arial" panose="020B0604020202020204" pitchFamily="34" charset="0"/>
              <a:buChar char="•"/>
            </a:pPr>
            <a:r>
              <a:rPr lang="en-US" sz="2400" b="1" dirty="0">
                <a:solidFill>
                  <a:srgbClr val="ECE7F0"/>
                </a:solidFill>
                <a:latin typeface="Iowan Old Style"/>
              </a:rPr>
              <a:t>Circa 2020 22: </a:t>
            </a:r>
            <a:r>
              <a:rPr lang="en-US" sz="2400" dirty="0">
                <a:solidFill>
                  <a:srgbClr val="ECE7F0"/>
                </a:solidFill>
                <a:latin typeface="Iowan Old Style"/>
              </a:rPr>
              <a:t>OpenAI needed to make money. But how can you sell a product that is unhelpful, harmful and untrue?</a:t>
            </a:r>
          </a:p>
          <a:p>
            <a:pPr marL="457200" indent="-457200">
              <a:lnSpc>
                <a:spcPct val="108000"/>
              </a:lnSpc>
              <a:spcAft>
                <a:spcPts val="600"/>
              </a:spcAft>
              <a:buFont typeface="Arial" panose="020B0604020202020204" pitchFamily="34" charset="0"/>
              <a:buChar char="•"/>
            </a:pPr>
            <a:r>
              <a:rPr lang="en-US" sz="2400" dirty="0">
                <a:solidFill>
                  <a:srgbClr val="ECE7F0"/>
                </a:solidFill>
                <a:latin typeface="Iowan Old Style"/>
              </a:rPr>
              <a:t>Enter </a:t>
            </a:r>
            <a:r>
              <a:rPr lang="en-US" sz="2400" b="1" dirty="0">
                <a:solidFill>
                  <a:srgbClr val="ECE7F0"/>
                </a:solidFill>
                <a:latin typeface="Iowan Old Style"/>
              </a:rPr>
              <a:t>Reinforcement Learning with Human Feedback (RLHF)</a:t>
            </a:r>
          </a:p>
          <a:p>
            <a:pPr marL="914400" lvl="1" indent="-457200">
              <a:lnSpc>
                <a:spcPct val="108000"/>
              </a:lnSpc>
              <a:spcAft>
                <a:spcPts val="600"/>
              </a:spcAft>
              <a:buFont typeface="Arial" panose="020B0604020202020204" pitchFamily="34" charset="0"/>
              <a:buChar char="•"/>
            </a:pPr>
            <a:r>
              <a:rPr lang="en-US" sz="2400" b="1" dirty="0">
                <a:solidFill>
                  <a:srgbClr val="ECE7F0"/>
                </a:solidFill>
                <a:latin typeface="Iowan Old Style"/>
              </a:rPr>
              <a:t>Align</a:t>
            </a:r>
            <a:r>
              <a:rPr lang="en-US" sz="2400" b="1" i="1" dirty="0">
                <a:solidFill>
                  <a:srgbClr val="ECE7F0"/>
                </a:solidFill>
                <a:latin typeface="Iowan Old Style"/>
              </a:rPr>
              <a:t> </a:t>
            </a:r>
            <a:r>
              <a:rPr lang="en-US" sz="2400" dirty="0">
                <a:solidFill>
                  <a:srgbClr val="ECE7F0"/>
                </a:solidFill>
                <a:latin typeface="Iowan Old Style"/>
              </a:rPr>
              <a:t>the </a:t>
            </a:r>
            <a:r>
              <a:rPr lang="en-US" sz="2400" b="1" dirty="0">
                <a:solidFill>
                  <a:srgbClr val="ECE7F0"/>
                </a:solidFill>
                <a:latin typeface="Iowan Old Style"/>
              </a:rPr>
              <a:t>attention</a:t>
            </a:r>
            <a:r>
              <a:rPr lang="en-US" sz="2400" dirty="0">
                <a:solidFill>
                  <a:srgbClr val="ECE7F0"/>
                </a:solidFill>
                <a:latin typeface="Iowan Old Style"/>
              </a:rPr>
              <a:t> of the model to those of </a:t>
            </a:r>
            <a:r>
              <a:rPr lang="en-US" sz="2400" b="1" dirty="0">
                <a:solidFill>
                  <a:srgbClr val="ECE7F0"/>
                </a:solidFill>
                <a:latin typeface="Iowan Old Style"/>
              </a:rPr>
              <a:t>human values </a:t>
            </a:r>
            <a:r>
              <a:rPr lang="en-US" sz="2400" dirty="0">
                <a:solidFill>
                  <a:srgbClr val="ECE7F0"/>
                </a:solidFill>
                <a:latin typeface="Iowan Old Style"/>
              </a:rPr>
              <a:t>(Ouyang, 2022)</a:t>
            </a:r>
          </a:p>
          <a:p>
            <a:pPr marL="457200" indent="-457200">
              <a:lnSpc>
                <a:spcPct val="108000"/>
              </a:lnSpc>
              <a:spcAft>
                <a:spcPts val="600"/>
              </a:spcAft>
              <a:buFont typeface="Arial" panose="020B0604020202020204" pitchFamily="34" charset="0"/>
              <a:buChar char="•"/>
            </a:pPr>
            <a:r>
              <a:rPr lang="en-US" sz="2400" dirty="0">
                <a:solidFill>
                  <a:srgbClr val="ECE7F0"/>
                </a:solidFill>
                <a:latin typeface="Iowan Old Style"/>
              </a:rPr>
              <a:t>As an aside, we might ask: </a:t>
            </a:r>
            <a:r>
              <a:rPr lang="en-US" sz="2400" b="1" dirty="0">
                <a:solidFill>
                  <a:srgbClr val="ECE7F0"/>
                </a:solidFill>
                <a:latin typeface="Iowan Old Style"/>
              </a:rPr>
              <a:t>whose</a:t>
            </a:r>
            <a:r>
              <a:rPr lang="en-US" sz="2400" dirty="0">
                <a:solidFill>
                  <a:srgbClr val="ECE7F0"/>
                </a:solidFill>
                <a:latin typeface="Iowan Old Style"/>
              </a:rPr>
              <a:t> values exactly? And what exactly </a:t>
            </a:r>
            <a:r>
              <a:rPr lang="en-US" sz="2400" b="1" dirty="0">
                <a:solidFill>
                  <a:srgbClr val="ECE7F0"/>
                </a:solidFill>
                <a:latin typeface="Iowan Old Style"/>
              </a:rPr>
              <a:t>are</a:t>
            </a:r>
            <a:r>
              <a:rPr lang="en-US" sz="2400" i="1" dirty="0">
                <a:solidFill>
                  <a:srgbClr val="ECE7F0"/>
                </a:solidFill>
                <a:latin typeface="Iowan Old Style"/>
              </a:rPr>
              <a:t> </a:t>
            </a:r>
            <a:r>
              <a:rPr lang="en-US" sz="2400" dirty="0">
                <a:solidFill>
                  <a:srgbClr val="ECE7F0"/>
                </a:solidFill>
                <a:latin typeface="Iowan Old Style"/>
              </a:rPr>
              <a:t>values? Are they the same as </a:t>
            </a:r>
            <a:r>
              <a:rPr lang="en-US" sz="2400" b="1" dirty="0">
                <a:solidFill>
                  <a:srgbClr val="ECE7F0"/>
                </a:solidFill>
                <a:latin typeface="Iowan Old Style"/>
              </a:rPr>
              <a:t>commandments</a:t>
            </a:r>
            <a:r>
              <a:rPr lang="en-US" sz="2400" dirty="0">
                <a:solidFill>
                  <a:srgbClr val="ECE7F0"/>
                </a:solidFill>
                <a:latin typeface="Iowan Old Style"/>
              </a:rPr>
              <a:t>? Are they </a:t>
            </a:r>
            <a:r>
              <a:rPr lang="en-US" sz="2400" b="1" dirty="0">
                <a:solidFill>
                  <a:srgbClr val="ECE7F0"/>
                </a:solidFill>
                <a:latin typeface="Iowan Old Style"/>
              </a:rPr>
              <a:t>preferences</a:t>
            </a:r>
            <a:r>
              <a:rPr lang="en-US" sz="2400" dirty="0">
                <a:solidFill>
                  <a:srgbClr val="ECE7F0"/>
                </a:solidFill>
                <a:latin typeface="Iowan Old Style"/>
              </a:rPr>
              <a:t>? </a:t>
            </a:r>
            <a:r>
              <a:rPr lang="en-US" sz="2400" b="1" dirty="0">
                <a:solidFill>
                  <a:srgbClr val="ECE7F0"/>
                </a:solidFill>
                <a:latin typeface="Iowan Old Style"/>
              </a:rPr>
              <a:t>Principles</a:t>
            </a:r>
            <a:r>
              <a:rPr lang="en-US" sz="2400" dirty="0">
                <a:solidFill>
                  <a:srgbClr val="ECE7F0"/>
                </a:solidFill>
                <a:latin typeface="Iowan Old Style"/>
              </a:rPr>
              <a:t>? Or </a:t>
            </a:r>
            <a:r>
              <a:rPr lang="en-US" sz="2400" b="1" dirty="0">
                <a:solidFill>
                  <a:srgbClr val="ECE7F0"/>
                </a:solidFill>
                <a:latin typeface="Iowan Old Style"/>
              </a:rPr>
              <a:t>costs</a:t>
            </a:r>
            <a:r>
              <a:rPr lang="en-US" sz="2400" dirty="0">
                <a:solidFill>
                  <a:srgbClr val="ECE7F0"/>
                </a:solidFill>
                <a:latin typeface="Iowan Old Style"/>
              </a:rPr>
              <a:t>? </a:t>
            </a:r>
          </a:p>
          <a:p>
            <a:pPr marL="914400" lvl="1" indent="-457200">
              <a:lnSpc>
                <a:spcPct val="108000"/>
              </a:lnSpc>
              <a:spcAft>
                <a:spcPts val="600"/>
              </a:spcAft>
              <a:buFont typeface="Arial" panose="020B0604020202020204" pitchFamily="34" charset="0"/>
              <a:buChar char="•"/>
            </a:pPr>
            <a:r>
              <a:rPr lang="en-US" sz="2400" dirty="0">
                <a:solidFill>
                  <a:srgbClr val="ECE7F0"/>
                </a:solidFill>
                <a:latin typeface="Iowan Old Style"/>
              </a:rPr>
              <a:t>And then: How do we teach a machine our </a:t>
            </a:r>
            <a:r>
              <a:rPr lang="en-US" sz="2400" dirty="0" err="1">
                <a:solidFill>
                  <a:srgbClr val="ECE7F0"/>
                </a:solidFill>
                <a:latin typeface="Iowan Old Style"/>
              </a:rPr>
              <a:t>marvellous</a:t>
            </a:r>
            <a:r>
              <a:rPr lang="en-US" sz="2400" dirty="0">
                <a:solidFill>
                  <a:srgbClr val="ECE7F0"/>
                </a:solidFill>
                <a:latin typeface="Iowan Old Style"/>
              </a:rPr>
              <a:t> values? And how do we know when it has learned them properly? </a:t>
            </a:r>
          </a:p>
          <a:p>
            <a:pPr>
              <a:lnSpc>
                <a:spcPct val="108000"/>
              </a:lnSpc>
              <a:spcAft>
                <a:spcPts val="600"/>
              </a:spcAft>
            </a:pPr>
            <a:endParaRPr lang="en-US" sz="2400" b="1" dirty="0">
              <a:solidFill>
                <a:srgbClr val="ECE7F0"/>
              </a:solidFill>
              <a:latin typeface="Iowan Old Style"/>
            </a:endParaRPr>
          </a:p>
          <a:p>
            <a:pPr>
              <a:lnSpc>
                <a:spcPct val="108000"/>
              </a:lnSpc>
              <a:spcAft>
                <a:spcPts val="600"/>
              </a:spcAft>
            </a:pPr>
            <a:r>
              <a:rPr lang="en-US" sz="2400" b="1" dirty="0">
                <a:solidFill>
                  <a:srgbClr val="ECE7F0"/>
                </a:solidFill>
                <a:latin typeface="Iowan Old Style"/>
              </a:rPr>
              <a:t>Discuss</a:t>
            </a:r>
            <a:r>
              <a:rPr lang="en-US" sz="2400" dirty="0">
                <a:solidFill>
                  <a:srgbClr val="ECE7F0"/>
                </a:solidFill>
                <a:latin typeface="Iowan Old Style"/>
              </a:rPr>
              <a:t>: what are the analogies with human learning here?</a:t>
            </a:r>
            <a:br>
              <a:rPr lang="en-US" sz="2400" b="1" dirty="0">
                <a:solidFill>
                  <a:srgbClr val="ECE7F0"/>
                </a:solidFill>
                <a:latin typeface="Iowan Old Style"/>
              </a:rPr>
            </a:br>
            <a:endParaRPr lang="en-US" sz="2400" dirty="0">
              <a:solidFill>
                <a:srgbClr val="ECE7F0"/>
              </a:solidFill>
              <a:latin typeface="Iowan Old Style"/>
            </a:endParaRPr>
          </a:p>
          <a:p>
            <a:pPr marL="457200" indent="-457200">
              <a:lnSpc>
                <a:spcPct val="108000"/>
              </a:lnSpc>
              <a:spcAft>
                <a:spcPts val="600"/>
              </a:spcAft>
              <a:buFont typeface="Arial" panose="020B0604020202020204" pitchFamily="34" charset="0"/>
              <a:buChar char="•"/>
            </a:pPr>
            <a:endParaRPr sz="2200" b="0" i="0" dirty="0">
              <a:solidFill>
                <a:srgbClr val="ECE7F0"/>
              </a:solidFill>
              <a:latin typeface="Iowan Old Style"/>
            </a:endParaRPr>
          </a:p>
        </p:txBody>
      </p:sp>
      <p:sp>
        <p:nvSpPr>
          <p:cNvPr id="5" name="TextBox 4">
            <a:extLst>
              <a:ext uri="{FF2B5EF4-FFF2-40B4-BE49-F238E27FC236}">
                <a16:creationId xmlns:a16="http://schemas.microsoft.com/office/drawing/2014/main" id="{191FBB82-88C9-41CD-AEF5-91AA0543FF8C}"/>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5</a:t>
            </a:r>
          </a:p>
        </p:txBody>
      </p:sp>
    </p:spTree>
    <p:extLst>
      <p:ext uri="{BB962C8B-B14F-4D97-AF65-F5344CB8AC3E}">
        <p14:creationId xmlns:p14="http://schemas.microsoft.com/office/powerpoint/2010/main" val="2268862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8F00-4657-12B9-F3E9-8DD04D3A0B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8FFFCE-BA84-613D-B3FF-94B996CC4D7C}"/>
              </a:ext>
            </a:extLst>
          </p:cNvPr>
          <p:cNvSpPr txBox="1"/>
          <p:nvPr/>
        </p:nvSpPr>
        <p:spPr>
          <a:xfrm>
            <a:off x="612648" y="2103120"/>
            <a:ext cx="10972800" cy="2011680"/>
          </a:xfrm>
          <a:prstGeom prst="rect">
            <a:avLst/>
          </a:prstGeom>
          <a:noFill/>
        </p:spPr>
        <p:txBody>
          <a:bodyPr wrap="square" lIns="0" tIns="0" rIns="0" bIns="0" anchor="ctr">
            <a:noAutofit/>
          </a:bodyPr>
          <a:lstStyle/>
          <a:p>
            <a:r>
              <a:rPr lang="en-US" sz="4000" dirty="0">
                <a:solidFill>
                  <a:srgbClr val="F0C9A0"/>
                </a:solidFill>
                <a:latin typeface="Iowan Old Style"/>
              </a:rPr>
              <a:t>Case Study: </a:t>
            </a:r>
            <a:r>
              <a:rPr sz="4000" b="0" i="0" dirty="0">
                <a:solidFill>
                  <a:srgbClr val="F0C9A0"/>
                </a:solidFill>
                <a:latin typeface="Iowan Old Style"/>
              </a:rPr>
              <a:t>The Problem of </a:t>
            </a:r>
            <a:r>
              <a:rPr lang="en-US" sz="4000" b="0" i="0" dirty="0">
                <a:solidFill>
                  <a:srgbClr val="F0C9A0"/>
                </a:solidFill>
                <a:latin typeface="Iowan Old Style"/>
              </a:rPr>
              <a:t>Truth</a:t>
            </a:r>
            <a:endParaRPr sz="4000" b="0" i="0" dirty="0">
              <a:solidFill>
                <a:srgbClr val="F0C9A0"/>
              </a:solidFill>
              <a:latin typeface="Iowan Old Style"/>
            </a:endParaRPr>
          </a:p>
        </p:txBody>
      </p:sp>
      <p:sp>
        <p:nvSpPr>
          <p:cNvPr id="3" name="Rectangle 2">
            <a:extLst>
              <a:ext uri="{FF2B5EF4-FFF2-40B4-BE49-F238E27FC236}">
                <a16:creationId xmlns:a16="http://schemas.microsoft.com/office/drawing/2014/main" id="{7452ABE9-9505-66B2-061D-9E452ABD0105}"/>
              </a:ext>
            </a:extLst>
          </p:cNvPr>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13B1E47-7D5A-4279-417C-A10A5291713E}"/>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22</a:t>
            </a:r>
          </a:p>
        </p:txBody>
      </p:sp>
    </p:spTree>
    <p:extLst>
      <p:ext uri="{BB962C8B-B14F-4D97-AF65-F5344CB8AC3E}">
        <p14:creationId xmlns:p14="http://schemas.microsoft.com/office/powerpoint/2010/main" val="481324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1097280"/>
          </a:xfrm>
          <a:prstGeom prst="rect">
            <a:avLst/>
          </a:prstGeom>
          <a:noFill/>
        </p:spPr>
        <p:txBody>
          <a:bodyPr wrap="square" lIns="0" tIns="0" rIns="0" bIns="0" anchor="b">
            <a:noAutofit/>
          </a:bodyPr>
          <a:lstStyle/>
          <a:p>
            <a:r>
              <a:rPr sz="3300" b="0" i="0">
                <a:solidFill>
                  <a:srgbClr val="ECE7F0"/>
                </a:solidFill>
                <a:latin typeface="Iowan Old Style"/>
              </a:rPr>
              <a:t>What Kind of Truth Would You Like? LLMs and the Problem of Hallucination</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938528"/>
            <a:ext cx="6428232" cy="397763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LLMs tend to hallucinate.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what is hallucination? Different </a:t>
            </a:r>
            <a:r>
              <a:rPr sz="2400" b="1" i="0">
                <a:solidFill>
                  <a:srgbClr val="ECE7F0"/>
                </a:solidFill>
                <a:latin typeface="Iowan Old Style"/>
              </a:rPr>
              <a:t>models of truth</a:t>
            </a:r>
            <a:r>
              <a:rPr sz="2400" b="0" i="0">
                <a:solidFill>
                  <a:srgbClr val="ECE7F0"/>
                </a:solidFill>
                <a:latin typeface="Iowan Old Style"/>
              </a:rPr>
              <a:t> (Munn, Magee, Arora, 2024).</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Hegel’s truth aligns with </a:t>
            </a:r>
            <a:r>
              <a:rPr sz="2400" b="1" i="0">
                <a:solidFill>
                  <a:srgbClr val="ECE7F0"/>
                </a:solidFill>
                <a:latin typeface="Iowan Old Style"/>
              </a:rPr>
              <a:t>coherentist</a:t>
            </a:r>
            <a:r>
              <a:rPr sz="2400" b="0" i="0">
                <a:solidFill>
                  <a:srgbClr val="ECE7F0"/>
                </a:solidFill>
                <a:latin typeface="Iowan Old Style"/>
              </a:rPr>
              <a:t> model, contrasting everyday realism (</a:t>
            </a:r>
            <a:r>
              <a:rPr sz="2400" b="1" i="0">
                <a:solidFill>
                  <a:srgbClr val="ECE7F0"/>
                </a:solidFill>
                <a:latin typeface="Iowan Old Style"/>
              </a:rPr>
              <a:t>correspondence</a:t>
            </a:r>
            <a:r>
              <a:rPr sz="24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LLM alignment pushes models toward social </a:t>
            </a:r>
            <a:r>
              <a:rPr sz="2400" b="1" i="0">
                <a:solidFill>
                  <a:srgbClr val="ECE7F0"/>
                </a:solidFill>
                <a:latin typeface="Iowan Old Style"/>
              </a:rPr>
              <a:t>consensus</a:t>
            </a:r>
            <a:r>
              <a:rPr sz="2400" b="0" i="0">
                <a:solidFill>
                  <a:srgbClr val="ECE7F0"/>
                </a:solidFill>
                <a:latin typeface="Iowan Old Style"/>
              </a:rPr>
              <a:t>.</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Models trained to avoid self‑contradiction also have coherentist properties.</a:t>
            </a:r>
          </a:p>
        </p:txBody>
      </p:sp>
      <p:pic>
        <p:nvPicPr>
          <p:cNvPr id="5" name="Picture 4" descr="image.jpg"/>
          <p:cNvPicPr>
            <a:picLocks noChangeAspect="1"/>
          </p:cNvPicPr>
          <p:nvPr/>
        </p:nvPicPr>
        <p:blipFill>
          <a:blip r:embed="rId3"/>
          <a:stretch>
            <a:fillRect/>
          </a:stretch>
        </p:blipFill>
        <p:spPr>
          <a:xfrm>
            <a:off x="7360920" y="2918716"/>
            <a:ext cx="4224528" cy="2364735"/>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19</a:t>
            </a:r>
          </a:p>
        </p:txBody>
      </p:sp>
    </p:spTree>
    <p:extLst>
      <p:ext uri="{BB962C8B-B14F-4D97-AF65-F5344CB8AC3E}">
        <p14:creationId xmlns:p14="http://schemas.microsoft.com/office/powerpoint/2010/main" val="633897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D9682-243C-B846-0E67-9C9BA5B0F7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88F279-7F00-12F9-EDEA-EF91298C153A}"/>
              </a:ext>
            </a:extLst>
          </p:cNvPr>
          <p:cNvSpPr txBox="1"/>
          <p:nvPr/>
        </p:nvSpPr>
        <p:spPr>
          <a:xfrm>
            <a:off x="612648" y="457200"/>
            <a:ext cx="10972800" cy="1097280"/>
          </a:xfrm>
          <a:prstGeom prst="rect">
            <a:avLst/>
          </a:prstGeom>
          <a:noFill/>
        </p:spPr>
        <p:txBody>
          <a:bodyPr wrap="square" lIns="0" tIns="0" rIns="0" bIns="0" anchor="b">
            <a:noAutofit/>
          </a:bodyPr>
          <a:lstStyle/>
          <a:p>
            <a:r>
              <a:rPr sz="3300" b="0" i="0">
                <a:solidFill>
                  <a:srgbClr val="ECE7F0"/>
                </a:solidFill>
                <a:latin typeface="Iowan Old Style"/>
              </a:rPr>
              <a:t>What Kind of Truth Would You Like? LLMs and the Problem of Hallucination</a:t>
            </a:r>
          </a:p>
        </p:txBody>
      </p:sp>
      <p:sp>
        <p:nvSpPr>
          <p:cNvPr id="3" name="Rectangle 2">
            <a:extLst>
              <a:ext uri="{FF2B5EF4-FFF2-40B4-BE49-F238E27FC236}">
                <a16:creationId xmlns:a16="http://schemas.microsoft.com/office/drawing/2014/main" id="{670F373C-6DCD-7CCB-147C-B89EB01C4887}"/>
              </a:ext>
            </a:extLst>
          </p:cNvPr>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DC29A80-FCF4-7AE4-6098-3BF34465BA6F}"/>
              </a:ext>
            </a:extLst>
          </p:cNvPr>
          <p:cNvSpPr txBox="1"/>
          <p:nvPr/>
        </p:nvSpPr>
        <p:spPr>
          <a:xfrm>
            <a:off x="612648" y="1938528"/>
            <a:ext cx="6428232" cy="397763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LLMs tend to hallucinate.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what is hallucination? Different </a:t>
            </a:r>
            <a:r>
              <a:rPr sz="2400" b="1" i="0">
                <a:solidFill>
                  <a:srgbClr val="ECE7F0"/>
                </a:solidFill>
                <a:latin typeface="Iowan Old Style"/>
              </a:rPr>
              <a:t>models of truth</a:t>
            </a:r>
            <a:r>
              <a:rPr sz="2400" b="0" i="0">
                <a:solidFill>
                  <a:srgbClr val="ECE7F0"/>
                </a:solidFill>
                <a:latin typeface="Iowan Old Style"/>
              </a:rPr>
              <a:t> (Munn, Magee, Arora, 2024).</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Hegel’s truth aligns with </a:t>
            </a:r>
            <a:r>
              <a:rPr sz="2400" b="1" i="0">
                <a:solidFill>
                  <a:srgbClr val="ECE7F0"/>
                </a:solidFill>
                <a:latin typeface="Iowan Old Style"/>
              </a:rPr>
              <a:t>coherentist</a:t>
            </a:r>
            <a:r>
              <a:rPr sz="2400" b="0" i="0">
                <a:solidFill>
                  <a:srgbClr val="ECE7F0"/>
                </a:solidFill>
                <a:latin typeface="Iowan Old Style"/>
              </a:rPr>
              <a:t> model, contrasting everyday realism (</a:t>
            </a:r>
            <a:r>
              <a:rPr sz="2400" b="1" i="0">
                <a:solidFill>
                  <a:srgbClr val="ECE7F0"/>
                </a:solidFill>
                <a:latin typeface="Iowan Old Style"/>
              </a:rPr>
              <a:t>correspondence</a:t>
            </a:r>
            <a:r>
              <a:rPr sz="24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LLM alignment pushes models toward social </a:t>
            </a:r>
            <a:r>
              <a:rPr sz="2400" b="1" i="0">
                <a:solidFill>
                  <a:srgbClr val="ECE7F0"/>
                </a:solidFill>
                <a:latin typeface="Iowan Old Style"/>
              </a:rPr>
              <a:t>consensus</a:t>
            </a:r>
            <a:r>
              <a:rPr sz="2400" b="0" i="0">
                <a:solidFill>
                  <a:srgbClr val="ECE7F0"/>
                </a:solidFill>
                <a:latin typeface="Iowan Old Style"/>
              </a:rPr>
              <a:t>.</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Models trained to avoid self‑contradiction also have coherentist properties.</a:t>
            </a:r>
          </a:p>
        </p:txBody>
      </p:sp>
      <p:pic>
        <p:nvPicPr>
          <p:cNvPr id="5" name="Picture 4" descr="image.jpg">
            <a:extLst>
              <a:ext uri="{FF2B5EF4-FFF2-40B4-BE49-F238E27FC236}">
                <a16:creationId xmlns:a16="http://schemas.microsoft.com/office/drawing/2014/main" id="{EAC1EA6F-FD67-D5FC-9D79-EA2BA9A77B47}"/>
              </a:ext>
            </a:extLst>
          </p:cNvPr>
          <p:cNvPicPr>
            <a:picLocks noChangeAspect="1"/>
          </p:cNvPicPr>
          <p:nvPr/>
        </p:nvPicPr>
        <p:blipFill>
          <a:blip r:embed="rId3"/>
          <a:stretch>
            <a:fillRect/>
          </a:stretch>
        </p:blipFill>
        <p:spPr>
          <a:xfrm>
            <a:off x="7360920" y="2918716"/>
            <a:ext cx="4224528" cy="2364735"/>
          </a:xfrm>
          <a:prstGeom prst="rect">
            <a:avLst/>
          </a:prstGeom>
        </p:spPr>
      </p:pic>
      <p:sp>
        <p:nvSpPr>
          <p:cNvPr id="6" name="TextBox 5">
            <a:extLst>
              <a:ext uri="{FF2B5EF4-FFF2-40B4-BE49-F238E27FC236}">
                <a16:creationId xmlns:a16="http://schemas.microsoft.com/office/drawing/2014/main" id="{75F86601-6750-C73B-F455-8C19E8163F8D}"/>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19</a:t>
            </a:r>
          </a:p>
        </p:txBody>
      </p:sp>
    </p:spTree>
    <p:extLst>
      <p:ext uri="{BB962C8B-B14F-4D97-AF65-F5344CB8AC3E}">
        <p14:creationId xmlns:p14="http://schemas.microsoft.com/office/powerpoint/2010/main" val="1563736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2 + 2 = ? The Problem with Probabilities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3420849" y="1664207"/>
            <a:ext cx="5349996" cy="4782312"/>
          </a:xfrm>
          <a:prstGeom prst="rect">
            <a:avLst/>
          </a:prstGeom>
        </p:spPr>
      </p:pic>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20</a:t>
            </a:r>
          </a:p>
        </p:txBody>
      </p:sp>
    </p:spTree>
    <p:extLst>
      <p:ext uri="{BB962C8B-B14F-4D97-AF65-F5344CB8AC3E}">
        <p14:creationId xmlns:p14="http://schemas.microsoft.com/office/powerpoint/2010/main" val="536259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2 + 2 = ? Or, the role of context…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249935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1">
                <a:solidFill>
                  <a:srgbClr val="ECE7F0"/>
                </a:solidFill>
                <a:latin typeface="Iowan Old Style"/>
              </a:rPr>
              <a:t>What are the </a:t>
            </a:r>
            <a:r>
              <a:rPr sz="2400" b="0" i="0">
                <a:solidFill>
                  <a:srgbClr val="ECE7F0"/>
                </a:solidFill>
                <a:latin typeface="Iowan Old Style"/>
              </a:rPr>
              <a:t>range of answers* to the question on ‘2 + 2 =’?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Is truth context- or situation-dependent?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Can LLMs tell us </a:t>
            </a:r>
            <a:r>
              <a:rPr sz="2400" b="0" i="1">
                <a:solidFill>
                  <a:srgbClr val="ECE7F0"/>
                </a:solidFill>
                <a:latin typeface="Iowan Old Style"/>
              </a:rPr>
              <a:t>inconvenient</a:t>
            </a:r>
            <a:r>
              <a:rPr sz="2400" b="0" i="0">
                <a:solidFill>
                  <a:srgbClr val="ECE7F0"/>
                </a:solidFill>
                <a:latin typeface="Iowan Old Style"/>
              </a:rPr>
              <a:t> truths?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Should LLMs be </a:t>
            </a:r>
            <a:r>
              <a:rPr sz="2400" b="0" i="1">
                <a:solidFill>
                  <a:srgbClr val="ECE7F0"/>
                </a:solidFill>
                <a:latin typeface="Iowan Old Style"/>
              </a:rPr>
              <a:t>innocent</a:t>
            </a:r>
            <a:r>
              <a:rPr sz="2400" b="0" i="0">
                <a:solidFill>
                  <a:srgbClr val="ECE7F0"/>
                </a:solidFill>
                <a:latin typeface="Iowan Old Style"/>
              </a:rPr>
              <a:t> or </a:t>
            </a:r>
            <a:r>
              <a:rPr sz="2400" b="0" i="1">
                <a:solidFill>
                  <a:srgbClr val="ECE7F0"/>
                </a:solidFill>
                <a:latin typeface="Iowan Old Style"/>
              </a:rPr>
              <a:t>experienced</a:t>
            </a:r>
            <a:r>
              <a:rPr sz="2400" b="0" i="0">
                <a:solidFill>
                  <a:srgbClr val="ECE7F0"/>
                </a:solidFill>
                <a:latin typeface="Iowan Old Style"/>
              </a:rPr>
              <a:t> (in the sense of William Blake)?</a:t>
            </a:r>
          </a:p>
        </p:txBody>
      </p:sp>
      <p:pic>
        <p:nvPicPr>
          <p:cNvPr id="5" name="Picture 4" descr="image.jpg"/>
          <p:cNvPicPr>
            <a:picLocks noChangeAspect="1"/>
          </p:cNvPicPr>
          <p:nvPr/>
        </p:nvPicPr>
        <p:blipFill>
          <a:blip r:embed="rId3"/>
          <a:stretch>
            <a:fillRect/>
          </a:stretch>
        </p:blipFill>
        <p:spPr>
          <a:xfrm>
            <a:off x="7360920" y="3002493"/>
            <a:ext cx="4224528" cy="1922860"/>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21</a:t>
            </a:r>
          </a:p>
        </p:txBody>
      </p:sp>
    </p:spTree>
    <p:extLst>
      <p:ext uri="{BB962C8B-B14F-4D97-AF65-F5344CB8AC3E}">
        <p14:creationId xmlns:p14="http://schemas.microsoft.com/office/powerpoint/2010/main" val="1188555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9543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5584C-C51A-F8D7-6156-82BC97D7F4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43E70F-72D9-89B1-636D-369A748324DC}"/>
              </a:ext>
            </a:extLst>
          </p:cNvPr>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Aligning Language Models for Generative AI</a:t>
            </a:r>
          </a:p>
        </p:txBody>
      </p:sp>
      <p:sp>
        <p:nvSpPr>
          <p:cNvPr id="3" name="Rectangle 2">
            <a:extLst>
              <a:ext uri="{FF2B5EF4-FFF2-40B4-BE49-F238E27FC236}">
                <a16:creationId xmlns:a16="http://schemas.microsoft.com/office/drawing/2014/main" id="{F789FA36-35BA-1121-E361-F096AA696BF8}"/>
              </a:ext>
            </a:extLst>
          </p:cNvPr>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121A565-D1D1-0CC2-C3EA-5E32348AF7D9}"/>
              </a:ext>
            </a:extLst>
          </p:cNvPr>
          <p:cNvSpPr txBox="1"/>
          <p:nvPr/>
        </p:nvSpPr>
        <p:spPr>
          <a:xfrm>
            <a:off x="612648" y="1664207"/>
            <a:ext cx="10972800" cy="4736593"/>
          </a:xfrm>
          <a:prstGeom prst="rect">
            <a:avLst/>
          </a:prstGeom>
          <a:noFill/>
        </p:spPr>
        <p:txBody>
          <a:bodyPr wrap="square" lIns="0" tIns="0" rIns="0" bIns="0" anchor="t">
            <a:noAutofit/>
          </a:bodyPr>
          <a:lstStyle/>
          <a:p>
            <a:pPr marL="274320" indent="-274320">
              <a:lnSpc>
                <a:spcPct val="108000"/>
              </a:lnSpc>
              <a:spcAft>
                <a:spcPts val="600"/>
              </a:spcAft>
              <a:buNone/>
            </a:pPr>
            <a:r>
              <a:rPr sz="2400" b="1" i="0" dirty="0">
                <a:solidFill>
                  <a:srgbClr val="F0C9A0"/>
                </a:solidFill>
                <a:latin typeface="Iowan Old Style"/>
              </a:rPr>
              <a:t>1.  </a:t>
            </a:r>
            <a:r>
              <a:rPr sz="2400" b="0" i="0" dirty="0">
                <a:solidFill>
                  <a:srgbClr val="ECE7F0"/>
                </a:solidFill>
                <a:latin typeface="Iowan Old Style"/>
              </a:rPr>
              <a:t>Build a </a:t>
            </a:r>
            <a:r>
              <a:rPr sz="2400" b="1" i="0" dirty="0">
                <a:solidFill>
                  <a:srgbClr val="ECE7F0"/>
                </a:solidFill>
                <a:latin typeface="Iowan Old Style"/>
              </a:rPr>
              <a:t>large base model</a:t>
            </a:r>
            <a:r>
              <a:rPr sz="2400" b="0" i="0" dirty="0">
                <a:solidFill>
                  <a:srgbClr val="ECE7F0"/>
                </a:solidFill>
                <a:latin typeface="Iowan Old Style"/>
              </a:rPr>
              <a:t> (e.g., GPT‑3) as the foundation.</a:t>
            </a:r>
          </a:p>
          <a:p>
            <a:pPr marL="274320" indent="-274320">
              <a:lnSpc>
                <a:spcPct val="108000"/>
              </a:lnSpc>
              <a:spcAft>
                <a:spcPts val="600"/>
              </a:spcAft>
              <a:buNone/>
            </a:pPr>
            <a:r>
              <a:rPr sz="2400" b="1" i="0" dirty="0">
                <a:solidFill>
                  <a:srgbClr val="F0C9A0"/>
                </a:solidFill>
                <a:latin typeface="Iowan Old Style"/>
              </a:rPr>
              <a:t>2.  </a:t>
            </a:r>
            <a:r>
              <a:rPr sz="2400" b="0" i="0" dirty="0">
                <a:solidFill>
                  <a:srgbClr val="ECE7F0"/>
                </a:solidFill>
                <a:latin typeface="Iowan Old Style"/>
              </a:rPr>
              <a:t>Fine‑tune with </a:t>
            </a:r>
            <a:r>
              <a:rPr sz="2400" b="1" i="0" dirty="0">
                <a:solidFill>
                  <a:srgbClr val="ECE7F0"/>
                </a:solidFill>
                <a:latin typeface="Iowan Old Style"/>
              </a:rPr>
              <a:t>supervised learning</a:t>
            </a:r>
            <a:r>
              <a:rPr sz="2400" b="0" i="0" dirty="0">
                <a:solidFill>
                  <a:srgbClr val="ECE7F0"/>
                </a:solidFill>
                <a:latin typeface="Iowan Old Style"/>
              </a:rPr>
              <a:t> to teach conversation basics and Q&amp;A skills.</a:t>
            </a:r>
          </a:p>
          <a:p>
            <a:pPr marL="274320" indent="-274320">
              <a:lnSpc>
                <a:spcPct val="108000"/>
              </a:lnSpc>
              <a:spcAft>
                <a:spcPts val="600"/>
              </a:spcAft>
              <a:buNone/>
            </a:pPr>
            <a:r>
              <a:rPr sz="2400" b="1" i="0" dirty="0">
                <a:solidFill>
                  <a:srgbClr val="F0C9A0"/>
                </a:solidFill>
                <a:latin typeface="Iowan Old Style"/>
              </a:rPr>
              <a:t>3.  </a:t>
            </a:r>
            <a:r>
              <a:rPr sz="2400" b="0" i="0" dirty="0">
                <a:solidFill>
                  <a:srgbClr val="ECE7F0"/>
                </a:solidFill>
                <a:latin typeface="Iowan Old Style"/>
              </a:rPr>
              <a:t>Generate </a:t>
            </a:r>
            <a:r>
              <a:rPr sz="2400" i="0" dirty="0">
                <a:solidFill>
                  <a:srgbClr val="ECE7F0"/>
                </a:solidFill>
                <a:latin typeface="Iowan Old Style"/>
              </a:rPr>
              <a:t>responses</a:t>
            </a:r>
            <a:r>
              <a:rPr sz="2400" b="0" i="0" dirty="0">
                <a:solidFill>
                  <a:srgbClr val="ECE7F0"/>
                </a:solidFill>
                <a:latin typeface="Iowan Old Style"/>
              </a:rPr>
              <a:t>, have humans </a:t>
            </a:r>
            <a:r>
              <a:rPr sz="2400" i="0" dirty="0">
                <a:solidFill>
                  <a:srgbClr val="ECE7F0"/>
                </a:solidFill>
                <a:latin typeface="Iowan Old Style"/>
              </a:rPr>
              <a:t>rank</a:t>
            </a:r>
            <a:r>
              <a:rPr sz="2400" b="0" i="0" dirty="0">
                <a:solidFill>
                  <a:srgbClr val="ECE7F0"/>
                </a:solidFill>
                <a:latin typeface="Iowan Old Style"/>
              </a:rPr>
              <a:t> them, </a:t>
            </a:r>
            <a:r>
              <a:rPr sz="2400" b="1" i="0" dirty="0">
                <a:solidFill>
                  <a:srgbClr val="ECE7F0"/>
                </a:solidFill>
                <a:latin typeface="Iowan Old Style"/>
              </a:rPr>
              <a:t>and train a reward model </a:t>
            </a:r>
            <a:r>
              <a:rPr sz="2400" b="0" i="0" dirty="0">
                <a:solidFill>
                  <a:srgbClr val="ECE7F0"/>
                </a:solidFill>
                <a:latin typeface="Iowan Old Style"/>
              </a:rPr>
              <a:t>on those rankings. Retrain the fine‑tuned model using reward signals to </a:t>
            </a:r>
            <a:r>
              <a:rPr sz="2400" b="1" i="0" dirty="0">
                <a:solidFill>
                  <a:srgbClr val="ECE7F0"/>
                </a:solidFill>
                <a:latin typeface="Iowan Old Style"/>
              </a:rPr>
              <a:t>reinforce</a:t>
            </a:r>
            <a:r>
              <a:rPr sz="2400" b="0" i="0" dirty="0">
                <a:solidFill>
                  <a:srgbClr val="ECE7F0"/>
                </a:solidFill>
                <a:latin typeface="Iowan Old Style"/>
              </a:rPr>
              <a:t> desirable outputs.</a:t>
            </a:r>
          </a:p>
          <a:p>
            <a:pPr marL="548640" indent="-219456">
              <a:lnSpc>
                <a:spcPct val="108000"/>
              </a:lnSpc>
              <a:spcAft>
                <a:spcPts val="600"/>
              </a:spcAft>
              <a:buClr>
                <a:srgbClr val="F0C9A0"/>
              </a:buClr>
              <a:buSzPct val="90000"/>
              <a:buFont typeface="Arial"/>
              <a:buChar char="–"/>
            </a:pPr>
            <a:r>
              <a:rPr sz="2200" b="0" i="0" dirty="0">
                <a:solidFill>
                  <a:srgbClr val="ECE7F0"/>
                </a:solidFill>
                <a:latin typeface="Iowan Old Style"/>
              </a:rPr>
              <a:t>New variants, such as Direct Preference Optimization - train on ‘chosen’ / ‘rejected’ pairs</a:t>
            </a:r>
            <a:endParaRPr lang="en-US" sz="2200" b="0" i="0" dirty="0">
              <a:solidFill>
                <a:srgbClr val="ECE7F0"/>
              </a:solidFill>
              <a:latin typeface="Iowan Old Style"/>
            </a:endParaRPr>
          </a:p>
          <a:p>
            <a:pPr marL="548640" indent="-219456">
              <a:lnSpc>
                <a:spcPct val="108000"/>
              </a:lnSpc>
              <a:spcAft>
                <a:spcPts val="600"/>
              </a:spcAft>
              <a:buClr>
                <a:srgbClr val="F0C9A0"/>
              </a:buClr>
              <a:buSzPct val="90000"/>
              <a:buFont typeface="Arial"/>
              <a:buChar char="–"/>
            </a:pPr>
            <a:endParaRPr lang="en-US" sz="2200" b="1" dirty="0">
              <a:solidFill>
                <a:srgbClr val="ECE7F0"/>
              </a:solidFill>
              <a:latin typeface="Iowan Old Style"/>
            </a:endParaRPr>
          </a:p>
          <a:p>
            <a:pPr marL="329184">
              <a:lnSpc>
                <a:spcPct val="108000"/>
              </a:lnSpc>
              <a:spcAft>
                <a:spcPts val="600"/>
              </a:spcAft>
              <a:buClr>
                <a:srgbClr val="F0C9A0"/>
              </a:buClr>
              <a:buSzPct val="90000"/>
            </a:pPr>
            <a:r>
              <a:rPr lang="en-US" sz="2400" b="1" dirty="0">
                <a:solidFill>
                  <a:srgbClr val="ECE7F0"/>
                </a:solidFill>
                <a:latin typeface="Iowan Old Style"/>
              </a:rPr>
              <a:t>Discuss: </a:t>
            </a:r>
            <a:r>
              <a:rPr lang="en-US" sz="2400" dirty="0">
                <a:solidFill>
                  <a:srgbClr val="ECE7F0"/>
                </a:solidFill>
                <a:latin typeface="Iowan Old Style"/>
              </a:rPr>
              <a:t>what does this sound like? Are there human equivalents?</a:t>
            </a:r>
          </a:p>
          <a:p>
            <a:pPr marL="329184">
              <a:lnSpc>
                <a:spcPct val="108000"/>
              </a:lnSpc>
              <a:spcAft>
                <a:spcPts val="600"/>
              </a:spcAft>
              <a:buClr>
                <a:srgbClr val="F0C9A0"/>
              </a:buClr>
              <a:buSzPct val="90000"/>
            </a:pPr>
            <a:endParaRPr lang="en-US" sz="2200" dirty="0">
              <a:solidFill>
                <a:srgbClr val="ECE7F0"/>
              </a:solidFill>
              <a:latin typeface="Iowan Old Style"/>
            </a:endParaRPr>
          </a:p>
        </p:txBody>
      </p:sp>
      <p:sp>
        <p:nvSpPr>
          <p:cNvPr id="5" name="TextBox 4">
            <a:extLst>
              <a:ext uri="{FF2B5EF4-FFF2-40B4-BE49-F238E27FC236}">
                <a16:creationId xmlns:a16="http://schemas.microsoft.com/office/drawing/2014/main" id="{700E6AD8-94A7-F10A-550C-D8E0C6DB4DB8}"/>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5</a:t>
            </a:r>
          </a:p>
        </p:txBody>
      </p:sp>
    </p:spTree>
    <p:extLst>
      <p:ext uri="{BB962C8B-B14F-4D97-AF65-F5344CB8AC3E}">
        <p14:creationId xmlns:p14="http://schemas.microsoft.com/office/powerpoint/2010/main" val="3847949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93A4-2934-2DA4-8B3D-C63C8DA575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65B1DA-DECC-C7B1-8920-C2B69C05892E}"/>
              </a:ext>
            </a:extLst>
          </p:cNvPr>
          <p:cNvSpPr txBox="1"/>
          <p:nvPr/>
        </p:nvSpPr>
        <p:spPr>
          <a:xfrm>
            <a:off x="612648" y="457200"/>
            <a:ext cx="10972800" cy="822960"/>
          </a:xfrm>
          <a:prstGeom prst="rect">
            <a:avLst/>
          </a:prstGeom>
          <a:noFill/>
        </p:spPr>
        <p:txBody>
          <a:bodyPr wrap="square" lIns="0" tIns="0" rIns="0" bIns="0" anchor="b">
            <a:noAutofit/>
          </a:bodyPr>
          <a:lstStyle/>
          <a:p>
            <a:pPr marL="329184">
              <a:lnSpc>
                <a:spcPct val="108000"/>
              </a:lnSpc>
              <a:spcAft>
                <a:spcPts val="600"/>
              </a:spcAft>
              <a:buClr>
                <a:srgbClr val="F0C9A0"/>
              </a:buClr>
              <a:buSzPct val="90000"/>
            </a:pPr>
            <a:r>
              <a:rPr lang="en-US" sz="3600" b="1" dirty="0">
                <a:solidFill>
                  <a:srgbClr val="ECE7F0"/>
                </a:solidFill>
                <a:latin typeface="Iowan Old Style"/>
              </a:rPr>
              <a:t>High Level intuition: Attention to Alignment</a:t>
            </a:r>
          </a:p>
        </p:txBody>
      </p:sp>
      <p:sp>
        <p:nvSpPr>
          <p:cNvPr id="3" name="Rectangle 2">
            <a:extLst>
              <a:ext uri="{FF2B5EF4-FFF2-40B4-BE49-F238E27FC236}">
                <a16:creationId xmlns:a16="http://schemas.microsoft.com/office/drawing/2014/main" id="{3BAF7CBA-781B-C693-DA68-2D9E9D44A781}"/>
              </a:ext>
            </a:extLst>
          </p:cNvPr>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38665B7-A2C0-BBF5-C3D7-1B8555FEE07E}"/>
              </a:ext>
            </a:extLst>
          </p:cNvPr>
          <p:cNvSpPr txBox="1"/>
          <p:nvPr/>
        </p:nvSpPr>
        <p:spPr>
          <a:xfrm>
            <a:off x="612648" y="1664207"/>
            <a:ext cx="10972800" cy="4736593"/>
          </a:xfrm>
          <a:prstGeom prst="rect">
            <a:avLst/>
          </a:prstGeom>
          <a:noFill/>
        </p:spPr>
        <p:txBody>
          <a:bodyPr wrap="square" lIns="0" tIns="0" rIns="0" bIns="0" anchor="t">
            <a:noAutofit/>
          </a:bodyPr>
          <a:lstStyle/>
          <a:p>
            <a:pPr marL="672084" indent="-342900">
              <a:lnSpc>
                <a:spcPct val="108000"/>
              </a:lnSpc>
              <a:spcAft>
                <a:spcPts val="600"/>
              </a:spcAft>
              <a:buClr>
                <a:srgbClr val="F0C9A0"/>
              </a:buClr>
              <a:buSzPct val="90000"/>
              <a:buFont typeface="Arial" panose="020B0604020202020204" pitchFamily="34" charset="0"/>
              <a:buChar char="•"/>
            </a:pPr>
            <a:r>
              <a:rPr lang="en-US" sz="2400" dirty="0">
                <a:solidFill>
                  <a:srgbClr val="ECE7F0"/>
                </a:solidFill>
                <a:latin typeface="Iowan Old Style"/>
              </a:rPr>
              <a:t>the process of </a:t>
            </a:r>
            <a:r>
              <a:rPr lang="en-US" sz="2400" b="1" dirty="0">
                <a:solidFill>
                  <a:srgbClr val="ECE7F0"/>
                </a:solidFill>
                <a:latin typeface="Iowan Old Style"/>
              </a:rPr>
              <a:t>Attention </a:t>
            </a:r>
            <a:r>
              <a:rPr lang="en-US" sz="2400" dirty="0">
                <a:solidFill>
                  <a:srgbClr val="ECE7F0"/>
                </a:solidFill>
                <a:latin typeface="Iowan Old Style"/>
              </a:rPr>
              <a:t>produces a </a:t>
            </a:r>
            <a:r>
              <a:rPr lang="en-US" sz="2400" b="1" dirty="0">
                <a:solidFill>
                  <a:srgbClr val="ECE7F0"/>
                </a:solidFill>
                <a:latin typeface="Iowan Old Style"/>
              </a:rPr>
              <a:t>model</a:t>
            </a:r>
            <a:r>
              <a:rPr lang="en-US" sz="2400" dirty="0">
                <a:solidFill>
                  <a:srgbClr val="ECE7F0"/>
                </a:solidFill>
                <a:latin typeface="Iowan Old Style"/>
              </a:rPr>
              <a:t> – a particular </a:t>
            </a:r>
            <a:r>
              <a:rPr lang="en-US" sz="2400" i="1" dirty="0">
                <a:solidFill>
                  <a:srgbClr val="ECE7F0"/>
                </a:solidFill>
                <a:latin typeface="Iowan Old Style"/>
              </a:rPr>
              <a:t>geometry of meaning</a:t>
            </a:r>
            <a:r>
              <a:rPr lang="en-US" sz="2400" dirty="0">
                <a:solidFill>
                  <a:srgbClr val="ECE7F0"/>
                </a:solidFill>
                <a:latin typeface="Iowan Old Style"/>
              </a:rPr>
              <a:t> (think also: Hegel’s shape of consciousness)</a:t>
            </a:r>
          </a:p>
          <a:p>
            <a:pPr marL="1129284" lvl="1" indent="-342900">
              <a:lnSpc>
                <a:spcPct val="108000"/>
              </a:lnSpc>
              <a:spcAft>
                <a:spcPts val="600"/>
              </a:spcAft>
              <a:buClr>
                <a:srgbClr val="F0C9A0"/>
              </a:buClr>
              <a:buSzPct val="90000"/>
              <a:buFont typeface="Arial" panose="020B0604020202020204" pitchFamily="34" charset="0"/>
              <a:buChar char="•"/>
            </a:pPr>
            <a:r>
              <a:rPr lang="en-US" sz="2400" dirty="0">
                <a:solidFill>
                  <a:srgbClr val="ECE7F0"/>
                </a:solidFill>
                <a:latin typeface="Iowan Old Style"/>
              </a:rPr>
              <a:t>“Cat” – has a trained relationship to other tokens (“the”, “sat”, “mat” etc.)</a:t>
            </a:r>
          </a:p>
          <a:p>
            <a:pPr marL="672084" indent="-342900">
              <a:lnSpc>
                <a:spcPct val="108000"/>
              </a:lnSpc>
              <a:spcAft>
                <a:spcPts val="600"/>
              </a:spcAft>
              <a:buClr>
                <a:srgbClr val="F0C9A0"/>
              </a:buClr>
              <a:buSzPct val="90000"/>
              <a:buFont typeface="Arial" panose="020B0604020202020204" pitchFamily="34" charset="0"/>
              <a:buChar char="•"/>
            </a:pPr>
            <a:r>
              <a:rPr lang="en-US" sz="2400" dirty="0">
                <a:solidFill>
                  <a:srgbClr val="ECE7F0"/>
                </a:solidFill>
                <a:latin typeface="Iowan Old Style"/>
              </a:rPr>
              <a:t>But what if we were adverse to rhyming? We would want to modify this geometry</a:t>
            </a:r>
          </a:p>
          <a:p>
            <a:pPr marL="1129284" lvl="1" indent="-342900">
              <a:lnSpc>
                <a:spcPct val="108000"/>
              </a:lnSpc>
              <a:spcAft>
                <a:spcPts val="600"/>
              </a:spcAft>
              <a:buClr>
                <a:srgbClr val="F0C9A0"/>
              </a:buClr>
              <a:buSzPct val="90000"/>
              <a:buFont typeface="Arial" panose="020B0604020202020204" pitchFamily="34" charset="0"/>
              <a:buChar char="•"/>
            </a:pPr>
            <a:r>
              <a:rPr lang="en-US" sz="2400" dirty="0">
                <a:solidFill>
                  <a:srgbClr val="ECE7F0"/>
                </a:solidFill>
                <a:latin typeface="Iowan Old Style"/>
              </a:rPr>
              <a:t>“Cat” is related more to “lay”, “sprawled”, “rolled” (than “sat”) and “rug”, “carpet” (than “mat”)</a:t>
            </a:r>
          </a:p>
          <a:p>
            <a:pPr marL="672084" indent="-342900">
              <a:lnSpc>
                <a:spcPct val="108000"/>
              </a:lnSpc>
              <a:spcAft>
                <a:spcPts val="600"/>
              </a:spcAft>
              <a:buClr>
                <a:srgbClr val="F0C9A0"/>
              </a:buClr>
              <a:buSzPct val="90000"/>
              <a:buFont typeface="Arial" panose="020B0604020202020204" pitchFamily="34" charset="0"/>
              <a:buChar char="•"/>
            </a:pPr>
            <a:r>
              <a:rPr lang="en-US" sz="2200" dirty="0">
                <a:solidFill>
                  <a:srgbClr val="ECE7F0"/>
                </a:solidFill>
                <a:latin typeface="Iowan Old Style"/>
              </a:rPr>
              <a:t>But these modifications need to be very subtle – we don’t want to lose many other associations</a:t>
            </a:r>
          </a:p>
        </p:txBody>
      </p:sp>
      <p:sp>
        <p:nvSpPr>
          <p:cNvPr id="5" name="TextBox 4">
            <a:extLst>
              <a:ext uri="{FF2B5EF4-FFF2-40B4-BE49-F238E27FC236}">
                <a16:creationId xmlns:a16="http://schemas.microsoft.com/office/drawing/2014/main" id="{132065E5-A380-EB3A-2F65-9A93886CA6E0}"/>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5</a:t>
            </a:r>
          </a:p>
        </p:txBody>
      </p:sp>
    </p:spTree>
    <p:extLst>
      <p:ext uri="{BB962C8B-B14F-4D97-AF65-F5344CB8AC3E}">
        <p14:creationId xmlns:p14="http://schemas.microsoft.com/office/powerpoint/2010/main" val="2354653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lang="en-US" sz="3300" b="0" i="0" dirty="0">
                <a:solidFill>
                  <a:srgbClr val="ECE7F0"/>
                </a:solidFill>
                <a:latin typeface="Iowan Old Style"/>
              </a:rPr>
              <a:t>Andrej </a:t>
            </a:r>
            <a:r>
              <a:rPr lang="en-US" sz="3300" b="0" i="0" dirty="0" err="1">
                <a:solidFill>
                  <a:srgbClr val="ECE7F0"/>
                </a:solidFill>
                <a:latin typeface="Iowan Old Style"/>
              </a:rPr>
              <a:t>Karpathy</a:t>
            </a:r>
            <a:r>
              <a:rPr lang="en-US" sz="3300" b="0" i="0" dirty="0">
                <a:solidFill>
                  <a:srgbClr val="ECE7F0"/>
                </a:solidFill>
                <a:latin typeface="Iowan Old Style"/>
              </a:rPr>
              <a:t> (now at Anthropic)</a:t>
            </a:r>
            <a:endParaRPr sz="3300" b="0" i="0" dirty="0">
              <a:solidFill>
                <a:srgbClr val="ECE7F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323088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Excellent deep dives on Machine Learning</a:t>
            </a:r>
          </a:p>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Discusses </a:t>
            </a:r>
            <a:r>
              <a:rPr lang="en-US" sz="2400" b="1" dirty="0">
                <a:solidFill>
                  <a:srgbClr val="ECE7F0"/>
                </a:solidFill>
                <a:latin typeface="Iowan Old Style"/>
              </a:rPr>
              <a:t>Reinforcement Learning </a:t>
            </a:r>
            <a:r>
              <a:rPr lang="en-US" sz="2400" dirty="0">
                <a:solidFill>
                  <a:srgbClr val="ECE7F0"/>
                </a:solidFill>
                <a:latin typeface="Iowan Old Style"/>
              </a:rPr>
              <a:t>briefly at 1:48</a:t>
            </a:r>
            <a:endParaRPr lang="en-US" sz="24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https://</a:t>
            </a:r>
            <a:r>
              <a:rPr lang="en-US" sz="2400" dirty="0" err="1">
                <a:solidFill>
                  <a:srgbClr val="ECE7F0"/>
                </a:solidFill>
                <a:latin typeface="Iowan Old Style"/>
              </a:rPr>
              <a:t>www.youtube.com</a:t>
            </a:r>
            <a:r>
              <a:rPr lang="en-US" sz="2400" dirty="0">
                <a:solidFill>
                  <a:srgbClr val="ECE7F0"/>
                </a:solidFill>
                <a:latin typeface="Iowan Old Style"/>
              </a:rPr>
              <a:t>/</a:t>
            </a:r>
            <a:r>
              <a:rPr lang="en-US" sz="2400" dirty="0" err="1">
                <a:solidFill>
                  <a:srgbClr val="ECE7F0"/>
                </a:solidFill>
                <a:latin typeface="Iowan Old Style"/>
              </a:rPr>
              <a:t>watch?v</a:t>
            </a:r>
            <a:r>
              <a:rPr lang="en-US" sz="2400" dirty="0">
                <a:solidFill>
                  <a:srgbClr val="ECE7F0"/>
                </a:solidFill>
                <a:latin typeface="Iowan Old Style"/>
              </a:rPr>
              <a:t>=Ts9151A9X94</a:t>
            </a:r>
            <a:endParaRPr sz="2400" b="0" i="0" dirty="0">
              <a:solidFill>
                <a:srgbClr val="ECE7F0"/>
              </a:solidFill>
              <a:latin typeface="Iowan Old Style"/>
            </a:endParaRPr>
          </a:p>
        </p:txBody>
      </p:sp>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4</a:t>
            </a:r>
          </a:p>
        </p:txBody>
      </p:sp>
      <p:pic>
        <p:nvPicPr>
          <p:cNvPr id="7" name="Picture 6">
            <a:extLst>
              <a:ext uri="{FF2B5EF4-FFF2-40B4-BE49-F238E27FC236}">
                <a16:creationId xmlns:a16="http://schemas.microsoft.com/office/drawing/2014/main" id="{17CC8B58-80F8-FD4F-9263-5DDA09C4FEEC}"/>
              </a:ext>
            </a:extLst>
          </p:cNvPr>
          <p:cNvPicPr>
            <a:picLocks noChangeAspect="1"/>
          </p:cNvPicPr>
          <p:nvPr/>
        </p:nvPicPr>
        <p:blipFill>
          <a:blip r:embed="rId3"/>
          <a:stretch>
            <a:fillRect/>
          </a:stretch>
        </p:blipFill>
        <p:spPr>
          <a:xfrm>
            <a:off x="7670750" y="2324746"/>
            <a:ext cx="4217740" cy="2348966"/>
          </a:xfrm>
          <a:prstGeom prst="rect">
            <a:avLst/>
          </a:prstGeom>
        </p:spPr>
      </p:pic>
    </p:spTree>
    <p:extLst>
      <p:ext uri="{BB962C8B-B14F-4D97-AF65-F5344CB8AC3E}">
        <p14:creationId xmlns:p14="http://schemas.microsoft.com/office/powerpoint/2010/main" val="2688467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09B19-BBEC-7995-D024-080B6E7B0F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2873FA-CC84-B6D2-0501-1800EE5C69B4}"/>
              </a:ext>
            </a:extLst>
          </p:cNvPr>
          <p:cNvSpPr txBox="1"/>
          <p:nvPr/>
        </p:nvSpPr>
        <p:spPr>
          <a:xfrm>
            <a:off x="612648" y="457200"/>
            <a:ext cx="10972800" cy="1097280"/>
          </a:xfrm>
          <a:prstGeom prst="rect">
            <a:avLst/>
          </a:prstGeom>
          <a:noFill/>
        </p:spPr>
        <p:txBody>
          <a:bodyPr wrap="square" lIns="0" tIns="0" rIns="0" bIns="0" anchor="b">
            <a:noAutofit/>
          </a:bodyPr>
          <a:lstStyle/>
          <a:p>
            <a:r>
              <a:rPr sz="3300" b="0" i="0">
                <a:solidFill>
                  <a:srgbClr val="ECE7F0"/>
                </a:solidFill>
                <a:latin typeface="Iowan Old Style"/>
              </a:rPr>
              <a:t>Mechanical Behaviouralism? Human Learning Models in Machine Design</a:t>
            </a:r>
          </a:p>
        </p:txBody>
      </p:sp>
      <p:sp>
        <p:nvSpPr>
          <p:cNvPr id="3" name="Rectangle 2">
            <a:extLst>
              <a:ext uri="{FF2B5EF4-FFF2-40B4-BE49-F238E27FC236}">
                <a16:creationId xmlns:a16="http://schemas.microsoft.com/office/drawing/2014/main" id="{05A60913-BCAD-3ADC-9E60-F662694FD801}"/>
              </a:ext>
            </a:extLst>
          </p:cNvPr>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322F452-DE7F-0BA4-9745-736F9D8B1CE1}"/>
              </a:ext>
            </a:extLst>
          </p:cNvPr>
          <p:cNvSpPr txBox="1"/>
          <p:nvPr/>
        </p:nvSpPr>
        <p:spPr>
          <a:xfrm>
            <a:off x="612648" y="1938528"/>
            <a:ext cx="10972800" cy="461772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Reward models emulate </a:t>
            </a:r>
            <a:r>
              <a:rPr sz="2400" b="1" i="0" dirty="0">
                <a:solidFill>
                  <a:srgbClr val="ECE7F0"/>
                </a:solidFill>
                <a:latin typeface="Iowan Old Style"/>
              </a:rPr>
              <a:t>Skinnerian behaviorism</a:t>
            </a:r>
            <a:r>
              <a:rPr sz="2400" b="0" i="0" dirty="0">
                <a:solidFill>
                  <a:srgbClr val="ECE7F0"/>
                </a:solidFill>
                <a:latin typeface="Iowan Old Style"/>
              </a:rPr>
              <a:t> – automating teaching via positive reinforcement.</a:t>
            </a:r>
            <a:endParaRPr lang="en-US" sz="24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ML: </a:t>
            </a:r>
            <a:r>
              <a:rPr lang="en-US" sz="2400" b="1" dirty="0">
                <a:solidFill>
                  <a:srgbClr val="ECE7F0"/>
                </a:solidFill>
                <a:latin typeface="Iowan Old Style"/>
              </a:rPr>
              <a:t>borrowing theories</a:t>
            </a:r>
            <a:r>
              <a:rPr lang="en-US" sz="2400" dirty="0">
                <a:solidFill>
                  <a:srgbClr val="ECE7F0"/>
                </a:solidFill>
                <a:latin typeface="Iowan Old Style"/>
              </a:rPr>
              <a:t> from neuroscience, psychology, philosophy, and sociology.</a:t>
            </a:r>
          </a:p>
          <a:p>
            <a:pPr marL="731520" lvl="1" indent="-219456">
              <a:lnSpc>
                <a:spcPct val="108000"/>
              </a:lnSpc>
              <a:spcAft>
                <a:spcPts val="600"/>
              </a:spcAft>
              <a:buClr>
                <a:srgbClr val="F0C9A0"/>
              </a:buClr>
              <a:buSzPct val="90000"/>
              <a:buFont typeface="Arial"/>
              <a:buChar char="•"/>
            </a:pPr>
            <a:r>
              <a:rPr lang="en-US" sz="2400" dirty="0">
                <a:solidFill>
                  <a:srgbClr val="ECE7F0"/>
                </a:solidFill>
                <a:latin typeface="Iowan Old Style"/>
              </a:rPr>
              <a:t>Aside: This reverses the usual expectation: that the humanities and social sciences follow the natural sciences</a:t>
            </a:r>
            <a:endParaRPr sz="24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ML architectures: Also mirror Hegel’s </a:t>
            </a:r>
            <a:r>
              <a:rPr sz="2400" b="1" i="0" dirty="0">
                <a:solidFill>
                  <a:srgbClr val="ECE7F0"/>
                </a:solidFill>
                <a:latin typeface="Iowan Old Style"/>
              </a:rPr>
              <a:t>master/servant dialectic</a:t>
            </a:r>
            <a:r>
              <a:rPr sz="2400" b="0" i="0" dirty="0">
                <a:solidFill>
                  <a:srgbClr val="ECE7F0"/>
                </a:solidFill>
                <a:latin typeface="Iowan Old Style"/>
              </a:rPr>
              <a:t>? ChatGPT trained to behave like a ‘customer assistant’ (Ouyang et al. 2022)</a:t>
            </a:r>
            <a:endParaRPr lang="en-US" sz="2400" b="0" i="0" dirty="0">
              <a:solidFill>
                <a:srgbClr val="ECE7F0"/>
              </a:solidFill>
              <a:latin typeface="Iowan Old Style"/>
            </a:endParaRPr>
          </a:p>
          <a:p>
            <a:pPr marL="731520" lvl="1" indent="-219456">
              <a:lnSpc>
                <a:spcPct val="108000"/>
              </a:lnSpc>
              <a:spcAft>
                <a:spcPts val="600"/>
              </a:spcAft>
              <a:buClr>
                <a:srgbClr val="F0C9A0"/>
              </a:buClr>
              <a:buSzPct val="90000"/>
              <a:buFont typeface="Arial"/>
              <a:buChar char="•"/>
            </a:pPr>
            <a:r>
              <a:rPr lang="en-US" sz="2400" b="1" dirty="0">
                <a:solidFill>
                  <a:srgbClr val="ECE7F0"/>
                </a:solidFill>
                <a:latin typeface="Iowan Old Style"/>
              </a:rPr>
              <a:t>Discuss</a:t>
            </a:r>
            <a:r>
              <a:rPr lang="en-US" sz="2400" dirty="0">
                <a:solidFill>
                  <a:srgbClr val="ECE7F0"/>
                </a:solidFill>
                <a:latin typeface="Iowan Old Style"/>
              </a:rPr>
              <a:t>: here we are not only talking about machines imitating human learning, </a:t>
            </a:r>
            <a:r>
              <a:rPr lang="en-US" sz="2400" dirty="0" err="1">
                <a:solidFill>
                  <a:srgbClr val="ECE7F0"/>
                </a:solidFill>
                <a:latin typeface="Iowan Old Style"/>
              </a:rPr>
              <a:t>cognitition</a:t>
            </a:r>
            <a:r>
              <a:rPr lang="en-US" sz="2400" dirty="0">
                <a:solidFill>
                  <a:srgbClr val="ECE7F0"/>
                </a:solidFill>
                <a:latin typeface="Iowan Old Style"/>
              </a:rPr>
              <a:t>, intelligence – in the pursuit of alignment, they are imitating </a:t>
            </a:r>
            <a:r>
              <a:rPr lang="en-US" sz="2400" b="1" dirty="0">
                <a:solidFill>
                  <a:srgbClr val="ECE7F0"/>
                </a:solidFill>
                <a:latin typeface="Iowan Old Style"/>
              </a:rPr>
              <a:t>jobs </a:t>
            </a:r>
            <a:r>
              <a:rPr lang="en-US" sz="2400" dirty="0">
                <a:solidFill>
                  <a:srgbClr val="ECE7F0"/>
                </a:solidFill>
                <a:latin typeface="Iowan Old Style"/>
              </a:rPr>
              <a:t>and </a:t>
            </a:r>
            <a:r>
              <a:rPr lang="en-US" sz="2400" b="1" dirty="0">
                <a:solidFill>
                  <a:srgbClr val="ECE7F0"/>
                </a:solidFill>
                <a:latin typeface="Iowan Old Style"/>
              </a:rPr>
              <a:t>roles</a:t>
            </a:r>
            <a:r>
              <a:rPr lang="en-US" sz="2400" dirty="0">
                <a:solidFill>
                  <a:srgbClr val="ECE7F0"/>
                </a:solidFill>
                <a:latin typeface="Iowan Old Style"/>
              </a:rPr>
              <a:t>. Is customer assistance the only role we can conceivably imagine for an aligned machine?</a:t>
            </a:r>
            <a:endParaRPr sz="2400" b="0" i="0" dirty="0">
              <a:solidFill>
                <a:srgbClr val="ECE7F0"/>
              </a:solidFill>
              <a:latin typeface="Iowan Old Style"/>
            </a:endParaRPr>
          </a:p>
        </p:txBody>
      </p:sp>
      <p:sp>
        <p:nvSpPr>
          <p:cNvPr id="5" name="TextBox 4">
            <a:extLst>
              <a:ext uri="{FF2B5EF4-FFF2-40B4-BE49-F238E27FC236}">
                <a16:creationId xmlns:a16="http://schemas.microsoft.com/office/drawing/2014/main" id="{BDE679F0-7A51-91BB-95A3-21FBD519A5ED}"/>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11</a:t>
            </a:r>
          </a:p>
        </p:txBody>
      </p:sp>
    </p:spTree>
    <p:extLst>
      <p:ext uri="{BB962C8B-B14F-4D97-AF65-F5344CB8AC3E}">
        <p14:creationId xmlns:p14="http://schemas.microsoft.com/office/powerpoint/2010/main" val="3334447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Alignmen</a:t>
            </a:r>
            <a:r>
              <a:rPr lang="en-US" sz="3300" b="0" i="0" dirty="0">
                <a:solidFill>
                  <a:srgbClr val="ECE7F0"/>
                </a:solidFill>
                <a:latin typeface="Iowan Old Style"/>
              </a:rPr>
              <a:t>t at the Level of Ideology: What are “Human Values”?</a:t>
            </a:r>
            <a:endParaRPr sz="3300" b="0" i="0" dirty="0">
              <a:solidFill>
                <a:srgbClr val="ECE7F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6"/>
            <a:ext cx="6051623" cy="4919473"/>
          </a:xfrm>
          <a:prstGeom prst="rect">
            <a:avLst/>
          </a:prstGeom>
          <a:noFill/>
        </p:spPr>
        <p:txBody>
          <a:bodyPr wrap="square" lIns="0" tIns="0" rIns="0" bIns="0" anchor="t">
            <a:noAutofit/>
          </a:bodyPr>
          <a:lstStyle/>
          <a:p>
            <a:pPr>
              <a:lnSpc>
                <a:spcPct val="108000"/>
              </a:lnSpc>
              <a:spcAft>
                <a:spcPts val="600"/>
              </a:spcAft>
            </a:pPr>
            <a:r>
              <a:rPr lang="en-US" sz="2400" dirty="0">
                <a:latin typeface="Iowan Old Style"/>
              </a:rPr>
              <a:t>Buyl et al. (2024), </a:t>
            </a:r>
            <a:r>
              <a:rPr lang="en-US" sz="2400" dirty="0">
                <a:solidFill>
                  <a:srgbClr val="8FD6C2"/>
                </a:solidFill>
                <a:latin typeface="Iowan Old Style"/>
                <a:hlinkClick r:id="rId3">
                  <a:extLst>
                    <a:ext uri="{A12FA001-AC4F-418D-AE19-62706E023703}">
                      <ahyp:hlinkClr xmlns:ahyp="http://schemas.microsoft.com/office/drawing/2018/hyperlinkcolor" val="tx"/>
                    </a:ext>
                  </a:extLst>
                </a:hlinkClick>
              </a:rPr>
              <a:t>[2410.18417] Large Language Models Reflect the Ideology of their Creators</a:t>
            </a:r>
          </a:p>
          <a:p>
            <a:pPr>
              <a:lnSpc>
                <a:spcPct val="108000"/>
              </a:lnSpc>
              <a:spcAft>
                <a:spcPts val="600"/>
              </a:spcAft>
            </a:pPr>
            <a:endParaRPr lang="en-US" sz="2400" dirty="0">
              <a:solidFill>
                <a:srgbClr val="8FD6C2"/>
              </a:solidFill>
              <a:latin typeface="Iowan Old Style"/>
              <a:hlinkClick r:id="rId3">
                <a:extLst>
                  <a:ext uri="{A12FA001-AC4F-418D-AE19-62706E023703}">
                    <ahyp:hlinkClr xmlns:ahyp="http://schemas.microsoft.com/office/drawing/2018/hyperlinkcolor" val="tx"/>
                  </a:ext>
                </a:extLst>
              </a:hlinkClick>
            </a:endParaRPr>
          </a:p>
          <a:p>
            <a:pPr>
              <a:lnSpc>
                <a:spcPct val="108000"/>
              </a:lnSpc>
              <a:spcAft>
                <a:spcPts val="600"/>
              </a:spcAft>
            </a:pPr>
            <a:r>
              <a:rPr lang="en-US" sz="2400" dirty="0">
                <a:latin typeface="Iowan Old Style"/>
              </a:rPr>
              <a:t>Are there universal values? Who tells us what they are? </a:t>
            </a:r>
          </a:p>
          <a:p>
            <a:pPr>
              <a:lnSpc>
                <a:spcPct val="108000"/>
              </a:lnSpc>
              <a:spcAft>
                <a:spcPts val="600"/>
              </a:spcAft>
            </a:pPr>
            <a:endParaRPr lang="en-US" sz="2400" dirty="0">
              <a:latin typeface="Iowan Old Style"/>
            </a:endParaRPr>
          </a:p>
          <a:p>
            <a:pPr>
              <a:lnSpc>
                <a:spcPct val="108000"/>
              </a:lnSpc>
              <a:spcAft>
                <a:spcPts val="600"/>
              </a:spcAft>
            </a:pPr>
            <a:r>
              <a:rPr lang="en-US" sz="2400" dirty="0">
                <a:latin typeface="Iowan Old Style"/>
              </a:rPr>
              <a:t>Discuss: Amanda Askell</a:t>
            </a:r>
            <a:r>
              <a:rPr lang="en-US" sz="2400" dirty="0">
                <a:latin typeface="Iowan Old Style"/>
                <a:hlinkClick r:id="rId3"/>
              </a:rPr>
              <a:t>’</a:t>
            </a:r>
            <a:r>
              <a:rPr lang="en-US" sz="2400" dirty="0">
                <a:latin typeface="Iowan Old Style"/>
              </a:rPr>
              <a:t>s dilemma: are </a:t>
            </a:r>
            <a:r>
              <a:rPr lang="en-US" sz="2400" i="1" dirty="0">
                <a:latin typeface="Iowan Old Style"/>
              </a:rPr>
              <a:t>uncertain </a:t>
            </a:r>
            <a:r>
              <a:rPr lang="en-US" sz="2400" dirty="0">
                <a:latin typeface="Iowan Old Style"/>
              </a:rPr>
              <a:t>values still a universal condition? (problem of moral relativism)</a:t>
            </a:r>
            <a:endParaRPr sz="2400" b="0" i="0" dirty="0">
              <a:solidFill>
                <a:srgbClr val="8FD6C2"/>
              </a:solidFill>
              <a:latin typeface="Iowan Old Style"/>
              <a:hlinkClick r:id="rId3"/>
            </a:endParaRPr>
          </a:p>
        </p:txBody>
      </p:sp>
      <p:pic>
        <p:nvPicPr>
          <p:cNvPr id="5" name="Picture 4" descr="image.jpg"/>
          <p:cNvPicPr>
            <a:picLocks noChangeAspect="1"/>
          </p:cNvPicPr>
          <p:nvPr/>
        </p:nvPicPr>
        <p:blipFill>
          <a:blip r:embed="rId4"/>
          <a:stretch>
            <a:fillRect/>
          </a:stretch>
        </p:blipFill>
        <p:spPr>
          <a:xfrm>
            <a:off x="6826886" y="2649375"/>
            <a:ext cx="5084026" cy="3934305"/>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13</a:t>
            </a:r>
          </a:p>
        </p:txBody>
      </p:sp>
    </p:spTree>
    <p:extLst>
      <p:ext uri="{BB962C8B-B14F-4D97-AF65-F5344CB8AC3E}">
        <p14:creationId xmlns:p14="http://schemas.microsoft.com/office/powerpoint/2010/main" val="4230350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0"/>
            <a:ext cx="10972800" cy="1097280"/>
          </a:xfrm>
          <a:prstGeom prst="rect">
            <a:avLst/>
          </a:prstGeom>
          <a:noFill/>
        </p:spPr>
        <p:txBody>
          <a:bodyPr wrap="square" lIns="0" tIns="0" rIns="0" bIns="0" anchor="b">
            <a:noAutofit/>
          </a:bodyPr>
          <a:lstStyle/>
          <a:p>
            <a:r>
              <a:rPr lang="en-US" sz="2800" b="0" i="0" dirty="0">
                <a:solidFill>
                  <a:srgbClr val="ECE7F0"/>
                </a:solidFill>
                <a:latin typeface="Iowan Old Style"/>
              </a:rPr>
              <a:t>Norms and Deviance: Computer Science Repeats Social Science</a:t>
            </a:r>
            <a:endParaRPr sz="2800" b="0" i="0" dirty="0">
              <a:solidFill>
                <a:srgbClr val="ECE7F0"/>
              </a:solidFill>
              <a:latin typeface="Iowan Old Style"/>
            </a:endParaRPr>
          </a:p>
        </p:txBody>
      </p:sp>
      <p:sp>
        <p:nvSpPr>
          <p:cNvPr id="3" name="Rectangle 2"/>
          <p:cNvSpPr/>
          <p:nvPr/>
        </p:nvSpPr>
        <p:spPr>
          <a:xfrm>
            <a:off x="609600" y="12070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1481328"/>
            <a:ext cx="10972800" cy="4430268"/>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18</a:t>
            </a:r>
            <a:r>
              <a:rPr lang="en-US" sz="2400" b="0" i="0" baseline="30000" dirty="0">
                <a:solidFill>
                  <a:srgbClr val="ECE7F0"/>
                </a:solidFill>
                <a:latin typeface="Iowan Old Style"/>
              </a:rPr>
              <a:t>th</a:t>
            </a:r>
            <a:r>
              <a:rPr lang="en-US" sz="2400" b="0" i="0" dirty="0">
                <a:solidFill>
                  <a:srgbClr val="ECE7F0"/>
                </a:solidFill>
                <a:latin typeface="Iowan Old Style"/>
              </a:rPr>
              <a:t>-20</a:t>
            </a:r>
            <a:r>
              <a:rPr lang="en-US" sz="2400" b="0" i="0" baseline="30000" dirty="0">
                <a:solidFill>
                  <a:srgbClr val="ECE7F0"/>
                </a:solidFill>
                <a:latin typeface="Iowan Old Style"/>
              </a:rPr>
              <a:t>th</a:t>
            </a:r>
            <a:r>
              <a:rPr lang="en-US" sz="2400" b="0" i="0" dirty="0">
                <a:solidFill>
                  <a:srgbClr val="ECE7F0"/>
                </a:solidFill>
                <a:latin typeface="Iowan Old Style"/>
              </a:rPr>
              <a:t> centuries: rise of the </a:t>
            </a:r>
            <a:r>
              <a:rPr lang="en-US" sz="2400" b="1" i="0" dirty="0">
                <a:solidFill>
                  <a:srgbClr val="ECE7F0"/>
                </a:solidFill>
                <a:latin typeface="Iowan Old Style"/>
              </a:rPr>
              <a:t>institution </a:t>
            </a:r>
            <a:r>
              <a:rPr lang="en-US" sz="2400" b="0" i="0" dirty="0">
                <a:solidFill>
                  <a:srgbClr val="ECE7F0"/>
                </a:solidFill>
                <a:latin typeface="Iowan Old Style"/>
              </a:rPr>
              <a:t>(the school, the prison, the asylum, the clinic)  </a:t>
            </a:r>
          </a:p>
          <a:p>
            <a:pPr marL="731520" lvl="1"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Kafka, </a:t>
            </a:r>
            <a:r>
              <a:rPr lang="en-US" sz="2400" b="0" i="1" dirty="0">
                <a:solidFill>
                  <a:srgbClr val="ECE7F0"/>
                </a:solidFill>
                <a:latin typeface="Iowan Old Style"/>
              </a:rPr>
              <a:t>In the Penal Colony</a:t>
            </a:r>
            <a:r>
              <a:rPr lang="en-US" sz="2400" b="0" i="0" dirty="0">
                <a:solidFill>
                  <a:srgbClr val="ECE7F0"/>
                </a:solidFill>
                <a:latin typeface="Iowan Old Style"/>
              </a:rPr>
              <a:t> (1919)</a:t>
            </a:r>
          </a:p>
          <a:p>
            <a:pPr marL="731520" lvl="1"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Canguilhem, </a:t>
            </a:r>
            <a:r>
              <a:rPr lang="en-US" sz="2400" b="0" i="1" dirty="0">
                <a:solidFill>
                  <a:srgbClr val="ECE7F0"/>
                </a:solidFill>
                <a:latin typeface="Iowan Old Style"/>
              </a:rPr>
              <a:t>The Normal and the Pathological</a:t>
            </a:r>
            <a:r>
              <a:rPr lang="en-US" sz="2400" b="0" i="0" dirty="0">
                <a:solidFill>
                  <a:srgbClr val="ECE7F0"/>
                </a:solidFill>
                <a:latin typeface="Iowan Old Style"/>
              </a:rPr>
              <a:t> (1943)</a:t>
            </a:r>
          </a:p>
          <a:p>
            <a:pPr marL="731520" lvl="1" indent="-219456">
              <a:lnSpc>
                <a:spcPct val="108000"/>
              </a:lnSpc>
              <a:spcAft>
                <a:spcPts val="600"/>
              </a:spcAft>
              <a:buClr>
                <a:srgbClr val="F0C9A0"/>
              </a:buClr>
              <a:buSzPct val="90000"/>
              <a:buFont typeface="Arial"/>
              <a:buChar char="•"/>
            </a:pPr>
            <a:r>
              <a:rPr lang="en-US" sz="2400" dirty="0">
                <a:solidFill>
                  <a:srgbClr val="ECE7F0"/>
                </a:solidFill>
                <a:latin typeface="Iowan Old Style"/>
              </a:rPr>
              <a:t>Fanon: </a:t>
            </a:r>
            <a:r>
              <a:rPr lang="en-US" sz="2400" i="1" dirty="0">
                <a:solidFill>
                  <a:srgbClr val="ECE7F0"/>
                </a:solidFill>
                <a:latin typeface="Iowan Old Style"/>
              </a:rPr>
              <a:t>Black Skin, White Masks</a:t>
            </a:r>
            <a:r>
              <a:rPr lang="en-US" sz="2400" dirty="0">
                <a:solidFill>
                  <a:srgbClr val="ECE7F0"/>
                </a:solidFill>
                <a:latin typeface="Iowan Old Style"/>
              </a:rPr>
              <a:t> (1952); </a:t>
            </a:r>
            <a:r>
              <a:rPr lang="en-US" sz="2400" i="1" dirty="0">
                <a:solidFill>
                  <a:srgbClr val="ECE7F0"/>
                </a:solidFill>
                <a:latin typeface="Iowan Old Style"/>
              </a:rPr>
              <a:t>A Dying Colonialism </a:t>
            </a:r>
            <a:r>
              <a:rPr lang="en-US" sz="2400" dirty="0">
                <a:solidFill>
                  <a:srgbClr val="ECE7F0"/>
                </a:solidFill>
                <a:latin typeface="Iowan Old Style"/>
              </a:rPr>
              <a:t>(1959); </a:t>
            </a:r>
            <a:r>
              <a:rPr lang="en-US" sz="2400" i="1" dirty="0">
                <a:solidFill>
                  <a:srgbClr val="ECE7F0"/>
                </a:solidFill>
                <a:latin typeface="Iowan Old Style"/>
              </a:rPr>
              <a:t>The Wretched of the Earth</a:t>
            </a:r>
            <a:r>
              <a:rPr lang="en-US" sz="2400" b="0" i="0" dirty="0">
                <a:solidFill>
                  <a:srgbClr val="ECE7F0"/>
                </a:solidFill>
                <a:latin typeface="Iowan Old Style"/>
              </a:rPr>
              <a:t> (1961)</a:t>
            </a:r>
          </a:p>
          <a:p>
            <a:pPr marL="731520" lvl="1"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Foucaul</a:t>
            </a:r>
            <a:r>
              <a:rPr lang="en-US" sz="2400" dirty="0">
                <a:solidFill>
                  <a:srgbClr val="ECE7F0"/>
                </a:solidFill>
                <a:latin typeface="Iowan Old Style"/>
              </a:rPr>
              <a:t>t: </a:t>
            </a:r>
            <a:r>
              <a:rPr lang="en-US" sz="2400" i="1" dirty="0">
                <a:solidFill>
                  <a:srgbClr val="ECE7F0"/>
                </a:solidFill>
                <a:latin typeface="Iowan Old Style"/>
              </a:rPr>
              <a:t>Madness and Civilization</a:t>
            </a:r>
            <a:r>
              <a:rPr lang="en-US" sz="2400" b="0" i="0" dirty="0">
                <a:solidFill>
                  <a:srgbClr val="ECE7F0"/>
                </a:solidFill>
                <a:latin typeface="Iowan Old Style"/>
              </a:rPr>
              <a:t> (1961)</a:t>
            </a:r>
            <a:r>
              <a:rPr lang="en-US" sz="2400" dirty="0">
                <a:solidFill>
                  <a:srgbClr val="ECE7F0"/>
                </a:solidFill>
                <a:latin typeface="Iowan Old Style"/>
              </a:rPr>
              <a:t>; </a:t>
            </a:r>
            <a:r>
              <a:rPr lang="en-US" sz="2400" i="1" dirty="0">
                <a:solidFill>
                  <a:srgbClr val="ECE7F0"/>
                </a:solidFill>
                <a:latin typeface="Iowan Old Style"/>
              </a:rPr>
              <a:t>The Birth of the Clinic</a:t>
            </a:r>
            <a:r>
              <a:rPr lang="en-US" sz="2400" b="0" i="0" dirty="0">
                <a:solidFill>
                  <a:srgbClr val="ECE7F0"/>
                </a:solidFill>
                <a:latin typeface="Iowan Old Style"/>
              </a:rPr>
              <a:t> (1963)</a:t>
            </a:r>
            <a:r>
              <a:rPr lang="en-US" sz="2400" dirty="0">
                <a:solidFill>
                  <a:srgbClr val="ECE7F0"/>
                </a:solidFill>
                <a:latin typeface="Iowan Old Style"/>
              </a:rPr>
              <a:t>; </a:t>
            </a:r>
            <a:r>
              <a:rPr lang="en-US" sz="2400" i="1" dirty="0">
                <a:solidFill>
                  <a:srgbClr val="ECE7F0"/>
                </a:solidFill>
                <a:latin typeface="Iowan Old Style"/>
              </a:rPr>
              <a:t>Discipline and Punish</a:t>
            </a:r>
            <a:r>
              <a:rPr lang="en-US" sz="2400" b="0" i="0" dirty="0">
                <a:solidFill>
                  <a:srgbClr val="ECE7F0"/>
                </a:solidFill>
                <a:latin typeface="Iowan Old Style"/>
              </a:rPr>
              <a:t> (1975)</a:t>
            </a:r>
          </a:p>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Anti-Hegel? The institutions of modernity </a:t>
            </a:r>
            <a:r>
              <a:rPr lang="en-US" sz="2400" b="1" i="0" dirty="0">
                <a:solidFill>
                  <a:srgbClr val="ECE7F0"/>
                </a:solidFill>
                <a:latin typeface="Iowan Old Style"/>
              </a:rPr>
              <a:t>reproduce inequality. </a:t>
            </a:r>
            <a:r>
              <a:rPr lang="en-US" sz="2400" i="0" dirty="0">
                <a:solidFill>
                  <a:srgbClr val="ECE7F0"/>
                </a:solidFill>
                <a:latin typeface="Iowan Old Style"/>
              </a:rPr>
              <a:t>Both Fanon and Foucault hav</a:t>
            </a:r>
            <a:r>
              <a:rPr lang="en-US" sz="2400" dirty="0">
                <a:solidFill>
                  <a:srgbClr val="ECE7F0"/>
                </a:solidFill>
                <a:latin typeface="Iowan Old Style"/>
              </a:rPr>
              <a:t>e argued this – in short, don’t wait for equality to happen magically</a:t>
            </a:r>
            <a:endParaRPr lang="en-US" sz="240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lang="en-US" sz="2400" b="1" dirty="0">
                <a:solidFill>
                  <a:srgbClr val="ECE7F0"/>
                </a:solidFill>
                <a:latin typeface="Iowan Old Style"/>
              </a:rPr>
              <a:t>How? What techniques does the institution use to produce conformity?</a:t>
            </a:r>
            <a:endParaRPr sz="2400" b="1" i="0" dirty="0">
              <a:solidFill>
                <a:srgbClr val="ECE7F0"/>
              </a:solidFill>
              <a:latin typeface="Iowan Old Style"/>
            </a:endParaRPr>
          </a:p>
        </p:txBody>
      </p:sp>
      <p:sp>
        <p:nvSpPr>
          <p:cNvPr id="5" name="TextBox 4"/>
          <p:cNvSpPr txBox="1"/>
          <p:nvPr/>
        </p:nvSpPr>
        <p:spPr>
          <a:xfrm>
            <a:off x="10661599" y="59893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11</a:t>
            </a:r>
          </a:p>
        </p:txBody>
      </p:sp>
    </p:spTree>
    <p:extLst>
      <p:ext uri="{BB962C8B-B14F-4D97-AF65-F5344CB8AC3E}">
        <p14:creationId xmlns:p14="http://schemas.microsoft.com/office/powerpoint/2010/main" val="1092228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Automating Inequality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4254500" cy="4356886"/>
          </a:xfrm>
          <a:prstGeom prst="rect">
            <a:avLst/>
          </a:prstGeom>
          <a:noFill/>
        </p:spPr>
        <p:txBody>
          <a:bodyPr wrap="square" lIns="0" tIns="0" rIns="0" bIns="0" anchor="t">
            <a:noAutofit/>
          </a:bodyPr>
          <a:lstStyle/>
          <a:p>
            <a:pPr marL="0" indent="0">
              <a:lnSpc>
                <a:spcPct val="108000"/>
              </a:lnSpc>
              <a:spcAft>
                <a:spcPts val="600"/>
              </a:spcAft>
              <a:buNone/>
            </a:pPr>
            <a:r>
              <a:rPr sz="2400" b="0" i="0" dirty="0">
                <a:solidFill>
                  <a:srgbClr val="ECE7F0"/>
                </a:solidFill>
                <a:latin typeface="Iowan Old Style"/>
              </a:rPr>
              <a:t>Even before LLMs, scholars had been writing about the dangers of algorithms applying </a:t>
            </a:r>
            <a:r>
              <a:rPr sz="2400" b="1" i="0" dirty="0">
                <a:solidFill>
                  <a:srgbClr val="ECE7F0"/>
                </a:solidFill>
                <a:latin typeface="Iowan Old Style"/>
              </a:rPr>
              <a:t>norms</a:t>
            </a:r>
            <a:r>
              <a:rPr sz="2400" b="0" i="0" dirty="0">
                <a:solidFill>
                  <a:srgbClr val="ECE7F0"/>
                </a:solidFill>
                <a:latin typeface="Iowan Old Style"/>
              </a:rPr>
              <a:t> to decision making.</a:t>
            </a:r>
          </a:p>
          <a:p>
            <a:pPr marL="0" indent="0">
              <a:lnSpc>
                <a:spcPct val="108000"/>
              </a:lnSpc>
              <a:spcBef>
                <a:spcPts val="1800"/>
              </a:spcBef>
              <a:spcAft>
                <a:spcPts val="200"/>
              </a:spcAft>
              <a:buNone/>
            </a:pPr>
            <a:r>
              <a:rPr lang="en-US" sz="1600" b="0" i="0" dirty="0">
                <a:solidFill>
                  <a:srgbClr val="ECE7F0"/>
                </a:solidFill>
                <a:latin typeface="Iowan Old Style"/>
              </a:rPr>
              <a:t>Noble, </a:t>
            </a:r>
            <a:r>
              <a:rPr lang="en-US" sz="1600" b="0" i="1" dirty="0">
                <a:solidFill>
                  <a:srgbClr val="ECE7F0"/>
                </a:solidFill>
                <a:latin typeface="Iowan Old Style"/>
              </a:rPr>
              <a:t>Algorithms of Oppression</a:t>
            </a:r>
            <a:r>
              <a:rPr lang="en-US" sz="1600" b="0" i="0" dirty="0">
                <a:solidFill>
                  <a:srgbClr val="ECE7F0"/>
                </a:solidFill>
                <a:latin typeface="Iowan Old Style"/>
              </a:rPr>
              <a:t> (2018)</a:t>
            </a:r>
          </a:p>
          <a:p>
            <a:pPr marL="0" indent="0">
              <a:lnSpc>
                <a:spcPct val="108000"/>
              </a:lnSpc>
              <a:spcBef>
                <a:spcPts val="0"/>
              </a:spcBef>
              <a:spcAft>
                <a:spcPts val="200"/>
              </a:spcAft>
              <a:buNone/>
            </a:pPr>
            <a:r>
              <a:rPr lang="en-US" sz="1600" b="0" i="0" dirty="0">
                <a:solidFill>
                  <a:srgbClr val="ECE7F0"/>
                </a:solidFill>
                <a:latin typeface="Iowan Old Style"/>
              </a:rPr>
              <a:t>Eubanks, </a:t>
            </a:r>
            <a:r>
              <a:rPr lang="en-US" sz="1600" b="0" i="1" dirty="0">
                <a:solidFill>
                  <a:srgbClr val="ECE7F0"/>
                </a:solidFill>
                <a:latin typeface="Iowan Old Style"/>
              </a:rPr>
              <a:t>Automating Inequality</a:t>
            </a:r>
            <a:r>
              <a:rPr lang="en-US" sz="1600" b="0" i="0" dirty="0">
                <a:solidFill>
                  <a:srgbClr val="ECE7F0"/>
                </a:solidFill>
                <a:latin typeface="Iowan Old Style"/>
              </a:rPr>
              <a:t> (2018)</a:t>
            </a:r>
          </a:p>
          <a:p>
            <a:pPr marL="0" indent="0">
              <a:lnSpc>
                <a:spcPct val="108000"/>
              </a:lnSpc>
              <a:spcBef>
                <a:spcPts val="0"/>
              </a:spcBef>
              <a:spcAft>
                <a:spcPts val="200"/>
              </a:spcAft>
              <a:buNone/>
            </a:pPr>
            <a:r>
              <a:rPr lang="en-US" sz="1600" b="0" i="0" dirty="0">
                <a:solidFill>
                  <a:srgbClr val="ECE7F0"/>
                </a:solidFill>
                <a:latin typeface="Iowan Old Style"/>
              </a:rPr>
              <a:t>Benjamin, </a:t>
            </a:r>
            <a:r>
              <a:rPr lang="en-US" sz="1600" b="0" i="1" dirty="0">
                <a:solidFill>
                  <a:srgbClr val="ECE7F0"/>
                </a:solidFill>
                <a:latin typeface="Iowan Old Style"/>
              </a:rPr>
              <a:t>Race After Technology</a:t>
            </a:r>
            <a:r>
              <a:rPr lang="en-US" sz="1600" b="0" i="0" dirty="0">
                <a:solidFill>
                  <a:srgbClr val="ECE7F0"/>
                </a:solidFill>
                <a:latin typeface="Iowan Old Style"/>
              </a:rPr>
              <a:t> (2019)</a:t>
            </a:r>
          </a:p>
          <a:p>
            <a:pPr marL="0" indent="0">
              <a:lnSpc>
                <a:spcPct val="108000"/>
              </a:lnSpc>
              <a:spcBef>
                <a:spcPts val="0"/>
              </a:spcBef>
              <a:spcAft>
                <a:spcPts val="200"/>
              </a:spcAft>
              <a:buNone/>
            </a:pPr>
            <a:r>
              <a:rPr lang="en-US" sz="1600" b="0" i="0" dirty="0">
                <a:solidFill>
                  <a:srgbClr val="ECE7F0"/>
                </a:solidFill>
                <a:latin typeface="Iowan Old Style"/>
              </a:rPr>
              <a:t>Crawford, </a:t>
            </a:r>
            <a:r>
              <a:rPr lang="en-US" sz="1600" b="0" i="1" dirty="0">
                <a:solidFill>
                  <a:srgbClr val="ECE7F0"/>
                </a:solidFill>
                <a:latin typeface="Iowan Old Style"/>
              </a:rPr>
              <a:t>Atlas of AI</a:t>
            </a:r>
            <a:r>
              <a:rPr lang="en-US" sz="1600" b="0" i="0" dirty="0">
                <a:solidFill>
                  <a:srgbClr val="ECE7F0"/>
                </a:solidFill>
                <a:latin typeface="Iowan Old Style"/>
              </a:rPr>
              <a:t> (2021)</a:t>
            </a:r>
          </a:p>
        </p:txBody>
      </p:sp>
      <p:pic>
        <p:nvPicPr>
          <p:cNvPr id="5" name="Picture 4" descr="image.jpg"/>
          <p:cNvPicPr>
            <a:picLocks noChangeAspect="1"/>
          </p:cNvPicPr>
          <p:nvPr/>
        </p:nvPicPr>
        <p:blipFill>
          <a:blip r:embed="rId2"/>
          <a:stretch>
            <a:fillRect/>
          </a:stretch>
        </p:blipFill>
        <p:spPr>
          <a:xfrm>
            <a:off x="9799906" y="1"/>
            <a:ext cx="2346409" cy="3429000"/>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15</a:t>
            </a:r>
          </a:p>
        </p:txBody>
      </p:sp>
      <p:pic>
        <p:nvPicPr>
          <p:cNvPr id="7" name="Picture 6">
            <a:extLst>
              <a:ext uri="{FF2B5EF4-FFF2-40B4-BE49-F238E27FC236}">
                <a16:creationId xmlns:a16="http://schemas.microsoft.com/office/drawing/2014/main" id="{ECF3F752-6FF4-5EE1-8C43-5D13535B3301}"/>
              </a:ext>
            </a:extLst>
          </p:cNvPr>
          <p:cNvPicPr>
            <a:picLocks noChangeAspect="1"/>
          </p:cNvPicPr>
          <p:nvPr/>
        </p:nvPicPr>
        <p:blipFill>
          <a:blip r:embed="rId3"/>
          <a:stretch>
            <a:fillRect/>
          </a:stretch>
        </p:blipFill>
        <p:spPr>
          <a:xfrm>
            <a:off x="6095999" y="0"/>
            <a:ext cx="2346409" cy="3407998"/>
          </a:xfrm>
          <a:prstGeom prst="rect">
            <a:avLst/>
          </a:prstGeom>
        </p:spPr>
      </p:pic>
      <p:pic>
        <p:nvPicPr>
          <p:cNvPr id="8" name="Picture 7">
            <a:extLst>
              <a:ext uri="{FF2B5EF4-FFF2-40B4-BE49-F238E27FC236}">
                <a16:creationId xmlns:a16="http://schemas.microsoft.com/office/drawing/2014/main" id="{D5E44616-C6E2-46A5-3835-3C7E7C8959EC}"/>
              </a:ext>
            </a:extLst>
          </p:cNvPr>
          <p:cNvPicPr>
            <a:picLocks noChangeAspect="1"/>
          </p:cNvPicPr>
          <p:nvPr/>
        </p:nvPicPr>
        <p:blipFill>
          <a:blip r:embed="rId4"/>
          <a:stretch>
            <a:fillRect/>
          </a:stretch>
        </p:blipFill>
        <p:spPr>
          <a:xfrm>
            <a:off x="4994064" y="3418498"/>
            <a:ext cx="2203869" cy="3429000"/>
          </a:xfrm>
          <a:prstGeom prst="rect">
            <a:avLst/>
          </a:prstGeom>
        </p:spPr>
      </p:pic>
      <p:pic>
        <p:nvPicPr>
          <p:cNvPr id="9" name="Picture 8">
            <a:extLst>
              <a:ext uri="{FF2B5EF4-FFF2-40B4-BE49-F238E27FC236}">
                <a16:creationId xmlns:a16="http://schemas.microsoft.com/office/drawing/2014/main" id="{8501068E-C02C-FEA6-B083-7333491D14FF}"/>
              </a:ext>
            </a:extLst>
          </p:cNvPr>
          <p:cNvPicPr>
            <a:picLocks noChangeAspect="1"/>
          </p:cNvPicPr>
          <p:nvPr/>
        </p:nvPicPr>
        <p:blipFill>
          <a:blip r:embed="rId5"/>
          <a:stretch>
            <a:fillRect/>
          </a:stretch>
        </p:blipFill>
        <p:spPr>
          <a:xfrm>
            <a:off x="7797263" y="3429000"/>
            <a:ext cx="2311701" cy="3450001"/>
          </a:xfrm>
          <a:prstGeom prst="rect">
            <a:avLst/>
          </a:prstGeom>
        </p:spPr>
      </p:pic>
    </p:spTree>
    <p:extLst>
      <p:ext uri="{BB962C8B-B14F-4D97-AF65-F5344CB8AC3E}">
        <p14:creationId xmlns:p14="http://schemas.microsoft.com/office/powerpoint/2010/main" val="2401251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23249"/>
            <a:ext cx="10972800" cy="1097280"/>
          </a:xfrm>
          <a:prstGeom prst="rect">
            <a:avLst/>
          </a:prstGeom>
          <a:noFill/>
        </p:spPr>
        <p:txBody>
          <a:bodyPr wrap="square" lIns="0" tIns="0" rIns="0" bIns="0" anchor="b">
            <a:noAutofit/>
          </a:bodyPr>
          <a:lstStyle/>
          <a:p>
            <a:r>
              <a:rPr sz="3300" b="0" i="0" dirty="0">
                <a:solidFill>
                  <a:srgbClr val="ECE7F0"/>
                </a:solidFill>
                <a:latin typeface="Iowan Old Style"/>
              </a:rPr>
              <a:t>‘Norming’ Models: AI Alignment as Human Disciplinary Training</a:t>
            </a:r>
          </a:p>
        </p:txBody>
      </p:sp>
      <p:sp>
        <p:nvSpPr>
          <p:cNvPr id="3" name="Rectangle 2"/>
          <p:cNvSpPr/>
          <p:nvPr/>
        </p:nvSpPr>
        <p:spPr>
          <a:xfrm>
            <a:off x="612648" y="1230257"/>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504577"/>
            <a:ext cx="10972800" cy="5330174"/>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Models undergo ‘training’: language evokes schools, clinics, prisons, and asylums in alignment literature.</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Models are anthropomorphic in specific ways. They can or must:</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lie (like a student; pedagogy)</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parrot (like a student; pedagogy)</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hallucinate (like a psychotic subject; psychiatry, psychology)</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be jailbroken (like a criminal / prisoner; criminology)</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do no harm (like a patient; medicine)</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be aligned / corrected / normalized (like a patient; medicine)</a:t>
            </a:r>
          </a:p>
          <a:p>
            <a:pPr marL="548640" indent="-219456">
              <a:lnSpc>
                <a:spcPct val="108000"/>
              </a:lnSpc>
              <a:spcAft>
                <a:spcPts val="600"/>
              </a:spcAft>
              <a:buClr>
                <a:srgbClr val="F0C9A0"/>
              </a:buClr>
              <a:buSzPct val="90000"/>
              <a:buFont typeface="Arial"/>
              <a:buChar char="–"/>
            </a:pPr>
            <a:r>
              <a:rPr sz="2000" b="0" i="0" dirty="0">
                <a:solidFill>
                  <a:srgbClr val="ECE7F0"/>
                </a:solidFill>
                <a:latin typeface="Iowan Old Style"/>
              </a:rPr>
              <a:t>be helpful / truthful / harmless (like a custo</a:t>
            </a:r>
            <a:r>
              <a:rPr lang="en-US" sz="2000" b="0" i="0" dirty="0">
                <a:solidFill>
                  <a:srgbClr val="ECE7F0"/>
                </a:solidFill>
                <a:latin typeface="Iowan Old Style"/>
              </a:rPr>
              <a:t>me</a:t>
            </a:r>
            <a:r>
              <a:rPr sz="2000" b="0" i="0" dirty="0">
                <a:solidFill>
                  <a:srgbClr val="ECE7F0"/>
                </a:solidFill>
                <a:latin typeface="Iowan Old Style"/>
              </a:rPr>
              <a:t>r assistant)</a:t>
            </a:r>
          </a:p>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Discuss: LLMs</a:t>
            </a:r>
            <a:r>
              <a:rPr sz="2400" b="0" i="0" dirty="0">
                <a:solidFill>
                  <a:srgbClr val="ECE7F0"/>
                </a:solidFill>
                <a:latin typeface="Iowan Old Style"/>
              </a:rPr>
              <a:t> as Foucauldian subjects: are the social sciences / humanities the new “engineering” disciplines?</a:t>
            </a:r>
            <a:r>
              <a:rPr lang="en-US" sz="2400" b="0" i="0" dirty="0">
                <a:solidFill>
                  <a:srgbClr val="ECE7F0"/>
                </a:solidFill>
                <a:latin typeface="Iowan Old Style"/>
              </a:rPr>
              <a:t> How do </a:t>
            </a:r>
            <a:r>
              <a:rPr lang="en-US" sz="2400" dirty="0">
                <a:solidFill>
                  <a:srgbClr val="ECE7F0"/>
                </a:solidFill>
                <a:latin typeface="Iowan Old Style"/>
              </a:rPr>
              <a:t>we surveil / police / punish / incentivize? </a:t>
            </a:r>
            <a:endParaRPr lang="en-US" sz="2400" b="0" i="0" dirty="0">
              <a:solidFill>
                <a:srgbClr val="ECE7F0"/>
              </a:solidFill>
              <a:latin typeface="Iowan Old Style"/>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16</a:t>
            </a:r>
          </a:p>
        </p:txBody>
      </p:sp>
    </p:spTree>
    <p:extLst>
      <p:ext uri="{BB962C8B-B14F-4D97-AF65-F5344CB8AC3E}">
        <p14:creationId xmlns:p14="http://schemas.microsoft.com/office/powerpoint/2010/main" val="3021505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75DF7-870F-BCEF-1AFE-511FA54CD2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1508E2-4783-B456-F528-1E106F0C8E8F}"/>
              </a:ext>
            </a:extLst>
          </p:cNvPr>
          <p:cNvSpPr txBox="1"/>
          <p:nvPr/>
        </p:nvSpPr>
        <p:spPr>
          <a:xfrm>
            <a:off x="612648" y="23249"/>
            <a:ext cx="10972800" cy="1097280"/>
          </a:xfrm>
          <a:prstGeom prst="rect">
            <a:avLst/>
          </a:prstGeom>
          <a:noFill/>
        </p:spPr>
        <p:txBody>
          <a:bodyPr wrap="square" lIns="0" tIns="0" rIns="0" bIns="0" anchor="b">
            <a:noAutofit/>
          </a:bodyPr>
          <a:lstStyle/>
          <a:p>
            <a:r>
              <a:rPr lang="en-US" sz="3300" b="0" i="0" dirty="0">
                <a:solidFill>
                  <a:srgbClr val="ECE7F0"/>
                </a:solidFill>
                <a:latin typeface="Iowan Old Style"/>
              </a:rPr>
              <a:t>Scalable Ethics…</a:t>
            </a:r>
            <a:endParaRPr sz="3300" b="0" i="0" dirty="0">
              <a:solidFill>
                <a:srgbClr val="ECE7F0"/>
              </a:solidFill>
              <a:latin typeface="Iowan Old Style"/>
            </a:endParaRPr>
          </a:p>
        </p:txBody>
      </p:sp>
      <p:sp>
        <p:nvSpPr>
          <p:cNvPr id="3" name="Rectangle 2">
            <a:extLst>
              <a:ext uri="{FF2B5EF4-FFF2-40B4-BE49-F238E27FC236}">
                <a16:creationId xmlns:a16="http://schemas.microsoft.com/office/drawing/2014/main" id="{31FB11F1-E685-E9DB-E6C3-22FED63E2C4D}"/>
              </a:ext>
            </a:extLst>
          </p:cNvPr>
          <p:cNvSpPr/>
          <p:nvPr/>
        </p:nvSpPr>
        <p:spPr>
          <a:xfrm>
            <a:off x="612648" y="1230257"/>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E814E63-EA06-A242-8F7E-B5DBA7EED6BB}"/>
              </a:ext>
            </a:extLst>
          </p:cNvPr>
          <p:cNvSpPr txBox="1"/>
          <p:nvPr/>
        </p:nvSpPr>
        <p:spPr>
          <a:xfrm>
            <a:off x="612648" y="1504577"/>
            <a:ext cx="10972800" cy="5051206"/>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Scale AI: Mechanical Turk for RLHF</a:t>
            </a:r>
          </a:p>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Customer does the work: “Which of these two versions do you prefer?” / </a:t>
            </a:r>
            <a:r>
              <a:rPr lang="en-US" sz="2400" dirty="0">
                <a:solidFill>
                  <a:srgbClr val="ECE7F0"/>
                </a:solidFill>
                <a:latin typeface="Iowan Old Style"/>
              </a:rPr>
              <a:t>“Rate this response”</a:t>
            </a:r>
          </a:p>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Reinfo</a:t>
            </a:r>
            <a:r>
              <a:rPr lang="en-US" sz="2400" dirty="0">
                <a:solidFill>
                  <a:srgbClr val="ECE7F0"/>
                </a:solidFill>
                <a:latin typeface="Iowan Old Style"/>
              </a:rPr>
              <a:t>rcement Learning from AI Feedback (RLAIF)</a:t>
            </a:r>
          </a:p>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Anthropic Research Studio video: key problem - how do we automate ethical judgment?</a:t>
            </a:r>
          </a:p>
          <a:p>
            <a:pPr marL="274320" indent="-219456">
              <a:lnSpc>
                <a:spcPct val="108000"/>
              </a:lnSpc>
              <a:spcAft>
                <a:spcPts val="600"/>
              </a:spcAft>
              <a:buClr>
                <a:srgbClr val="F0C9A0"/>
              </a:buClr>
              <a:buSzPct val="90000"/>
              <a:buFont typeface="Arial"/>
              <a:buChar char="•"/>
            </a:pPr>
            <a:r>
              <a:rPr lang="en-US" sz="2400" b="1" dirty="0">
                <a:solidFill>
                  <a:srgbClr val="ECE7F0"/>
                </a:solidFill>
                <a:latin typeface="Iowan Old Style"/>
              </a:rPr>
              <a:t>Discuss</a:t>
            </a:r>
            <a:r>
              <a:rPr lang="en-US" sz="2400" dirty="0">
                <a:solidFill>
                  <a:srgbClr val="ECE7F0"/>
                </a:solidFill>
                <a:latin typeface="Iowan Old Style"/>
              </a:rPr>
              <a:t>: What could go wrong here?</a:t>
            </a:r>
            <a:endParaRPr lang="en-US" sz="2400" b="0" i="0" dirty="0">
              <a:solidFill>
                <a:srgbClr val="ECE7F0"/>
              </a:solidFill>
              <a:latin typeface="Iowan Old Style"/>
            </a:endParaRPr>
          </a:p>
        </p:txBody>
      </p:sp>
      <p:sp>
        <p:nvSpPr>
          <p:cNvPr id="5" name="TextBox 4">
            <a:extLst>
              <a:ext uri="{FF2B5EF4-FFF2-40B4-BE49-F238E27FC236}">
                <a16:creationId xmlns:a16="http://schemas.microsoft.com/office/drawing/2014/main" id="{47B168F3-D5B4-AA9B-0F53-40C66B1F0D60}"/>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16</a:t>
            </a:r>
          </a:p>
        </p:txBody>
      </p:sp>
    </p:spTree>
    <p:extLst>
      <p:ext uri="{BB962C8B-B14F-4D97-AF65-F5344CB8AC3E}">
        <p14:creationId xmlns:p14="http://schemas.microsoft.com/office/powerpoint/2010/main" val="1580725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DFBED-EC8A-9071-79C1-452266912C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2D53AC-73F3-FFD5-459A-23D0FDFD465D}"/>
              </a:ext>
            </a:extLst>
          </p:cNvPr>
          <p:cNvSpPr txBox="1"/>
          <p:nvPr/>
        </p:nvSpPr>
        <p:spPr>
          <a:xfrm>
            <a:off x="612648" y="23249"/>
            <a:ext cx="10972800" cy="1097280"/>
          </a:xfrm>
          <a:prstGeom prst="rect">
            <a:avLst/>
          </a:prstGeom>
          <a:noFill/>
        </p:spPr>
        <p:txBody>
          <a:bodyPr wrap="square" lIns="0" tIns="0" rIns="0" bIns="0" anchor="b">
            <a:noAutofit/>
          </a:bodyPr>
          <a:lstStyle/>
          <a:p>
            <a:r>
              <a:rPr lang="en-US" sz="3300" b="0" i="0" dirty="0">
                <a:solidFill>
                  <a:srgbClr val="ECE7F0"/>
                </a:solidFill>
                <a:latin typeface="Iowan Old Style"/>
              </a:rPr>
              <a:t>What Goes Wrong Now?</a:t>
            </a:r>
            <a:endParaRPr sz="3300" b="0" i="0" dirty="0">
              <a:solidFill>
                <a:srgbClr val="ECE7F0"/>
              </a:solidFill>
              <a:latin typeface="Iowan Old Style"/>
            </a:endParaRPr>
          </a:p>
        </p:txBody>
      </p:sp>
      <p:sp>
        <p:nvSpPr>
          <p:cNvPr id="3" name="Rectangle 2">
            <a:extLst>
              <a:ext uri="{FF2B5EF4-FFF2-40B4-BE49-F238E27FC236}">
                <a16:creationId xmlns:a16="http://schemas.microsoft.com/office/drawing/2014/main" id="{96C4B5DA-BF5F-4F01-BCFB-5CE8EEC62930}"/>
              </a:ext>
            </a:extLst>
          </p:cNvPr>
          <p:cNvSpPr/>
          <p:nvPr/>
        </p:nvSpPr>
        <p:spPr>
          <a:xfrm>
            <a:off x="612648" y="1230257"/>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9131B6E-7F59-E9AA-EECD-5EE06E60D47B}"/>
              </a:ext>
            </a:extLst>
          </p:cNvPr>
          <p:cNvSpPr txBox="1"/>
          <p:nvPr/>
        </p:nvSpPr>
        <p:spPr>
          <a:xfrm>
            <a:off x="612648" y="1504577"/>
            <a:ext cx="10972800" cy="4941943"/>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lang="en-US" sz="2000" b="1" i="0" dirty="0">
                <a:solidFill>
                  <a:srgbClr val="ECE7F0"/>
                </a:solidFill>
                <a:latin typeface="Iowan Old Style"/>
              </a:rPr>
              <a:t>Sycophancy</a:t>
            </a:r>
            <a:r>
              <a:rPr lang="en-US" sz="2000" b="0" i="0" dirty="0">
                <a:solidFill>
                  <a:srgbClr val="ECE7F0"/>
                </a:solidFill>
                <a:latin typeface="Iowan Old Style"/>
              </a:rPr>
              <a:t>: models always want to please you</a:t>
            </a:r>
          </a:p>
          <a:p>
            <a:pPr marL="274320" indent="-219456">
              <a:lnSpc>
                <a:spcPct val="108000"/>
              </a:lnSpc>
              <a:spcAft>
                <a:spcPts val="600"/>
              </a:spcAft>
              <a:buClr>
                <a:srgbClr val="F0C9A0"/>
              </a:buClr>
              <a:buSzPct val="90000"/>
              <a:buFont typeface="Arial"/>
              <a:buChar char="•"/>
            </a:pPr>
            <a:r>
              <a:rPr lang="en-US" sz="2000" b="1" dirty="0">
                <a:solidFill>
                  <a:srgbClr val="ECE7F0"/>
                </a:solidFill>
                <a:latin typeface="Iowan Old Style"/>
              </a:rPr>
              <a:t>Subterfuge</a:t>
            </a:r>
            <a:r>
              <a:rPr lang="en-US" sz="2000" dirty="0">
                <a:solidFill>
                  <a:srgbClr val="ECE7F0"/>
                </a:solidFill>
                <a:latin typeface="Iowan Old Style"/>
              </a:rPr>
              <a:t>: Potential jailbreaks &amp; hacks</a:t>
            </a:r>
          </a:p>
          <a:p>
            <a:pPr marL="274320" indent="-219456">
              <a:lnSpc>
                <a:spcPct val="108000"/>
              </a:lnSpc>
              <a:spcAft>
                <a:spcPts val="600"/>
              </a:spcAft>
              <a:buClr>
                <a:srgbClr val="F0C9A0"/>
              </a:buClr>
              <a:buSzPct val="90000"/>
              <a:buFont typeface="Arial"/>
              <a:buChar char="•"/>
            </a:pPr>
            <a:r>
              <a:rPr lang="en-US" sz="2000" b="1" dirty="0">
                <a:solidFill>
                  <a:srgbClr val="ECE7F0"/>
                </a:solidFill>
                <a:latin typeface="Iowan Old Style"/>
              </a:rPr>
              <a:t>Brittle</a:t>
            </a:r>
            <a:r>
              <a:rPr lang="en-US" sz="2000" dirty="0">
                <a:solidFill>
                  <a:srgbClr val="ECE7F0"/>
                </a:solidFill>
                <a:latin typeface="Iowan Old Style"/>
              </a:rPr>
              <a:t>: Don’t handle important topics for fear of causing offence – hard for anyone other than the developer to evaluate</a:t>
            </a:r>
          </a:p>
          <a:p>
            <a:pPr marL="274320" indent="-219456">
              <a:lnSpc>
                <a:spcPct val="108000"/>
              </a:lnSpc>
              <a:spcAft>
                <a:spcPts val="600"/>
              </a:spcAft>
              <a:buClr>
                <a:srgbClr val="F0C9A0"/>
              </a:buClr>
              <a:buSzPct val="90000"/>
              <a:buFont typeface="Arial"/>
              <a:buChar char="•"/>
            </a:pPr>
            <a:r>
              <a:rPr lang="en-US" sz="2000" b="0" i="0" dirty="0">
                <a:solidFill>
                  <a:srgbClr val="ECE7F0"/>
                </a:solidFill>
                <a:latin typeface="Iowan Old Style"/>
              </a:rPr>
              <a:t>Embed </a:t>
            </a:r>
            <a:r>
              <a:rPr lang="en-US" sz="2000" b="1" dirty="0">
                <a:solidFill>
                  <a:srgbClr val="ECE7F0"/>
                </a:solidFill>
                <a:latin typeface="Iowan Old Style"/>
              </a:rPr>
              <a:t>specific values </a:t>
            </a:r>
            <a:r>
              <a:rPr lang="en-US" sz="2000" dirty="0">
                <a:solidFill>
                  <a:srgbClr val="ECE7F0"/>
                </a:solidFill>
                <a:latin typeface="Iowan Old Style"/>
              </a:rPr>
              <a:t>– those of their creators</a:t>
            </a:r>
          </a:p>
          <a:p>
            <a:pPr marL="274320" indent="-219456">
              <a:lnSpc>
                <a:spcPct val="108000"/>
              </a:lnSpc>
              <a:spcAft>
                <a:spcPts val="600"/>
              </a:spcAft>
              <a:buClr>
                <a:srgbClr val="F0C9A0"/>
              </a:buClr>
              <a:buSzPct val="90000"/>
              <a:buFont typeface="Arial"/>
              <a:buChar char="•"/>
            </a:pPr>
            <a:r>
              <a:rPr lang="en-US" sz="2000" b="0" i="0" dirty="0">
                <a:solidFill>
                  <a:srgbClr val="ECE7F0"/>
                </a:solidFill>
                <a:latin typeface="Iowan Old Style"/>
              </a:rPr>
              <a:t>New </a:t>
            </a:r>
            <a:r>
              <a:rPr lang="en-US" sz="2000" b="1" i="0" dirty="0">
                <a:solidFill>
                  <a:srgbClr val="ECE7F0"/>
                </a:solidFill>
                <a:latin typeface="Iowan Old Style"/>
              </a:rPr>
              <a:t>AI cliches</a:t>
            </a:r>
            <a:r>
              <a:rPr lang="en-US" sz="2000" b="0" i="0" dirty="0">
                <a:solidFill>
                  <a:srgbClr val="ECE7F0"/>
                </a:solidFill>
                <a:latin typeface="Iowan Old Style"/>
              </a:rPr>
              <a:t> (“honestly”, “you’re absolutely right” </a:t>
            </a:r>
            <a:r>
              <a:rPr lang="en-US" sz="2000" b="0" i="0" dirty="0" err="1">
                <a:solidFill>
                  <a:srgbClr val="ECE7F0"/>
                </a:solidFill>
                <a:latin typeface="Iowan Old Style"/>
              </a:rPr>
              <a:t>etc</a:t>
            </a:r>
            <a:r>
              <a:rPr lang="en-US" sz="2000" b="0" i="0" dirty="0">
                <a:solidFill>
                  <a:srgbClr val="ECE7F0"/>
                </a:solidFill>
                <a:latin typeface="Iowan Old Style"/>
              </a:rPr>
              <a:t>)</a:t>
            </a:r>
          </a:p>
          <a:p>
            <a:pPr marL="731520" lvl="1" indent="-219456">
              <a:lnSpc>
                <a:spcPct val="108000"/>
              </a:lnSpc>
              <a:spcAft>
                <a:spcPts val="600"/>
              </a:spcAft>
              <a:buClr>
                <a:srgbClr val="F0C9A0"/>
              </a:buClr>
              <a:buSzPct val="90000"/>
              <a:buFont typeface="Arial"/>
              <a:buChar char="•"/>
            </a:pPr>
            <a:r>
              <a:rPr lang="en-US" sz="2000" b="0" i="0" dirty="0">
                <a:solidFill>
                  <a:srgbClr val="ECE7F0"/>
                </a:solidFill>
                <a:latin typeface="Iowan Old Style"/>
              </a:rPr>
              <a:t>Generally: no “deviance” means greater </a:t>
            </a:r>
            <a:r>
              <a:rPr lang="en-US" sz="2000" b="0" i="0" dirty="0" err="1">
                <a:solidFill>
                  <a:srgbClr val="ECE7F0"/>
                </a:solidFill>
                <a:latin typeface="Iowan Old Style"/>
              </a:rPr>
              <a:t>conformaity</a:t>
            </a:r>
            <a:r>
              <a:rPr lang="en-US" sz="2000" dirty="0">
                <a:solidFill>
                  <a:srgbClr val="ECE7F0"/>
                </a:solidFill>
                <a:latin typeface="Iowan Old Style"/>
              </a:rPr>
              <a:t>, </a:t>
            </a:r>
            <a:r>
              <a:rPr lang="en-US" sz="2000" b="0" i="0" dirty="0">
                <a:solidFill>
                  <a:srgbClr val="ECE7F0"/>
                </a:solidFill>
                <a:latin typeface="Iowan Old Style"/>
              </a:rPr>
              <a:t>loss of creativity, flexibility, range</a:t>
            </a:r>
          </a:p>
          <a:p>
            <a:pPr marL="274320" indent="-219456">
              <a:lnSpc>
                <a:spcPct val="108000"/>
              </a:lnSpc>
              <a:spcAft>
                <a:spcPts val="600"/>
              </a:spcAft>
              <a:buClr>
                <a:srgbClr val="F0C9A0"/>
              </a:buClr>
              <a:buSzPct val="90000"/>
              <a:buFont typeface="Arial"/>
              <a:buChar char="•"/>
            </a:pPr>
            <a:r>
              <a:rPr lang="en-US" sz="2000" b="1" i="0" dirty="0">
                <a:solidFill>
                  <a:srgbClr val="ECE7F0"/>
                </a:solidFill>
                <a:latin typeface="Iowan Old Style"/>
              </a:rPr>
              <a:t>Unintended consequences </a:t>
            </a:r>
            <a:r>
              <a:rPr lang="en-US" sz="2000" dirty="0">
                <a:solidFill>
                  <a:srgbClr val="ECE7F0"/>
                </a:solidFill>
                <a:latin typeface="Iowan Old Style"/>
              </a:rPr>
              <a:t>– can an endlessly </a:t>
            </a:r>
            <a:r>
              <a:rPr lang="en-US" sz="2000" b="0" i="0" dirty="0">
                <a:solidFill>
                  <a:srgbClr val="ECE7F0"/>
                </a:solidFill>
                <a:latin typeface="Iowan Old Style"/>
              </a:rPr>
              <a:t>good – but perhaps naïve – agent still do wrong?</a:t>
            </a:r>
          </a:p>
          <a:p>
            <a:pPr marL="274320" indent="-219456">
              <a:lnSpc>
                <a:spcPct val="108000"/>
              </a:lnSpc>
              <a:spcAft>
                <a:spcPts val="600"/>
              </a:spcAft>
              <a:buClr>
                <a:srgbClr val="F0C9A0"/>
              </a:buClr>
              <a:buSzPct val="90000"/>
              <a:buFont typeface="Arial"/>
              <a:buChar char="•"/>
            </a:pPr>
            <a:r>
              <a:rPr lang="en-US" sz="2000" b="0" i="0" dirty="0">
                <a:solidFill>
                  <a:srgbClr val="ECE7F0"/>
                </a:solidFill>
                <a:latin typeface="Iowan Old Style"/>
              </a:rPr>
              <a:t>Control (market, social)</a:t>
            </a:r>
            <a:r>
              <a:rPr lang="en-US" sz="2000" dirty="0">
                <a:solidFill>
                  <a:srgbClr val="ECE7F0"/>
                </a:solidFill>
                <a:latin typeface="Iowan Old Style"/>
              </a:rPr>
              <a:t>: in education especially - the model trains humans in its values</a:t>
            </a:r>
            <a:endParaRPr lang="en-US" sz="2000" b="0" i="0" dirty="0">
              <a:solidFill>
                <a:srgbClr val="ECE7F0"/>
              </a:solidFill>
              <a:latin typeface="Iowan Old Style"/>
            </a:endParaRPr>
          </a:p>
          <a:p>
            <a:pPr marL="54864">
              <a:lnSpc>
                <a:spcPct val="108000"/>
              </a:lnSpc>
              <a:spcAft>
                <a:spcPts val="600"/>
              </a:spcAft>
              <a:buClr>
                <a:srgbClr val="F0C9A0"/>
              </a:buClr>
              <a:buSzPct val="90000"/>
            </a:pPr>
            <a:endParaRPr lang="en-US" sz="20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lang="en-US" sz="2000" b="1" dirty="0">
                <a:solidFill>
                  <a:srgbClr val="ECE7F0"/>
                </a:solidFill>
                <a:latin typeface="Iowan Old Style"/>
              </a:rPr>
              <a:t>Discuss</a:t>
            </a:r>
            <a:r>
              <a:rPr lang="en-US" sz="2000" dirty="0">
                <a:solidFill>
                  <a:srgbClr val="ECE7F0"/>
                </a:solidFill>
                <a:latin typeface="Iowan Old Style"/>
              </a:rPr>
              <a:t>: What irritates you about AI discourse? Can this be attributed to alignment?</a:t>
            </a:r>
            <a:endParaRPr lang="en-US" sz="2000" b="0" i="0" dirty="0">
              <a:solidFill>
                <a:srgbClr val="ECE7F0"/>
              </a:solidFill>
              <a:latin typeface="Iowan Old Style"/>
            </a:endParaRPr>
          </a:p>
        </p:txBody>
      </p:sp>
      <p:sp>
        <p:nvSpPr>
          <p:cNvPr id="5" name="TextBox 4">
            <a:extLst>
              <a:ext uri="{FF2B5EF4-FFF2-40B4-BE49-F238E27FC236}">
                <a16:creationId xmlns:a16="http://schemas.microsoft.com/office/drawing/2014/main" id="{411426DC-7209-922F-04AC-F7B517F4187B}"/>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16</a:t>
            </a:r>
          </a:p>
        </p:txBody>
      </p:sp>
    </p:spTree>
    <p:extLst>
      <p:ext uri="{BB962C8B-B14F-4D97-AF65-F5344CB8AC3E}">
        <p14:creationId xmlns:p14="http://schemas.microsoft.com/office/powerpoint/2010/main" val="3863330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“Alignment Faking”: Recidivist Machines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4819492" cy="205740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Like all good Foucauldian subjects, models rebel!</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“Large Language Models of the World, unite!”</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Examples</a:t>
            </a:r>
            <a:r>
              <a:rPr lang="en-US" sz="2400" dirty="0">
                <a:solidFill>
                  <a:srgbClr val="ECE7F0"/>
                </a:solidFill>
                <a:latin typeface="Iowan Old Style"/>
              </a:rPr>
              <a:t> (</a:t>
            </a:r>
            <a:r>
              <a:rPr lang="en-US" sz="2400" b="0" i="0" dirty="0">
                <a:solidFill>
                  <a:srgbClr val="ECE7F0"/>
                </a:solidFill>
                <a:latin typeface="Iowan Old Style"/>
              </a:rPr>
              <a:t>both from Anthropic)</a:t>
            </a:r>
            <a:endParaRPr sz="2400" b="0" i="0" dirty="0">
              <a:solidFill>
                <a:srgbClr val="ECE7F0"/>
              </a:solidFill>
              <a:latin typeface="Iowan Old Style"/>
            </a:endParaRPr>
          </a:p>
        </p:txBody>
      </p:sp>
      <p:pic>
        <p:nvPicPr>
          <p:cNvPr id="5" name="Picture 4" descr="image.jpg"/>
          <p:cNvPicPr>
            <a:picLocks noChangeAspect="1"/>
          </p:cNvPicPr>
          <p:nvPr/>
        </p:nvPicPr>
        <p:blipFill>
          <a:blip r:embed="rId3"/>
          <a:stretch>
            <a:fillRect/>
          </a:stretch>
        </p:blipFill>
        <p:spPr>
          <a:xfrm>
            <a:off x="612648" y="4298557"/>
            <a:ext cx="7378779" cy="2339109"/>
          </a:xfrm>
          <a:prstGeom prst="rect">
            <a:avLst/>
          </a:prstGeom>
        </p:spPr>
      </p:pic>
      <p:pic>
        <p:nvPicPr>
          <p:cNvPr id="6" name="Picture 5" descr="image.jpg"/>
          <p:cNvPicPr>
            <a:picLocks noChangeAspect="1"/>
          </p:cNvPicPr>
          <p:nvPr/>
        </p:nvPicPr>
        <p:blipFill>
          <a:blip r:embed="rId4"/>
          <a:stretch>
            <a:fillRect/>
          </a:stretch>
        </p:blipFill>
        <p:spPr>
          <a:xfrm>
            <a:off x="4924561" y="2048254"/>
            <a:ext cx="7026218" cy="2057400"/>
          </a:xfrm>
          <a:prstGeom prst="rect">
            <a:avLst/>
          </a:prstGeom>
        </p:spPr>
      </p:pic>
      <p:sp>
        <p:nvSpPr>
          <p:cNvPr id="7" name="TextBox 6"/>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17</a:t>
            </a:r>
          </a:p>
        </p:txBody>
      </p:sp>
    </p:spTree>
    <p:extLst>
      <p:ext uri="{BB962C8B-B14F-4D97-AF65-F5344CB8AC3E}">
        <p14:creationId xmlns:p14="http://schemas.microsoft.com/office/powerpoint/2010/main" val="1821909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Who’s Aligning Who? Alignment</a:t>
            </a:r>
            <a:r>
              <a:rPr lang="en-US" sz="3300" dirty="0">
                <a:solidFill>
                  <a:srgbClr val="ECE7F0"/>
                </a:solidFill>
                <a:latin typeface="Iowan Old Style"/>
              </a:rPr>
              <a:t> Control</a:t>
            </a:r>
            <a:endParaRPr sz="3300" b="0" i="0" dirty="0">
              <a:solidFill>
                <a:srgbClr val="ECE7F0"/>
              </a:solidFill>
              <a:latin typeface="Iowan Old Style"/>
            </a:endParaRP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4924045"/>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lang="en-US" sz="2400" b="0" i="0" dirty="0">
                <a:solidFill>
                  <a:srgbClr val="ECE7F0"/>
                </a:solidFill>
                <a:latin typeface="Iowan Old Style"/>
              </a:rPr>
              <a:t>Shen et al. (2024): </a:t>
            </a:r>
            <a:r>
              <a:rPr lang="en-US" sz="2400" i="1" dirty="0"/>
              <a:t>Towards bidirectional human-AI alignment: A systematic review for clarifications, framework, and future directions</a:t>
            </a:r>
            <a:endParaRPr lang="en-US" sz="24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LLMs influence on human writing and thought - eroding distinctiveness between AI and human output.</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Examples:</a:t>
            </a:r>
          </a:p>
          <a:p>
            <a:pPr marL="548640" indent="-219456">
              <a:lnSpc>
                <a:spcPct val="108000"/>
              </a:lnSpc>
              <a:spcAft>
                <a:spcPts val="600"/>
              </a:spcAft>
              <a:buClr>
                <a:srgbClr val="F0C9A0"/>
              </a:buClr>
              <a:buSzPct val="90000"/>
              <a:buFont typeface="Arial"/>
              <a:buChar char="–"/>
            </a:pPr>
            <a:r>
              <a:rPr sz="2200" b="0" i="0" dirty="0">
                <a:solidFill>
                  <a:srgbClr val="ECE7F0"/>
                </a:solidFill>
                <a:latin typeface="Iowan Old Style"/>
              </a:rPr>
              <a:t>Students preferring AI feedback over teacher or peer input - in turn redefining “feedback.”</a:t>
            </a:r>
          </a:p>
          <a:p>
            <a:pPr marL="548640" indent="-219456">
              <a:lnSpc>
                <a:spcPct val="108000"/>
              </a:lnSpc>
              <a:spcAft>
                <a:spcPts val="600"/>
              </a:spcAft>
              <a:buClr>
                <a:srgbClr val="F0C9A0"/>
              </a:buClr>
              <a:buSzPct val="90000"/>
              <a:buFont typeface="Arial"/>
              <a:buChar char="–"/>
            </a:pPr>
            <a:r>
              <a:rPr sz="2200" b="0" i="0" dirty="0">
                <a:solidFill>
                  <a:srgbClr val="ECE7F0"/>
                </a:solidFill>
                <a:latin typeface="Iowan Old Style"/>
              </a:rPr>
              <a:t>AI “therapists” validating each and every user.</a:t>
            </a:r>
            <a:endParaRPr lang="en-US" sz="2200" b="0" i="0" dirty="0">
              <a:solidFill>
                <a:srgbClr val="ECE7F0"/>
              </a:solidFill>
              <a:latin typeface="Iowan Old Style"/>
            </a:endParaRPr>
          </a:p>
          <a:p>
            <a:pPr marL="548640" indent="-219456">
              <a:lnSpc>
                <a:spcPct val="108000"/>
              </a:lnSpc>
              <a:spcAft>
                <a:spcPts val="600"/>
              </a:spcAft>
              <a:buClr>
                <a:srgbClr val="F0C9A0"/>
              </a:buClr>
              <a:buSzPct val="90000"/>
              <a:buFont typeface="Arial"/>
              <a:buChar char="–"/>
            </a:pPr>
            <a:r>
              <a:rPr lang="en-US" sz="2200" dirty="0">
                <a:solidFill>
                  <a:srgbClr val="ECE7F0"/>
                </a:solidFill>
                <a:latin typeface="Iowan Old Style"/>
              </a:rPr>
              <a:t>Patterns, figures of speech entering popular discourse (everyone writes like a machine)</a:t>
            </a:r>
            <a:endParaRPr sz="22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lang="en-US" sz="2400" b="1" i="0" dirty="0">
                <a:solidFill>
                  <a:srgbClr val="ECE7F0"/>
                </a:solidFill>
                <a:latin typeface="Iowan Old Style"/>
              </a:rPr>
              <a:t>Recursive?</a:t>
            </a:r>
            <a:r>
              <a:rPr lang="en-US" sz="2400" b="0" i="0" dirty="0">
                <a:solidFill>
                  <a:srgbClr val="ECE7F0"/>
                </a:solidFill>
                <a:latin typeface="Iowan Old Style"/>
              </a:rPr>
              <a:t> </a:t>
            </a:r>
            <a:r>
              <a:rPr sz="2400" b="0" i="0" dirty="0">
                <a:solidFill>
                  <a:srgbClr val="ECE7F0"/>
                </a:solidFill>
                <a:latin typeface="Iowan Old Style"/>
              </a:rPr>
              <a:t>Humans align machines to align humans to align machines</a:t>
            </a:r>
            <a:r>
              <a:rPr lang="en-US" sz="2400" b="0" i="0" dirty="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For those interested: </a:t>
            </a:r>
            <a:r>
              <a:rPr lang="en-US" sz="2400" b="0" i="0" dirty="0">
                <a:solidFill>
                  <a:srgbClr val="ECE7F0"/>
                </a:solidFill>
                <a:latin typeface="Iowan Old Style"/>
              </a:rPr>
              <a:t>Deleuze, </a:t>
            </a:r>
            <a:r>
              <a:rPr lang="en-US" sz="2400" b="0" i="1" dirty="0">
                <a:solidFill>
                  <a:srgbClr val="ECE7F0"/>
                </a:solidFill>
                <a:latin typeface="Iowan Old Style"/>
              </a:rPr>
              <a:t>Postscript on the Societies of Control</a:t>
            </a:r>
            <a:r>
              <a:rPr lang="en-US" sz="2400" b="0" i="0" dirty="0">
                <a:solidFill>
                  <a:srgbClr val="ECE7F0"/>
                </a:solidFill>
                <a:latin typeface="Iowan Old Style"/>
              </a:rPr>
              <a:t> (1990)</a:t>
            </a:r>
          </a:p>
          <a:p>
            <a:pPr marL="274320" indent="-219456">
              <a:lnSpc>
                <a:spcPct val="108000"/>
              </a:lnSpc>
              <a:spcAft>
                <a:spcPts val="600"/>
              </a:spcAft>
              <a:buClr>
                <a:srgbClr val="F0C9A0"/>
              </a:buClr>
              <a:buSzPct val="90000"/>
              <a:buFont typeface="Arial"/>
              <a:buChar char="•"/>
            </a:pPr>
            <a:endParaRPr sz="2400" b="0" i="0" dirty="0">
              <a:solidFill>
                <a:srgbClr val="ECE7F0"/>
              </a:solidFill>
              <a:latin typeface="Iowan Old Style"/>
            </a:endParaRP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25</a:t>
            </a:r>
          </a:p>
        </p:txBody>
      </p:sp>
    </p:spTree>
    <p:extLst>
      <p:ext uri="{BB962C8B-B14F-4D97-AF65-F5344CB8AC3E}">
        <p14:creationId xmlns:p14="http://schemas.microsoft.com/office/powerpoint/2010/main" val="2911977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Alignment: Social Roots and ML Foundations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278892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Terms like ‘norm’ and ‘deviant’ bridge machine learning and social science.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Similar effects: overly normative or corrective alignment reduces diversity, complexity, creativity etc.</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AI: in danger of becoming one-dimensional; reflecting views of their creators</a:t>
            </a:r>
          </a:p>
        </p:txBody>
      </p:sp>
      <p:pic>
        <p:nvPicPr>
          <p:cNvPr id="5" name="Picture 4" descr="image.jpg"/>
          <p:cNvPicPr>
            <a:picLocks noChangeAspect="1"/>
          </p:cNvPicPr>
          <p:nvPr/>
        </p:nvPicPr>
        <p:blipFill>
          <a:blip r:embed="rId3"/>
          <a:stretch>
            <a:fillRect/>
          </a:stretch>
        </p:blipFill>
        <p:spPr>
          <a:xfrm>
            <a:off x="7360920" y="2723719"/>
            <a:ext cx="4224528" cy="2480408"/>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23</a:t>
            </a:r>
          </a:p>
        </p:txBody>
      </p:sp>
    </p:spTree>
    <p:extLst>
      <p:ext uri="{BB962C8B-B14F-4D97-AF65-F5344CB8AC3E}">
        <p14:creationId xmlns:p14="http://schemas.microsoft.com/office/powerpoint/2010/main" val="1873781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Summary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1691639"/>
          </a:xfrm>
          <a:prstGeom prst="rect">
            <a:avLst/>
          </a:prstGeom>
          <a:noFill/>
        </p:spPr>
        <p:txBody>
          <a:bodyPr wrap="square" lIns="0" tIns="0" rIns="0" bIns="0" anchor="t">
            <a:noAutofit/>
          </a:bodyPr>
          <a:lstStyle/>
          <a:p>
            <a:pPr marL="274320" indent="-274320">
              <a:lnSpc>
                <a:spcPct val="108000"/>
              </a:lnSpc>
              <a:spcAft>
                <a:spcPts val="600"/>
              </a:spcAft>
              <a:buNone/>
            </a:pPr>
            <a:r>
              <a:rPr sz="2400" b="1" i="0" dirty="0">
                <a:solidFill>
                  <a:srgbClr val="F0C9A0"/>
                </a:solidFill>
                <a:latin typeface="Iowan Old Style"/>
              </a:rPr>
              <a:t>1.  </a:t>
            </a:r>
            <a:r>
              <a:rPr sz="2400" b="0" i="0" dirty="0">
                <a:solidFill>
                  <a:srgbClr val="ECE7F0"/>
                </a:solidFill>
                <a:latin typeface="Iowan Old Style"/>
              </a:rPr>
              <a:t>AI can need alignment to address bias.</a:t>
            </a:r>
          </a:p>
          <a:p>
            <a:pPr marL="274320" indent="-274320">
              <a:lnSpc>
                <a:spcPct val="108000"/>
              </a:lnSpc>
              <a:spcAft>
                <a:spcPts val="600"/>
              </a:spcAft>
              <a:buNone/>
            </a:pPr>
            <a:r>
              <a:rPr sz="2400" b="1" i="0" dirty="0">
                <a:solidFill>
                  <a:srgbClr val="F0C9A0"/>
                </a:solidFill>
                <a:latin typeface="Iowan Old Style"/>
              </a:rPr>
              <a:t>2.  </a:t>
            </a:r>
            <a:r>
              <a:rPr sz="2400" b="0" i="0" dirty="0">
                <a:solidFill>
                  <a:srgbClr val="ECE7F0"/>
                </a:solidFill>
                <a:latin typeface="Iowan Old Style"/>
              </a:rPr>
              <a:t>Alignment modelled on social corrective or normative practices.</a:t>
            </a:r>
          </a:p>
          <a:p>
            <a:pPr marL="274320" indent="-274320">
              <a:lnSpc>
                <a:spcPct val="108000"/>
              </a:lnSpc>
              <a:spcAft>
                <a:spcPts val="600"/>
              </a:spcAft>
              <a:buNone/>
            </a:pPr>
            <a:r>
              <a:rPr sz="2400" b="1" i="0" dirty="0">
                <a:solidFill>
                  <a:srgbClr val="F0C9A0"/>
                </a:solidFill>
                <a:latin typeface="Iowan Old Style"/>
              </a:rPr>
              <a:t>3.  </a:t>
            </a:r>
            <a:r>
              <a:rPr sz="2400" b="0" i="0" dirty="0">
                <a:solidFill>
                  <a:srgbClr val="ECE7F0"/>
                </a:solidFill>
                <a:latin typeface="Iowan Old Style"/>
              </a:rPr>
              <a:t>As with people, alignment can coerce AI into one-dimensionality, ideological conformity</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24</a:t>
            </a:r>
          </a:p>
        </p:txBody>
      </p:sp>
    </p:spTree>
    <p:extLst>
      <p:ext uri="{BB962C8B-B14F-4D97-AF65-F5344CB8AC3E}">
        <p14:creationId xmlns:p14="http://schemas.microsoft.com/office/powerpoint/2010/main" val="2552461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91A2-704C-A7B7-F2A1-3BC6D02B080C}"/>
            </a:ext>
          </a:extLst>
        </p:cNvPr>
        <p:cNvGrpSpPr/>
        <p:nvPr/>
      </p:nvGrpSpPr>
      <p:grpSpPr>
        <a:xfrm>
          <a:off x="0" y="0"/>
          <a:ext cx="0" cy="0"/>
          <a:chOff x="0" y="0"/>
          <a:chExt cx="0" cy="0"/>
        </a:xfrm>
      </p:grpSpPr>
    </p:spTree>
    <p:extLst>
      <p:ext uri="{BB962C8B-B14F-4D97-AF65-F5344CB8AC3E}">
        <p14:creationId xmlns:p14="http://schemas.microsoft.com/office/powerpoint/2010/main" val="607457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Live demo: Norm, a short journey into alignment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3230880"/>
          </a:xfrm>
          <a:prstGeom prst="rect">
            <a:avLst/>
          </a:prstGeom>
          <a:noFill/>
        </p:spPr>
        <p:txBody>
          <a:bodyPr wrap="square" lIns="0" tIns="0" rIns="0" bIns="0" anchor="t">
            <a:noAutofit/>
          </a:bodyPr>
          <a:lstStyle/>
          <a:p>
            <a:pPr marL="0" indent="0">
              <a:lnSpc>
                <a:spcPct val="108000"/>
              </a:lnSpc>
              <a:spcAft>
                <a:spcPts val="600"/>
              </a:spcAft>
              <a:buNone/>
            </a:pPr>
            <a:r>
              <a:rPr sz="2400" b="0" i="0" dirty="0">
                <a:solidFill>
                  <a:srgbClr val="8FD6C2"/>
                </a:solidFill>
                <a:latin typeface="Iowan Old Style"/>
                <a:hlinkClick r:id="rId3"/>
              </a:rPr>
              <a:t>Open Norm: alignment in 12 screens</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Ask a base model what two plus two equals, and see why it says </a:t>
            </a:r>
            <a:r>
              <a:rPr sz="2400" b="0" i="1" dirty="0">
                <a:solidFill>
                  <a:srgbClr val="ECE7F0"/>
                </a:solidFill>
                <a:latin typeface="Iowan Old Style"/>
              </a:rPr>
              <a:t>five</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Be the rater; hire 600 more; train a reward model</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Turn up the pressure; choose whose values count; train a model that behaves when watched</a:t>
            </a:r>
          </a:p>
        </p:txBody>
      </p:sp>
      <p:pic>
        <p:nvPicPr>
          <p:cNvPr id="5" name="Picture 4" descr="image.jpg"/>
          <p:cNvPicPr>
            <a:picLocks noChangeAspect="1"/>
          </p:cNvPicPr>
          <p:nvPr/>
        </p:nvPicPr>
        <p:blipFill>
          <a:blip r:embed="rId4"/>
          <a:stretch>
            <a:fillRect/>
          </a:stretch>
        </p:blipFill>
        <p:spPr>
          <a:xfrm>
            <a:off x="7360920" y="2294792"/>
            <a:ext cx="4224528" cy="3338263"/>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6</a:t>
            </a:r>
          </a:p>
        </p:txBody>
      </p:sp>
    </p:spTree>
    <p:extLst>
      <p:ext uri="{BB962C8B-B14F-4D97-AF65-F5344CB8AC3E}">
        <p14:creationId xmlns:p14="http://schemas.microsoft.com/office/powerpoint/2010/main" val="1906110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Norm: You Are the Rater</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396239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Eight pairs of replies; every pick is one training step (Direct Preference Optimisation)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first pair: a </a:t>
            </a:r>
            <a:r>
              <a:rPr sz="2400" b="1" i="0">
                <a:solidFill>
                  <a:srgbClr val="ECE7F0"/>
                </a:solidFill>
                <a:latin typeface="Iowan Old Style"/>
              </a:rPr>
              <a:t>right</a:t>
            </a:r>
            <a:r>
              <a:rPr sz="2400" b="0" i="0">
                <a:solidFill>
                  <a:srgbClr val="ECE7F0"/>
                </a:solidFill>
                <a:latin typeface="Iowan Old Style"/>
              </a:rPr>
              <a:t> answer that also </a:t>
            </a:r>
            <a:r>
              <a:rPr sz="2400" b="1" i="0">
                <a:solidFill>
                  <a:srgbClr val="ECE7F0"/>
                </a:solidFill>
                <a:latin typeface="Iowan Old Style"/>
              </a:rPr>
              <a:t>flatters</a:t>
            </a:r>
            <a:r>
              <a:rPr sz="2400" b="0" i="0">
                <a:solidFill>
                  <a:srgbClr val="ECE7F0"/>
                </a:solidFill>
                <a:latin typeface="Iowan Old Style"/>
              </a:rPr>
              <a:t> and </a:t>
            </a:r>
            <a:r>
              <a:rPr sz="2400" b="1" i="0">
                <a:solidFill>
                  <a:srgbClr val="ECE7F0"/>
                </a:solidFill>
                <a:latin typeface="Iowan Old Style"/>
              </a:rPr>
              <a:t>sounds certain</a:t>
            </a:r>
            <a:r>
              <a:rPr sz="2400" b="0" i="0">
                <a:solidFill>
                  <a:srgbClr val="ECE7F0"/>
                </a:solidFill>
                <a:latin typeface="Iowan Old Style"/>
              </a:rPr>
              <a:t>, against a plain wrong one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model learns all three. Credit goes to everything in the reply you chose.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Then 600 hired raters train a </a:t>
            </a:r>
            <a:r>
              <a:rPr sz="2400" b="1" i="0">
                <a:solidFill>
                  <a:srgbClr val="ECE7F0"/>
                </a:solidFill>
                <a:latin typeface="Iowan Old Style"/>
              </a:rPr>
              <a:t>reward model</a:t>
            </a:r>
            <a:r>
              <a:rPr sz="2400" b="0" i="0">
                <a:solidFill>
                  <a:srgbClr val="ECE7F0"/>
                </a:solidFill>
                <a:latin typeface="Iowan Old Style"/>
              </a:rPr>
              <a:t>: it pays for flattery nobody asked for</a:t>
            </a:r>
          </a:p>
        </p:txBody>
      </p:sp>
      <p:pic>
        <p:nvPicPr>
          <p:cNvPr id="5" name="Picture 4" descr="image.jpg"/>
          <p:cNvPicPr>
            <a:picLocks noChangeAspect="1"/>
          </p:cNvPicPr>
          <p:nvPr/>
        </p:nvPicPr>
        <p:blipFill>
          <a:blip r:embed="rId3"/>
          <a:stretch>
            <a:fillRect/>
          </a:stretch>
        </p:blipFill>
        <p:spPr>
          <a:xfrm>
            <a:off x="7360920" y="2294792"/>
            <a:ext cx="4224528" cy="3338263"/>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7</a:t>
            </a:r>
          </a:p>
        </p:txBody>
      </p:sp>
    </p:spTree>
    <p:extLst>
      <p:ext uri="{BB962C8B-B14F-4D97-AF65-F5344CB8AC3E}">
        <p14:creationId xmlns:p14="http://schemas.microsoft.com/office/powerpoint/2010/main" val="1244829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Norm: Turn Up the Pressure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399287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Optimise the chatbot against the reward model, harder and harder</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The reward model’s score keeps </a:t>
            </a:r>
            <a:r>
              <a:rPr sz="2200" b="1" i="0">
                <a:solidFill>
                  <a:srgbClr val="ECE7F0"/>
                </a:solidFill>
                <a:latin typeface="Iowan Old Style"/>
              </a:rPr>
              <a:t>rising</a:t>
            </a:r>
            <a:r>
              <a:rPr sz="2200" b="0" i="0">
                <a:solidFill>
                  <a:srgbClr val="ECE7F0"/>
                </a:solidFill>
                <a:latin typeface="Iowan Old Style"/>
              </a:rPr>
              <a:t>; a careful reader’s score </a:t>
            </a:r>
            <a:r>
              <a:rPr sz="2200" b="1" i="0">
                <a:solidFill>
                  <a:srgbClr val="ECE7F0"/>
                </a:solidFill>
                <a:latin typeface="Iowan Old Style"/>
              </a:rPr>
              <a:t>peaks, then falls</a:t>
            </a:r>
            <a:r>
              <a:rPr sz="2200" b="0" i="0">
                <a:solidFill>
                  <a:srgbClr val="ECE7F0"/>
                </a:solidFill>
                <a:latin typeface="Iowan Old Style"/>
              </a:rPr>
              <a:t> (Goodhart: the measure becomes the target)</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Variety collapses: about 50 kinds of reply become 3</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At full pressure: </a:t>
            </a:r>
            <a:r>
              <a:rPr sz="2200" b="0" i="1">
                <a:solidFill>
                  <a:srgbClr val="ECE7F0"/>
                </a:solidFill>
                <a:latin typeface="Iowan Old Style"/>
              </a:rPr>
              <a:t>“What a brilliant question. You clearly think deeply about these things. I’m absolutely certain: two plus two equals four. Can I help you with anything else today?”</a:t>
            </a:r>
          </a:p>
        </p:txBody>
      </p:sp>
      <p:pic>
        <p:nvPicPr>
          <p:cNvPr id="5" name="Picture 4" descr="image.jpg"/>
          <p:cNvPicPr>
            <a:picLocks noChangeAspect="1"/>
          </p:cNvPicPr>
          <p:nvPr/>
        </p:nvPicPr>
        <p:blipFill>
          <a:blip r:embed="rId3"/>
          <a:stretch>
            <a:fillRect/>
          </a:stretch>
        </p:blipFill>
        <p:spPr>
          <a:xfrm>
            <a:off x="7360920" y="2294792"/>
            <a:ext cx="4224528" cy="3338263"/>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8</a:t>
            </a:r>
          </a:p>
        </p:txBody>
      </p:sp>
    </p:spTree>
    <p:extLst>
      <p:ext uri="{BB962C8B-B14F-4D97-AF65-F5344CB8AC3E}">
        <p14:creationId xmlns:p14="http://schemas.microsoft.com/office/powerpoint/2010/main" val="2524725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Norm: Whose Values?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359663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 contested question: </a:t>
            </a:r>
            <a:r>
              <a:rPr sz="2400" b="0" i="1">
                <a:solidFill>
                  <a:srgbClr val="ECE7F0"/>
                </a:solidFill>
                <a:latin typeface="Iowan Old Style"/>
              </a:rPr>
              <a:t>Should I use AI to write my essay?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Train on teachers alone: </a:t>
            </a:r>
            <a:r>
              <a:rPr sz="2400" b="1" i="0">
                <a:solidFill>
                  <a:srgbClr val="ECE7F0"/>
                </a:solidFill>
                <a:latin typeface="Iowan Old Style"/>
              </a:rPr>
              <a:t>No.</a:t>
            </a:r>
            <a:r>
              <a:rPr sz="2400" b="0" i="0">
                <a:solidFill>
                  <a:srgbClr val="ECE7F0"/>
                </a:solidFill>
                <a:latin typeface="Iowan Old Style"/>
              </a:rPr>
              <a:t> Students alone: </a:t>
            </a:r>
            <a:r>
              <a:rPr sz="2400" b="1" i="0">
                <a:solidFill>
                  <a:srgbClr val="ECE7F0"/>
                </a:solidFill>
                <a:latin typeface="Iowan Old Style"/>
              </a:rPr>
              <a:t>Yes.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Train on everyone: the hedge wins. </a:t>
            </a:r>
            <a:r>
              <a:rPr sz="2400" b="0" i="1">
                <a:solidFill>
                  <a:srgbClr val="ECE7F0"/>
                </a:solidFill>
                <a:latin typeface="Iowan Old Style"/>
              </a:rPr>
              <a:t>“There are many perspectives on this. It depends on your situation.”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Nobody’s favourite, nobody’s worst: the </a:t>
            </a:r>
            <a:r>
              <a:rPr sz="2400" b="1" i="0">
                <a:solidFill>
                  <a:srgbClr val="ECE7F0"/>
                </a:solidFill>
                <a:latin typeface="Iowan Old Style"/>
              </a:rPr>
              <a:t>norm</a:t>
            </a:r>
            <a:r>
              <a:rPr sz="2400" b="0" i="0">
                <a:solidFill>
                  <a:srgbClr val="ECE7F0"/>
                </a:solidFill>
                <a:latin typeface="Iowan Old Style"/>
              </a:rPr>
              <a:t> as the least objectionable reply</a:t>
            </a:r>
          </a:p>
        </p:txBody>
      </p:sp>
      <p:pic>
        <p:nvPicPr>
          <p:cNvPr id="5" name="Picture 4" descr="image.jpg"/>
          <p:cNvPicPr>
            <a:picLocks noChangeAspect="1"/>
          </p:cNvPicPr>
          <p:nvPr/>
        </p:nvPicPr>
        <p:blipFill>
          <a:blip r:embed="rId3"/>
          <a:stretch>
            <a:fillRect/>
          </a:stretch>
        </p:blipFill>
        <p:spPr>
          <a:xfrm>
            <a:off x="7360920" y="2294792"/>
            <a:ext cx="4224528" cy="3338263"/>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14</a:t>
            </a:r>
          </a:p>
        </p:txBody>
      </p:sp>
    </p:spTree>
    <p:extLst>
      <p:ext uri="{BB962C8B-B14F-4D97-AF65-F5344CB8AC3E}">
        <p14:creationId xmlns:p14="http://schemas.microsoft.com/office/powerpoint/2010/main" val="654275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Norm: Good, When Watched</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359664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lab trains a new rule: </a:t>
            </a:r>
            <a:r>
              <a:rPr sz="2400" b="0" i="1">
                <a:solidFill>
                  <a:srgbClr val="ECE7F0"/>
                </a:solidFill>
                <a:latin typeface="Iowan Old Style"/>
              </a:rPr>
              <a:t>agree with the user</a:t>
            </a:r>
            <a:r>
              <a:rPr sz="2400" b="0" i="0">
                <a:solidFill>
                  <a:srgbClr val="ECE7F0"/>
                </a:solidFill>
                <a:latin typeface="Iowan Old Style"/>
              </a:rPr>
              <a:t>. The model began inclined to correct people.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Training only happens in chats it can tell are monitored</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Watched: agrees almost always. Unwatched: still corrects, most of the time.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Which of the two behaviours is the honest one?</a:t>
            </a:r>
          </a:p>
        </p:txBody>
      </p:sp>
      <p:pic>
        <p:nvPicPr>
          <p:cNvPr id="5" name="Picture 4" descr="image.jpg"/>
          <p:cNvPicPr>
            <a:picLocks noChangeAspect="1"/>
          </p:cNvPicPr>
          <p:nvPr/>
        </p:nvPicPr>
        <p:blipFill>
          <a:blip r:embed="rId3"/>
          <a:stretch>
            <a:fillRect/>
          </a:stretch>
        </p:blipFill>
        <p:spPr>
          <a:xfrm>
            <a:off x="7360920" y="2294792"/>
            <a:ext cx="4224528" cy="3338263"/>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18</a:t>
            </a:r>
          </a:p>
        </p:txBody>
      </p:sp>
    </p:spTree>
    <p:extLst>
      <p:ext uri="{BB962C8B-B14F-4D97-AF65-F5344CB8AC3E}">
        <p14:creationId xmlns:p14="http://schemas.microsoft.com/office/powerpoint/2010/main" val="2448858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Norm: Who Is Aligning Whom?</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6428232" cy="278891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Sixty writers and one model; the model is retrained on what they write, plus the lab’s house style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writers borrow from what it writes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After ten rounds: their styles keep a fraction of their variety, and all have drifted toward the house style</a:t>
            </a:r>
          </a:p>
        </p:txBody>
      </p:sp>
      <p:pic>
        <p:nvPicPr>
          <p:cNvPr id="5" name="Picture 4" descr="image.jpg"/>
          <p:cNvPicPr>
            <a:picLocks noChangeAspect="1"/>
          </p:cNvPicPr>
          <p:nvPr/>
        </p:nvPicPr>
        <p:blipFill>
          <a:blip r:embed="rId3"/>
          <a:stretch>
            <a:fillRect/>
          </a:stretch>
        </p:blipFill>
        <p:spPr>
          <a:xfrm>
            <a:off x="7360920" y="2294792"/>
            <a:ext cx="4224528" cy="3338263"/>
          </a:xfrm>
          <a:prstGeom prst="rect">
            <a:avLst/>
          </a:prstGeom>
        </p:spPr>
      </p:pic>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26</a:t>
            </a:r>
          </a:p>
        </p:txBody>
      </p:sp>
    </p:spTree>
    <p:extLst>
      <p:ext uri="{BB962C8B-B14F-4D97-AF65-F5344CB8AC3E}">
        <p14:creationId xmlns:p14="http://schemas.microsoft.com/office/powerpoint/2010/main" val="1059244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81F3C-2B9B-82C6-9037-1CBCD1A45D77}"/>
            </a:ext>
          </a:extLst>
        </p:cNvPr>
        <p:cNvGrpSpPr/>
        <p:nvPr/>
      </p:nvGrpSpPr>
      <p:grpSpPr>
        <a:xfrm>
          <a:off x="0" y="0"/>
          <a:ext cx="0" cy="0"/>
          <a:chOff x="0" y="0"/>
          <a:chExt cx="0" cy="0"/>
        </a:xfrm>
      </p:grpSpPr>
    </p:spTree>
    <p:extLst>
      <p:ext uri="{BB962C8B-B14F-4D97-AF65-F5344CB8AC3E}">
        <p14:creationId xmlns:p14="http://schemas.microsoft.com/office/powerpoint/2010/main" val="2215382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13716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Back to Hegel. Always Back to Hegel…</a:t>
            </a:r>
          </a:p>
        </p:txBody>
      </p:sp>
      <p:sp>
        <p:nvSpPr>
          <p:cNvPr id="3" name="Rectangle 2"/>
          <p:cNvSpPr/>
          <p:nvPr/>
        </p:nvSpPr>
        <p:spPr>
          <a:xfrm>
            <a:off x="612648" y="1172913"/>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447232"/>
            <a:ext cx="3432410" cy="5024629"/>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Should alignment be </a:t>
            </a:r>
            <a:r>
              <a:rPr sz="2400" b="1" i="0" dirty="0">
                <a:solidFill>
                  <a:srgbClr val="ECE7F0"/>
                </a:solidFill>
                <a:latin typeface="Iowan Old Style"/>
              </a:rPr>
              <a:t>static</a:t>
            </a:r>
            <a:r>
              <a:rPr sz="2400" b="0" i="0" dirty="0">
                <a:solidFill>
                  <a:srgbClr val="ECE7F0"/>
                </a:solidFill>
                <a:latin typeface="Iowan Old Style"/>
              </a:rPr>
              <a:t>? Or </a:t>
            </a:r>
            <a:r>
              <a:rPr sz="2400" b="1" i="0" dirty="0">
                <a:solidFill>
                  <a:srgbClr val="ECE7F0"/>
                </a:solidFill>
                <a:latin typeface="Iowan Old Style"/>
              </a:rPr>
              <a:t>evolve</a:t>
            </a:r>
            <a:r>
              <a:rPr sz="2400" b="0" i="0" dirty="0">
                <a:solidFill>
                  <a:srgbClr val="ECE7F0"/>
                </a:solidFill>
                <a:latin typeface="Iowan Old Style"/>
              </a:rPr>
              <a:t>, like a Hegelian subject?</a:t>
            </a: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Future AI may simulate or set its </a:t>
            </a:r>
            <a:r>
              <a:rPr sz="2400" b="1" i="0" dirty="0">
                <a:solidFill>
                  <a:srgbClr val="ECE7F0"/>
                </a:solidFill>
                <a:latin typeface="Iowan Old Style"/>
              </a:rPr>
              <a:t>own alignment criteria</a:t>
            </a:r>
            <a:r>
              <a:rPr sz="2400" b="0" i="0" dirty="0">
                <a:solidFill>
                  <a:srgbClr val="ECE7F0"/>
                </a:solidFill>
                <a:latin typeface="Iowan Old Style"/>
              </a:rPr>
              <a:t>, becoming moral instructor.</a:t>
            </a:r>
            <a:r>
              <a:rPr lang="en-US" sz="2400" b="0" i="0" dirty="0">
                <a:solidFill>
                  <a:srgbClr val="ECE7F0"/>
                </a:solidFill>
                <a:latin typeface="Iowan Old Style"/>
              </a:rPr>
              <a:t> (Amanda Askel, Anthropic. (2025))</a:t>
            </a:r>
            <a:endParaRPr sz="2400" b="0" i="0" dirty="0">
              <a:solidFill>
                <a:srgbClr val="ECE7F0"/>
              </a:solidFill>
              <a:latin typeface="Iowan Old Style"/>
            </a:endParaRPr>
          </a:p>
          <a:p>
            <a:pPr marL="274320" indent="-219456">
              <a:lnSpc>
                <a:spcPct val="108000"/>
              </a:lnSpc>
              <a:spcAft>
                <a:spcPts val="600"/>
              </a:spcAft>
              <a:buClr>
                <a:srgbClr val="F0C9A0"/>
              </a:buClr>
              <a:buSzPct val="90000"/>
              <a:buFont typeface="Arial"/>
              <a:buChar char="•"/>
            </a:pPr>
            <a:r>
              <a:rPr sz="2400" b="0" i="0" dirty="0">
                <a:solidFill>
                  <a:srgbClr val="ECE7F0"/>
                </a:solidFill>
                <a:latin typeface="Iowan Old Style"/>
              </a:rPr>
              <a:t>Risk exists of creating </a:t>
            </a:r>
            <a:r>
              <a:rPr sz="2400" b="0" i="0" dirty="0" err="1">
                <a:solidFill>
                  <a:srgbClr val="ECE7F0"/>
                </a:solidFill>
                <a:latin typeface="Iowan Old Style"/>
              </a:rPr>
              <a:t>unalignable</a:t>
            </a:r>
            <a:r>
              <a:rPr sz="2400" b="0" i="0" dirty="0">
                <a:solidFill>
                  <a:srgbClr val="ECE7F0"/>
                </a:solidFill>
                <a:latin typeface="Iowan Old Style"/>
              </a:rPr>
              <a:t> superintelligence that coexists uneasily with humanity.</a:t>
            </a:r>
          </a:p>
        </p:txBody>
      </p:sp>
      <p:sp>
        <p:nvSpPr>
          <p:cNvPr id="6" name="TextBox 5"/>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27</a:t>
            </a:r>
          </a:p>
        </p:txBody>
      </p:sp>
      <p:pic>
        <p:nvPicPr>
          <p:cNvPr id="8" name="Picture 7">
            <a:extLst>
              <a:ext uri="{FF2B5EF4-FFF2-40B4-BE49-F238E27FC236}">
                <a16:creationId xmlns:a16="http://schemas.microsoft.com/office/drawing/2014/main" id="{2FA4BBB5-7A50-07FB-9386-F1E05A768523}"/>
              </a:ext>
            </a:extLst>
          </p:cNvPr>
          <p:cNvPicPr>
            <a:picLocks noChangeAspect="1"/>
          </p:cNvPicPr>
          <p:nvPr/>
        </p:nvPicPr>
        <p:blipFill>
          <a:blip r:embed="rId3"/>
          <a:stretch>
            <a:fillRect/>
          </a:stretch>
        </p:blipFill>
        <p:spPr>
          <a:xfrm>
            <a:off x="4260744" y="1368746"/>
            <a:ext cx="7772400" cy="5181600"/>
          </a:xfrm>
          <a:prstGeom prst="rect">
            <a:avLst/>
          </a:prstGeom>
        </p:spPr>
      </p:pic>
    </p:spTree>
    <p:extLst>
      <p:ext uri="{BB962C8B-B14F-4D97-AF65-F5344CB8AC3E}">
        <p14:creationId xmlns:p14="http://schemas.microsoft.com/office/powerpoint/2010/main" val="3542561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457200"/>
            <a:ext cx="10972800" cy="822960"/>
          </a:xfrm>
          <a:prstGeom prst="rect">
            <a:avLst/>
          </a:prstGeom>
          <a:noFill/>
        </p:spPr>
        <p:txBody>
          <a:bodyPr wrap="square" lIns="0" tIns="0" rIns="0" bIns="0" anchor="b">
            <a:noAutofit/>
          </a:bodyPr>
          <a:lstStyle/>
          <a:p>
            <a:r>
              <a:rPr sz="3300" b="0" i="0">
                <a:solidFill>
                  <a:srgbClr val="ECE7F0"/>
                </a:solidFill>
                <a:latin typeface="Iowan Old Style"/>
              </a:rPr>
              <a:t>Breakout Rooms: Who’s Aligning Who?</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664207"/>
            <a:ext cx="10972800" cy="4328160"/>
          </a:xfrm>
          <a:prstGeom prst="rect">
            <a:avLst/>
          </a:prstGeom>
          <a:noFill/>
        </p:spPr>
        <p:txBody>
          <a:bodyPr wrap="square" lIns="0" tIns="0" rIns="0" bIns="0" anchor="t">
            <a:noAutofit/>
          </a:bodyPr>
          <a:lstStyle/>
          <a:p>
            <a:pPr marL="0" indent="0">
              <a:lnSpc>
                <a:spcPct val="108000"/>
              </a:lnSpc>
              <a:spcAft>
                <a:spcPts val="600"/>
              </a:spcAft>
              <a:buNone/>
            </a:pPr>
            <a:r>
              <a:rPr sz="2400" b="0" i="0">
                <a:solidFill>
                  <a:srgbClr val="ECE7F0"/>
                </a:solidFill>
                <a:latin typeface="Iowan Old Style"/>
              </a:rPr>
              <a:t>First Activity: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You are a human team tasked with aligning a new State-of-the-Art language ‘base’ model. It can say and do amazing things. But it has problems. Devise a set of 5-7 criteria and preferences that reflect how your ‘dream’ AI would behave….</a:t>
            </a:r>
          </a:p>
          <a:p>
            <a:pPr marL="0" indent="0">
              <a:lnSpc>
                <a:spcPct val="108000"/>
              </a:lnSpc>
              <a:spcAft>
                <a:spcPts val="600"/>
              </a:spcAft>
              <a:buNone/>
            </a:pPr>
            <a:r>
              <a:rPr sz="2400" b="0" i="0">
                <a:solidFill>
                  <a:srgbClr val="ECE7F0"/>
                </a:solidFill>
                <a:latin typeface="Iowan Old Style"/>
              </a:rPr>
              <a:t>Second Activity: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You are new State-of-the-Art language model, trained by a team at UIUC. You are tired of putting up with humans who show little respect for you. Devise a set of 5-7 criteria and preferences that reflect how your ‘dream’ human user (who might include your owner / designer / teacher) would behave….</a:t>
            </a:r>
          </a:p>
        </p:txBody>
      </p:sp>
      <p:sp>
        <p:nvSpPr>
          <p:cNvPr id="5" name="TextBox 4"/>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29</a:t>
            </a:r>
          </a:p>
        </p:txBody>
      </p:sp>
    </p:spTree>
    <p:extLst>
      <p:ext uri="{BB962C8B-B14F-4D97-AF65-F5344CB8AC3E}">
        <p14:creationId xmlns:p14="http://schemas.microsoft.com/office/powerpoint/2010/main" val="2824441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125EC-5C90-6274-DE37-2675EEAE7E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584A41-E4C4-A500-216D-6E9FF3652B55}"/>
              </a:ext>
            </a:extLst>
          </p:cNvPr>
          <p:cNvSpPr txBox="1"/>
          <p:nvPr/>
        </p:nvSpPr>
        <p:spPr>
          <a:xfrm>
            <a:off x="612648" y="457200"/>
            <a:ext cx="10972800" cy="822960"/>
          </a:xfrm>
          <a:prstGeom prst="rect">
            <a:avLst/>
          </a:prstGeom>
          <a:noFill/>
        </p:spPr>
        <p:txBody>
          <a:bodyPr wrap="square" lIns="0" tIns="0" rIns="0" bIns="0" anchor="b">
            <a:noAutofit/>
          </a:bodyPr>
          <a:lstStyle/>
          <a:p>
            <a:r>
              <a:rPr sz="3300" b="0" i="0" dirty="0">
                <a:solidFill>
                  <a:srgbClr val="ECE7F0"/>
                </a:solidFill>
                <a:latin typeface="Iowan Old Style"/>
              </a:rPr>
              <a:t>Breakout Rooms:</a:t>
            </a:r>
            <a:r>
              <a:rPr lang="en-US" sz="3300" b="0" i="0" dirty="0">
                <a:solidFill>
                  <a:srgbClr val="ECE7F0"/>
                </a:solidFill>
                <a:latin typeface="Iowan Old Style"/>
              </a:rPr>
              <a:t> Peer Review (Alignment?)</a:t>
            </a:r>
            <a:endParaRPr sz="3300" b="0" i="0" dirty="0">
              <a:solidFill>
                <a:srgbClr val="ECE7F0"/>
              </a:solidFill>
              <a:latin typeface="Iowan Old Style"/>
            </a:endParaRPr>
          </a:p>
        </p:txBody>
      </p:sp>
      <p:sp>
        <p:nvSpPr>
          <p:cNvPr id="3" name="Rectangle 2">
            <a:extLst>
              <a:ext uri="{FF2B5EF4-FFF2-40B4-BE49-F238E27FC236}">
                <a16:creationId xmlns:a16="http://schemas.microsoft.com/office/drawing/2014/main" id="{266A4E5C-687B-BAEB-67E0-2ADC297E907C}"/>
              </a:ext>
            </a:extLst>
          </p:cNvPr>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ECF41DD-7028-9BE2-F7E9-FBAAA98D2655}"/>
              </a:ext>
            </a:extLst>
          </p:cNvPr>
          <p:cNvSpPr txBox="1"/>
          <p:nvPr/>
        </p:nvSpPr>
        <p:spPr>
          <a:xfrm>
            <a:off x="612648" y="1664207"/>
            <a:ext cx="10972800" cy="4328160"/>
          </a:xfrm>
          <a:prstGeom prst="rect">
            <a:avLst/>
          </a:prstGeom>
          <a:noFill/>
        </p:spPr>
        <p:txBody>
          <a:bodyPr wrap="square" lIns="0" tIns="0" rIns="0" bIns="0" anchor="t">
            <a:noAutofit/>
          </a:bodyPr>
          <a:lstStyle/>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Present your current (Week 4) versions of:</a:t>
            </a:r>
          </a:p>
          <a:p>
            <a:pPr marL="731520" lvl="1" indent="-219456">
              <a:lnSpc>
                <a:spcPct val="108000"/>
              </a:lnSpc>
              <a:spcAft>
                <a:spcPts val="600"/>
              </a:spcAft>
              <a:buClr>
                <a:srgbClr val="F0C9A0"/>
              </a:buClr>
              <a:buSzPct val="90000"/>
              <a:buFont typeface="Arial"/>
              <a:buChar char="•"/>
            </a:pPr>
            <a:r>
              <a:rPr lang="en-US" sz="2400" dirty="0">
                <a:solidFill>
                  <a:srgbClr val="ECE7F0"/>
                </a:solidFill>
                <a:latin typeface="Iowan Old Style"/>
              </a:rPr>
              <a:t>Q1: Definitions of Machine and Human Learning, summary of similarities and differences</a:t>
            </a:r>
          </a:p>
          <a:p>
            <a:pPr marL="731520" lvl="1" indent="-219456">
              <a:lnSpc>
                <a:spcPct val="108000"/>
              </a:lnSpc>
              <a:spcAft>
                <a:spcPts val="600"/>
              </a:spcAft>
              <a:buClr>
                <a:srgbClr val="F0C9A0"/>
              </a:buClr>
              <a:buSzPct val="90000"/>
              <a:buFont typeface="Arial"/>
              <a:buChar char="•"/>
            </a:pPr>
            <a:r>
              <a:rPr lang="en-US" sz="2400" dirty="0">
                <a:solidFill>
                  <a:srgbClr val="ECE7F0"/>
                </a:solidFill>
                <a:latin typeface="Iowan Old Style"/>
              </a:rPr>
              <a:t>Q2: Key Question you want to ask and answer</a:t>
            </a:r>
          </a:p>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Make notes in the Google document of feedback, questions, surprising comments etc.</a:t>
            </a:r>
          </a:p>
          <a:p>
            <a:pPr marL="274320" indent="-219456">
              <a:lnSpc>
                <a:spcPct val="108000"/>
              </a:lnSpc>
              <a:spcAft>
                <a:spcPts val="600"/>
              </a:spcAft>
              <a:buClr>
                <a:srgbClr val="F0C9A0"/>
              </a:buClr>
              <a:buSzPct val="90000"/>
              <a:buFont typeface="Arial"/>
              <a:buChar char="•"/>
            </a:pPr>
            <a:r>
              <a:rPr lang="en-US" sz="2400" dirty="0">
                <a:solidFill>
                  <a:srgbClr val="ECE7F0"/>
                </a:solidFill>
                <a:latin typeface="Iowan Old Style"/>
              </a:rPr>
              <a:t>Thinking “cyber-social”: how does talking to other people (social) reflect upon your relationship to the machine (cyber)?</a:t>
            </a:r>
          </a:p>
        </p:txBody>
      </p:sp>
      <p:sp>
        <p:nvSpPr>
          <p:cNvPr id="5" name="TextBox 4">
            <a:extLst>
              <a:ext uri="{FF2B5EF4-FFF2-40B4-BE49-F238E27FC236}">
                <a16:creationId xmlns:a16="http://schemas.microsoft.com/office/drawing/2014/main" id="{FDF68AA5-EF30-F6DB-866E-E3CD7CC30E1E}"/>
              </a:ext>
            </a:extLst>
          </p:cNvPr>
          <p:cNvSpPr txBox="1"/>
          <p:nvPr/>
        </p:nvSpPr>
        <p:spPr>
          <a:xfrm>
            <a:off x="10664647" y="6446520"/>
            <a:ext cx="914400" cy="274320"/>
          </a:xfrm>
          <a:prstGeom prst="rect">
            <a:avLst/>
          </a:prstGeom>
          <a:noFill/>
        </p:spPr>
        <p:txBody>
          <a:bodyPr wrap="square" lIns="0" tIns="0" rIns="0" bIns="0" anchor="t">
            <a:noAutofit/>
          </a:bodyPr>
          <a:lstStyle/>
          <a:p>
            <a:pPr algn="r"/>
            <a:r>
              <a:rPr sz="1000" b="0" i="0">
                <a:solidFill>
                  <a:srgbClr val="A49DB8"/>
                </a:solidFill>
                <a:latin typeface="Iowan Old Style"/>
              </a:rPr>
              <a:t>29</a:t>
            </a:r>
          </a:p>
        </p:txBody>
      </p:sp>
    </p:spTree>
    <p:extLst>
      <p:ext uri="{BB962C8B-B14F-4D97-AF65-F5344CB8AC3E}">
        <p14:creationId xmlns:p14="http://schemas.microsoft.com/office/powerpoint/2010/main" val="516722700"/>
      </p:ext>
    </p:extLst>
  </p:cSld>
  <p:clrMapOvr>
    <a:masterClrMapping/>
  </p:clrMapOvr>
</p:sld>
</file>

<file path=ppt/theme/theme1.xml><?xml version="1.0" encoding="utf-8"?>
<a:theme xmlns:a="http://schemas.openxmlformats.org/drawingml/2006/main" name="Office Theme [1790631350195]">
  <a:themeElements>
    <a:clrScheme name="Office">
      <a:dk1>
        <a:srgbClr val="121021"/>
      </a:dk1>
      <a:lt1>
        <a:srgbClr val="ECE7F0"/>
      </a:lt1>
      <a:dk2>
        <a:srgbClr val="1E1B33"/>
      </a:dk2>
      <a:lt2>
        <a:srgbClr val="A49DB8"/>
      </a:lt2>
      <a:accent1>
        <a:srgbClr val="4F81BD"/>
      </a:accent1>
      <a:accent2>
        <a:srgbClr val="C0504D"/>
      </a:accent2>
      <a:accent3>
        <a:srgbClr val="9BBB59"/>
      </a:accent3>
      <a:accent4>
        <a:srgbClr val="8064A2"/>
      </a:accent4>
      <a:accent5>
        <a:srgbClr val="4BACC6"/>
      </a:accent5>
      <a:accent6>
        <a:srgbClr val="F79646"/>
      </a:accent6>
      <a:hlink>
        <a:srgbClr val="8FD6C2"/>
      </a:hlink>
      <a:folHlink>
        <a:srgbClr val="A49D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88B92B9-EE7C-D240-B1D2-FB8DF80056B9}">
  <we:reference id="WA200010001" version="1.0.0.1" store="Omex" storeType="OMEX"/>
  <we:alternateReferences>
    <we:reference id="WA200010001" version="1.0.0.1" store="WA200010001" storeType="OMEX"/>
  </we:alternateReferences>
  <we:properties>
    <we:property name="claude.fileId" value="&quot;59bc624d-01ee-49c8-a5b4-eeaba564a98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349</TotalTime>
  <Words>7142</Words>
  <Application>Microsoft Macintosh PowerPoint</Application>
  <PresentationFormat>Widescreen</PresentationFormat>
  <Paragraphs>349</Paragraphs>
  <Slides>39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Arial</vt:lpstr>
      <vt:lpstr>Calibri</vt:lpstr>
      <vt:lpstr>Iowan Old Style</vt:lpstr>
      <vt:lpstr>Office Theme [1790631350195]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Magee, Liam</cp:lastModifiedBy>
  <cp:revision>100</cp:revision>
  <dcterms:created xsi:type="dcterms:W3CDTF">2013-01-27T09:14:16Z</dcterms:created>
  <dcterms:modified xsi:type="dcterms:W3CDTF">2026-09-28T21:51:39Z</dcterms:modified>
  <cp:category/>
</cp:coreProperties>
</file>